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2"/>
  </p:notesMasterIdLst>
  <p:sldIdLst>
    <p:sldId id="256" r:id="rId2"/>
    <p:sldId id="257" r:id="rId3"/>
    <p:sldId id="267" r:id="rId4"/>
    <p:sldId id="269" r:id="rId5"/>
    <p:sldId id="270" r:id="rId6"/>
    <p:sldId id="271" r:id="rId7"/>
    <p:sldId id="272" r:id="rId8"/>
    <p:sldId id="274" r:id="rId9"/>
    <p:sldId id="261" r:id="rId10"/>
    <p:sldId id="262" r:id="rId11"/>
    <p:sldId id="275" r:id="rId12"/>
    <p:sldId id="260" r:id="rId13"/>
    <p:sldId id="276" r:id="rId14"/>
    <p:sldId id="263" r:id="rId15"/>
    <p:sldId id="277" r:id="rId16"/>
    <p:sldId id="258" r:id="rId17"/>
    <p:sldId id="259" r:id="rId18"/>
    <p:sldId id="278" r:id="rId19"/>
    <p:sldId id="279" r:id="rId20"/>
    <p:sldId id="266" r:id="rId21"/>
  </p:sldIdLst>
  <p:sldSz cx="14400213" cy="8999538"/>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8E43"/>
    <a:srgbClr val="1BA24D"/>
    <a:srgbClr val="1BA04C"/>
    <a:srgbClr val="FFFFFF"/>
    <a:srgbClr val="9F9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9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6913616"/>
      </p:ext>
    </p:extLst>
  </p:cSld>
  <p:clrMap bg1="lt1" tx1="dk1" bg2="lt2" tx2="dk2" accent1="accent1" accent2="accent2" accent3="accent3" accent4="accent4" accent5="accent5" accent6="accent6" hlink="hlink" folHlink="folHlink"/>
  <p:notesStyle>
    <a:lvl1pPr marL="0" algn="l" defTabSz="1123112" rtl="0" eaLnBrk="1" latinLnBrk="0" hangingPunct="1">
      <a:defRPr sz="1474" kern="1200">
        <a:solidFill>
          <a:schemeClr val="tx1"/>
        </a:solidFill>
        <a:latin typeface="+mn-lt"/>
        <a:ea typeface="+mn-ea"/>
        <a:cs typeface="+mn-cs"/>
      </a:defRPr>
    </a:lvl1pPr>
    <a:lvl2pPr marL="561555" algn="l" defTabSz="1123112" rtl="0" eaLnBrk="1" latinLnBrk="0" hangingPunct="1">
      <a:defRPr sz="1474" kern="1200">
        <a:solidFill>
          <a:schemeClr val="tx1"/>
        </a:solidFill>
        <a:latin typeface="+mn-lt"/>
        <a:ea typeface="+mn-ea"/>
        <a:cs typeface="+mn-cs"/>
      </a:defRPr>
    </a:lvl2pPr>
    <a:lvl3pPr marL="1123112" algn="l" defTabSz="1123112" rtl="0" eaLnBrk="1" latinLnBrk="0" hangingPunct="1">
      <a:defRPr sz="1474" kern="1200">
        <a:solidFill>
          <a:schemeClr val="tx1"/>
        </a:solidFill>
        <a:latin typeface="+mn-lt"/>
        <a:ea typeface="+mn-ea"/>
        <a:cs typeface="+mn-cs"/>
      </a:defRPr>
    </a:lvl3pPr>
    <a:lvl4pPr marL="1684667" algn="l" defTabSz="1123112" rtl="0" eaLnBrk="1" latinLnBrk="0" hangingPunct="1">
      <a:defRPr sz="1474" kern="1200">
        <a:solidFill>
          <a:schemeClr val="tx1"/>
        </a:solidFill>
        <a:latin typeface="+mn-lt"/>
        <a:ea typeface="+mn-ea"/>
        <a:cs typeface="+mn-cs"/>
      </a:defRPr>
    </a:lvl4pPr>
    <a:lvl5pPr marL="2246223" algn="l" defTabSz="1123112" rtl="0" eaLnBrk="1" latinLnBrk="0" hangingPunct="1">
      <a:defRPr sz="1474" kern="1200">
        <a:solidFill>
          <a:schemeClr val="tx1"/>
        </a:solidFill>
        <a:latin typeface="+mn-lt"/>
        <a:ea typeface="+mn-ea"/>
        <a:cs typeface="+mn-cs"/>
      </a:defRPr>
    </a:lvl5pPr>
    <a:lvl6pPr marL="2807780" algn="l" defTabSz="1123112" rtl="0" eaLnBrk="1" latinLnBrk="0" hangingPunct="1">
      <a:defRPr sz="1474" kern="1200">
        <a:solidFill>
          <a:schemeClr val="tx1"/>
        </a:solidFill>
        <a:latin typeface="+mn-lt"/>
        <a:ea typeface="+mn-ea"/>
        <a:cs typeface="+mn-cs"/>
      </a:defRPr>
    </a:lvl6pPr>
    <a:lvl7pPr marL="3369335" algn="l" defTabSz="1123112" rtl="0" eaLnBrk="1" latinLnBrk="0" hangingPunct="1">
      <a:defRPr sz="1474" kern="1200">
        <a:solidFill>
          <a:schemeClr val="tx1"/>
        </a:solidFill>
        <a:latin typeface="+mn-lt"/>
        <a:ea typeface="+mn-ea"/>
        <a:cs typeface="+mn-cs"/>
      </a:defRPr>
    </a:lvl7pPr>
    <a:lvl8pPr marL="3930890" algn="l" defTabSz="1123112" rtl="0" eaLnBrk="1" latinLnBrk="0" hangingPunct="1">
      <a:defRPr sz="1474" kern="1200">
        <a:solidFill>
          <a:schemeClr val="tx1"/>
        </a:solidFill>
        <a:latin typeface="+mn-lt"/>
        <a:ea typeface="+mn-ea"/>
        <a:cs typeface="+mn-cs"/>
      </a:defRPr>
    </a:lvl8pPr>
    <a:lvl9pPr marL="4492446" algn="l" defTabSz="1123112" rtl="0" eaLnBrk="1" latinLnBrk="0" hangingPunct="1">
      <a:defRPr sz="147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VE"/>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800027" y="1472842"/>
            <a:ext cx="10800160" cy="3133172"/>
          </a:xfrm>
        </p:spPr>
        <p:txBody>
          <a:bodyPr anchor="b"/>
          <a:lstStyle>
            <a:lvl1pPr algn="ctr">
              <a:defRPr sz="7087"/>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800027" y="4726842"/>
            <a:ext cx="10800160" cy="2172804"/>
          </a:xfrm>
        </p:spPr>
        <p:txBody>
          <a:bodyPr/>
          <a:lstStyle>
            <a:lvl1pPr marL="0" indent="0" algn="ctr">
              <a:buNone/>
              <a:defRPr sz="2835"/>
            </a:lvl1pPr>
            <a:lvl2pPr marL="539999" indent="0" algn="ctr">
              <a:buNone/>
              <a:defRPr sz="2362"/>
            </a:lvl2pPr>
            <a:lvl3pPr marL="1079998" indent="0" algn="ctr">
              <a:buNone/>
              <a:defRPr sz="2126"/>
            </a:lvl3pPr>
            <a:lvl4pPr marL="1619997" indent="0" algn="ctr">
              <a:buNone/>
              <a:defRPr sz="1890"/>
            </a:lvl4pPr>
            <a:lvl5pPr marL="2159996" indent="0" algn="ctr">
              <a:buNone/>
              <a:defRPr sz="1890"/>
            </a:lvl5pPr>
            <a:lvl6pPr marL="2699995" indent="0" algn="ctr">
              <a:buNone/>
              <a:defRPr sz="1890"/>
            </a:lvl6pPr>
            <a:lvl7pPr marL="3239994" indent="0" algn="ctr">
              <a:buNone/>
              <a:defRPr sz="1890"/>
            </a:lvl7pPr>
            <a:lvl8pPr marL="3779992" indent="0" algn="ctr">
              <a:buNone/>
              <a:defRPr sz="1890"/>
            </a:lvl8pPr>
            <a:lvl9pPr marL="4319991" indent="0" algn="ctr">
              <a:buNone/>
              <a:defRPr sz="189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50235563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22864726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82514" y="2243636"/>
            <a:ext cx="12420184" cy="3743557"/>
          </a:xfrm>
        </p:spPr>
        <p:txBody>
          <a:bodyPr anchor="b"/>
          <a:lstStyle>
            <a:lvl1pPr>
              <a:defRPr sz="7087"/>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982514" y="6022609"/>
            <a:ext cx="12420184" cy="1968648"/>
          </a:xfrm>
        </p:spPr>
        <p:txBody>
          <a:bodyPr/>
          <a:lstStyle>
            <a:lvl1pPr marL="0" indent="0">
              <a:buNone/>
              <a:defRPr sz="2835">
                <a:solidFill>
                  <a:schemeClr val="tx1">
                    <a:tint val="75000"/>
                  </a:schemeClr>
                </a:solidFill>
              </a:defRPr>
            </a:lvl1pPr>
            <a:lvl2pPr marL="539999" indent="0">
              <a:buNone/>
              <a:defRPr sz="2362">
                <a:solidFill>
                  <a:schemeClr val="tx1">
                    <a:tint val="75000"/>
                  </a:schemeClr>
                </a:solidFill>
              </a:defRPr>
            </a:lvl2pPr>
            <a:lvl3pPr marL="1079998" indent="0">
              <a:buNone/>
              <a:defRPr sz="2126">
                <a:solidFill>
                  <a:schemeClr val="tx1">
                    <a:tint val="75000"/>
                  </a:schemeClr>
                </a:solidFill>
              </a:defRPr>
            </a:lvl3pPr>
            <a:lvl4pPr marL="1619997" indent="0">
              <a:buNone/>
              <a:defRPr sz="1890">
                <a:solidFill>
                  <a:schemeClr val="tx1">
                    <a:tint val="75000"/>
                  </a:schemeClr>
                </a:solidFill>
              </a:defRPr>
            </a:lvl4pPr>
            <a:lvl5pPr marL="2159996" indent="0">
              <a:buNone/>
              <a:defRPr sz="1890">
                <a:solidFill>
                  <a:schemeClr val="tx1">
                    <a:tint val="75000"/>
                  </a:schemeClr>
                </a:solidFill>
              </a:defRPr>
            </a:lvl5pPr>
            <a:lvl6pPr marL="2699995" indent="0">
              <a:buNone/>
              <a:defRPr sz="1890">
                <a:solidFill>
                  <a:schemeClr val="tx1">
                    <a:tint val="75000"/>
                  </a:schemeClr>
                </a:solidFill>
              </a:defRPr>
            </a:lvl6pPr>
            <a:lvl7pPr marL="3239994" indent="0">
              <a:buNone/>
              <a:defRPr sz="1890">
                <a:solidFill>
                  <a:schemeClr val="tx1">
                    <a:tint val="75000"/>
                  </a:schemeClr>
                </a:solidFill>
              </a:defRPr>
            </a:lvl7pPr>
            <a:lvl8pPr marL="3779992" indent="0">
              <a:buNone/>
              <a:defRPr sz="1890">
                <a:solidFill>
                  <a:schemeClr val="tx1">
                    <a:tint val="75000"/>
                  </a:schemeClr>
                </a:solidFill>
              </a:defRPr>
            </a:lvl8pPr>
            <a:lvl9pPr marL="4319991" indent="0">
              <a:buNone/>
              <a:defRPr sz="189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C764DE79-268F-4C1A-8933-263129D2AF90}" type="datetimeFigureOut">
              <a:rPr lang="en-US" dirty="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0641160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990014" y="2395710"/>
            <a:ext cx="6120091" cy="571012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7290108" y="2395710"/>
            <a:ext cx="6120091" cy="571012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08638519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91890" y="479143"/>
            <a:ext cx="12420184" cy="1739495"/>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991891" y="2206137"/>
            <a:ext cx="6091965" cy="1081194"/>
          </a:xfrm>
        </p:spPr>
        <p:txBody>
          <a:bodyPr anchor="b"/>
          <a:lstStyle>
            <a:lvl1pPr marL="0" indent="0">
              <a:buNone/>
              <a:defRPr sz="2835" b="1"/>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es-MX"/>
              <a:t>Haga clic para modificar los estilos de texto del patrón</a:t>
            </a:r>
          </a:p>
        </p:txBody>
      </p:sp>
      <p:sp>
        <p:nvSpPr>
          <p:cNvPr id="4" name="Content Placeholder 3"/>
          <p:cNvSpPr>
            <a:spLocks noGrp="1"/>
          </p:cNvSpPr>
          <p:nvPr>
            <p:ph sz="half" idx="2"/>
          </p:nvPr>
        </p:nvSpPr>
        <p:spPr>
          <a:xfrm>
            <a:off x="991891" y="3287331"/>
            <a:ext cx="6091965" cy="483516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7290108" y="2206137"/>
            <a:ext cx="6121966" cy="1081194"/>
          </a:xfrm>
        </p:spPr>
        <p:txBody>
          <a:bodyPr anchor="b"/>
          <a:lstStyle>
            <a:lvl1pPr marL="0" indent="0">
              <a:buNone/>
              <a:defRPr sz="2835" b="1"/>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es-MX"/>
              <a:t>Haga clic para modificar los estilos de texto del patrón</a:t>
            </a:r>
          </a:p>
        </p:txBody>
      </p:sp>
      <p:sp>
        <p:nvSpPr>
          <p:cNvPr id="6" name="Content Placeholder 5"/>
          <p:cNvSpPr>
            <a:spLocks noGrp="1"/>
          </p:cNvSpPr>
          <p:nvPr>
            <p:ph sz="quarter" idx="4"/>
          </p:nvPr>
        </p:nvSpPr>
        <p:spPr>
          <a:xfrm>
            <a:off x="7290108" y="3287331"/>
            <a:ext cx="6121966" cy="483516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46905837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9783288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6637916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91891" y="599969"/>
            <a:ext cx="4644443" cy="2099892"/>
          </a:xfrm>
        </p:spPr>
        <p:txBody>
          <a:bodyPr anchor="b"/>
          <a:lstStyle>
            <a:lvl1pPr>
              <a:defRPr sz="3780"/>
            </a:lvl1pPr>
          </a:lstStyle>
          <a:p>
            <a:r>
              <a:rPr lang="es-MX"/>
              <a:t>Haz clic para modificar el estilo de título del patrón</a:t>
            </a:r>
            <a:endParaRPr lang="en-US" dirty="0"/>
          </a:p>
        </p:txBody>
      </p:sp>
      <p:sp>
        <p:nvSpPr>
          <p:cNvPr id="3" name="Content Placeholder 2"/>
          <p:cNvSpPr>
            <a:spLocks noGrp="1"/>
          </p:cNvSpPr>
          <p:nvPr>
            <p:ph idx="1"/>
          </p:nvPr>
        </p:nvSpPr>
        <p:spPr>
          <a:xfrm>
            <a:off x="6121966" y="1295767"/>
            <a:ext cx="7290108" cy="6395505"/>
          </a:xfrm>
        </p:spPr>
        <p:txBody>
          <a:bodyPr/>
          <a:lstStyle>
            <a:lvl1pPr>
              <a:defRPr sz="3780"/>
            </a:lvl1pPr>
            <a:lvl2pPr>
              <a:defRPr sz="3307"/>
            </a:lvl2pPr>
            <a:lvl3pPr>
              <a:defRPr sz="2835"/>
            </a:lvl3pPr>
            <a:lvl4pPr>
              <a:defRPr sz="2362"/>
            </a:lvl4pPr>
            <a:lvl5pPr>
              <a:defRPr sz="2362"/>
            </a:lvl5pPr>
            <a:lvl6pPr>
              <a:defRPr sz="2362"/>
            </a:lvl6pPr>
            <a:lvl7pPr>
              <a:defRPr sz="2362"/>
            </a:lvl7pPr>
            <a:lvl8pPr>
              <a:defRPr sz="2362"/>
            </a:lvl8pPr>
            <a:lvl9pPr>
              <a:defRPr sz="2362"/>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991891" y="2699862"/>
            <a:ext cx="4644443" cy="5001827"/>
          </a:xfrm>
        </p:spPr>
        <p:txBody>
          <a:bodyPr/>
          <a:lstStyle>
            <a:lvl1pPr marL="0" indent="0">
              <a:buNone/>
              <a:defRPr sz="1890"/>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764DE79-268F-4C1A-8933-263129D2AF90}" type="datetimeFigureOut">
              <a:rPr lang="en-US" dirty="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58536408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91891" y="599969"/>
            <a:ext cx="4644443" cy="2099892"/>
          </a:xfrm>
        </p:spPr>
        <p:txBody>
          <a:bodyPr anchor="b"/>
          <a:lstStyle>
            <a:lvl1pPr>
              <a:defRPr sz="378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6121966" y="1295767"/>
            <a:ext cx="7290108" cy="6395505"/>
          </a:xfrm>
        </p:spPr>
        <p:txBody>
          <a:bodyPr anchor="t"/>
          <a:lstStyle>
            <a:lvl1pPr marL="0" indent="0">
              <a:buNone/>
              <a:defRPr sz="3780"/>
            </a:lvl1pPr>
            <a:lvl2pPr marL="539999" indent="0">
              <a:buNone/>
              <a:defRPr sz="3307"/>
            </a:lvl2pPr>
            <a:lvl3pPr marL="1079998" indent="0">
              <a:buNone/>
              <a:defRPr sz="2835"/>
            </a:lvl3pPr>
            <a:lvl4pPr marL="1619997" indent="0">
              <a:buNone/>
              <a:defRPr sz="2362"/>
            </a:lvl4pPr>
            <a:lvl5pPr marL="2159996" indent="0">
              <a:buNone/>
              <a:defRPr sz="2362"/>
            </a:lvl5pPr>
            <a:lvl6pPr marL="2699995" indent="0">
              <a:buNone/>
              <a:defRPr sz="2362"/>
            </a:lvl6pPr>
            <a:lvl7pPr marL="3239994" indent="0">
              <a:buNone/>
              <a:defRPr sz="2362"/>
            </a:lvl7pPr>
            <a:lvl8pPr marL="3779992" indent="0">
              <a:buNone/>
              <a:defRPr sz="2362"/>
            </a:lvl8pPr>
            <a:lvl9pPr marL="4319991" indent="0">
              <a:buNone/>
              <a:defRPr sz="2362"/>
            </a:lvl9pPr>
          </a:lstStyle>
          <a:p>
            <a:r>
              <a:rPr lang="es-MX"/>
              <a:t>Haz clic en el icono para agregar una imagen</a:t>
            </a:r>
            <a:endParaRPr lang="en-US" dirty="0"/>
          </a:p>
        </p:txBody>
      </p:sp>
      <p:sp>
        <p:nvSpPr>
          <p:cNvPr id="4" name="Text Placeholder 3"/>
          <p:cNvSpPr>
            <a:spLocks noGrp="1"/>
          </p:cNvSpPr>
          <p:nvPr>
            <p:ph type="body" sz="half" idx="2"/>
          </p:nvPr>
        </p:nvSpPr>
        <p:spPr>
          <a:xfrm>
            <a:off x="991891" y="2699862"/>
            <a:ext cx="4644443" cy="5001827"/>
          </a:xfrm>
        </p:spPr>
        <p:txBody>
          <a:bodyPr/>
          <a:lstStyle>
            <a:lvl1pPr marL="0" indent="0">
              <a:buNone/>
              <a:defRPr sz="1890"/>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764DE79-268F-4C1A-8933-263129D2AF90}" type="datetimeFigureOut">
              <a:rPr lang="en-US" dirty="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23176623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0446162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05152" y="479142"/>
            <a:ext cx="3105046" cy="7626692"/>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990015" y="479142"/>
            <a:ext cx="9135135" cy="7626692"/>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933215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271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0015" y="479143"/>
            <a:ext cx="12420184" cy="1739495"/>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990015" y="2395710"/>
            <a:ext cx="12420184" cy="5710124"/>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990015" y="8341239"/>
            <a:ext cx="3240048" cy="479142"/>
          </a:xfrm>
          <a:prstGeom prst="rect">
            <a:avLst/>
          </a:prstGeom>
        </p:spPr>
        <p:txBody>
          <a:bodyPr vert="horz" lIns="91440" tIns="45720" rIns="91440" bIns="45720" rtlCol="0" anchor="ctr"/>
          <a:lstStyle>
            <a:lvl1pPr algn="l">
              <a:defRPr sz="1417">
                <a:solidFill>
                  <a:schemeClr val="tx1">
                    <a:tint val="75000"/>
                  </a:schemeClr>
                </a:solidFill>
              </a:defRPr>
            </a:lvl1pPr>
          </a:lstStyle>
          <a:p>
            <a:fld id="{C764DE79-268F-4C1A-8933-263129D2AF90}" type="datetimeFigureOut">
              <a:rPr lang="en-US" dirty="0"/>
              <a:t>10/1/2025</a:t>
            </a:fld>
            <a:endParaRPr lang="en-US" dirty="0"/>
          </a:p>
        </p:txBody>
      </p:sp>
      <p:sp>
        <p:nvSpPr>
          <p:cNvPr id="5" name="Footer Placeholder 4"/>
          <p:cNvSpPr>
            <a:spLocks noGrp="1"/>
          </p:cNvSpPr>
          <p:nvPr>
            <p:ph type="ftr" sz="quarter" idx="3"/>
          </p:nvPr>
        </p:nvSpPr>
        <p:spPr>
          <a:xfrm>
            <a:off x="4770071" y="8341239"/>
            <a:ext cx="4860072" cy="479142"/>
          </a:xfrm>
          <a:prstGeom prst="rect">
            <a:avLst/>
          </a:prstGeom>
        </p:spPr>
        <p:txBody>
          <a:bodyPr vert="horz" lIns="91440" tIns="45720" rIns="91440" bIns="45720" rtlCol="0" anchor="ctr"/>
          <a:lstStyle>
            <a:lvl1pPr algn="ctr">
              <a:defRPr sz="1417">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170150" y="8341239"/>
            <a:ext cx="3240048" cy="479142"/>
          </a:xfrm>
          <a:prstGeom prst="rect">
            <a:avLst/>
          </a:prstGeom>
        </p:spPr>
        <p:txBody>
          <a:bodyPr vert="horz" lIns="91440" tIns="45720" rIns="91440" bIns="45720" rtlCol="0" anchor="ctr"/>
          <a:lstStyle>
            <a:lvl1pPr algn="r">
              <a:defRPr sz="1417">
                <a:solidFill>
                  <a:schemeClr val="tx1">
                    <a:tint val="75000"/>
                  </a:schemeClr>
                </a:solidFill>
              </a:defRPr>
            </a:lvl1pPr>
          </a:lstStyle>
          <a:p>
            <a:fld id="{48F63A3B-78C7-47BE-AE5E-E10140E04643}" type="slidenum">
              <a:rPr lang="en-US" dirty="0"/>
              <a:t>‹Nº›</a:t>
            </a:fld>
            <a:endParaRPr lang="en-US" dirty="0"/>
          </a:p>
        </p:txBody>
      </p:sp>
    </p:spTree>
    <p:extLst>
      <p:ext uri="{BB962C8B-B14F-4D97-AF65-F5344CB8AC3E}">
        <p14:creationId xmlns:p14="http://schemas.microsoft.com/office/powerpoint/2010/main" val="323129034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1079998" rtl="0" eaLnBrk="1" latinLnBrk="0" hangingPunct="1">
        <a:lnSpc>
          <a:spcPct val="90000"/>
        </a:lnSpc>
        <a:spcBef>
          <a:spcPct val="0"/>
        </a:spcBef>
        <a:buNone/>
        <a:defRPr sz="5197" kern="1200">
          <a:solidFill>
            <a:schemeClr val="tx1"/>
          </a:solidFill>
          <a:latin typeface="+mj-lt"/>
          <a:ea typeface="+mj-ea"/>
          <a:cs typeface="+mj-cs"/>
        </a:defRPr>
      </a:lvl1pPr>
    </p:titleStyle>
    <p:bodyStyle>
      <a:lvl1pPr marL="269999" indent="-269999" algn="l" defTabSz="1079998" rtl="0" eaLnBrk="1" latinLnBrk="0" hangingPunct="1">
        <a:lnSpc>
          <a:spcPct val="90000"/>
        </a:lnSpc>
        <a:spcBef>
          <a:spcPts val="1181"/>
        </a:spcBef>
        <a:buFont typeface="Arial" panose="020B0604020202020204" pitchFamily="34" charset="0"/>
        <a:buChar char="•"/>
        <a:defRPr sz="3307" kern="1200">
          <a:solidFill>
            <a:schemeClr val="tx1"/>
          </a:solidFill>
          <a:latin typeface="+mn-lt"/>
          <a:ea typeface="+mn-ea"/>
          <a:cs typeface="+mn-cs"/>
        </a:defRPr>
      </a:lvl1pPr>
      <a:lvl2pPr marL="809998" indent="-269999" algn="l" defTabSz="1079998" rtl="0" eaLnBrk="1" latinLnBrk="0" hangingPunct="1">
        <a:lnSpc>
          <a:spcPct val="90000"/>
        </a:lnSpc>
        <a:spcBef>
          <a:spcPts val="591"/>
        </a:spcBef>
        <a:buFont typeface="Arial" panose="020B0604020202020204" pitchFamily="34" charset="0"/>
        <a:buChar char="•"/>
        <a:defRPr sz="2835" kern="1200">
          <a:solidFill>
            <a:schemeClr val="tx1"/>
          </a:solidFill>
          <a:latin typeface="+mn-lt"/>
          <a:ea typeface="+mn-ea"/>
          <a:cs typeface="+mn-cs"/>
        </a:defRPr>
      </a:lvl2pPr>
      <a:lvl3pPr marL="1349997" indent="-269999" algn="l" defTabSz="1079998" rtl="0" eaLnBrk="1" latinLnBrk="0" hangingPunct="1">
        <a:lnSpc>
          <a:spcPct val="90000"/>
        </a:lnSpc>
        <a:spcBef>
          <a:spcPts val="591"/>
        </a:spcBef>
        <a:buFont typeface="Arial" panose="020B0604020202020204" pitchFamily="34" charset="0"/>
        <a:buChar char="•"/>
        <a:defRPr sz="2362" kern="1200">
          <a:solidFill>
            <a:schemeClr val="tx1"/>
          </a:solidFill>
          <a:latin typeface="+mn-lt"/>
          <a:ea typeface="+mn-ea"/>
          <a:cs typeface="+mn-cs"/>
        </a:defRPr>
      </a:lvl3pPr>
      <a:lvl4pPr marL="1889996"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4pPr>
      <a:lvl5pPr marL="2429995"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5pPr>
      <a:lvl6pPr marL="2969994"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6pPr>
      <a:lvl7pPr marL="3509993"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7pPr>
      <a:lvl8pPr marL="4049992"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8pPr>
      <a:lvl9pPr marL="4589991" indent="-269999" algn="l" defTabSz="1079998"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9pPr>
    </p:bodyStyle>
    <p:otherStyle>
      <a:defPPr>
        <a:defRPr lang="en-US"/>
      </a:defPPr>
      <a:lvl1pPr marL="0" algn="l" defTabSz="1079998" rtl="0" eaLnBrk="1" latinLnBrk="0" hangingPunct="1">
        <a:defRPr sz="2126" kern="1200">
          <a:solidFill>
            <a:schemeClr val="tx1"/>
          </a:solidFill>
          <a:latin typeface="+mn-lt"/>
          <a:ea typeface="+mn-ea"/>
          <a:cs typeface="+mn-cs"/>
        </a:defRPr>
      </a:lvl1pPr>
      <a:lvl2pPr marL="539999" algn="l" defTabSz="1079998" rtl="0" eaLnBrk="1" latinLnBrk="0" hangingPunct="1">
        <a:defRPr sz="2126" kern="1200">
          <a:solidFill>
            <a:schemeClr val="tx1"/>
          </a:solidFill>
          <a:latin typeface="+mn-lt"/>
          <a:ea typeface="+mn-ea"/>
          <a:cs typeface="+mn-cs"/>
        </a:defRPr>
      </a:lvl2pPr>
      <a:lvl3pPr marL="1079998" algn="l" defTabSz="1079998" rtl="0" eaLnBrk="1" latinLnBrk="0" hangingPunct="1">
        <a:defRPr sz="2126" kern="1200">
          <a:solidFill>
            <a:schemeClr val="tx1"/>
          </a:solidFill>
          <a:latin typeface="+mn-lt"/>
          <a:ea typeface="+mn-ea"/>
          <a:cs typeface="+mn-cs"/>
        </a:defRPr>
      </a:lvl3pPr>
      <a:lvl4pPr marL="1619997" algn="l" defTabSz="1079998" rtl="0" eaLnBrk="1" latinLnBrk="0" hangingPunct="1">
        <a:defRPr sz="2126" kern="1200">
          <a:solidFill>
            <a:schemeClr val="tx1"/>
          </a:solidFill>
          <a:latin typeface="+mn-lt"/>
          <a:ea typeface="+mn-ea"/>
          <a:cs typeface="+mn-cs"/>
        </a:defRPr>
      </a:lvl4pPr>
      <a:lvl5pPr marL="2159996" algn="l" defTabSz="1079998" rtl="0" eaLnBrk="1" latinLnBrk="0" hangingPunct="1">
        <a:defRPr sz="2126" kern="1200">
          <a:solidFill>
            <a:schemeClr val="tx1"/>
          </a:solidFill>
          <a:latin typeface="+mn-lt"/>
          <a:ea typeface="+mn-ea"/>
          <a:cs typeface="+mn-cs"/>
        </a:defRPr>
      </a:lvl5pPr>
      <a:lvl6pPr marL="2699995" algn="l" defTabSz="1079998" rtl="0" eaLnBrk="1" latinLnBrk="0" hangingPunct="1">
        <a:defRPr sz="2126" kern="1200">
          <a:solidFill>
            <a:schemeClr val="tx1"/>
          </a:solidFill>
          <a:latin typeface="+mn-lt"/>
          <a:ea typeface="+mn-ea"/>
          <a:cs typeface="+mn-cs"/>
        </a:defRPr>
      </a:lvl6pPr>
      <a:lvl7pPr marL="3239994" algn="l" defTabSz="1079998" rtl="0" eaLnBrk="1" latinLnBrk="0" hangingPunct="1">
        <a:defRPr sz="2126" kern="1200">
          <a:solidFill>
            <a:schemeClr val="tx1"/>
          </a:solidFill>
          <a:latin typeface="+mn-lt"/>
          <a:ea typeface="+mn-ea"/>
          <a:cs typeface="+mn-cs"/>
        </a:defRPr>
      </a:lvl7pPr>
      <a:lvl8pPr marL="3779992" algn="l" defTabSz="1079998" rtl="0" eaLnBrk="1" latinLnBrk="0" hangingPunct="1">
        <a:defRPr sz="2126" kern="1200">
          <a:solidFill>
            <a:schemeClr val="tx1"/>
          </a:solidFill>
          <a:latin typeface="+mn-lt"/>
          <a:ea typeface="+mn-ea"/>
          <a:cs typeface="+mn-cs"/>
        </a:defRPr>
      </a:lvl8pPr>
      <a:lvl9pPr marL="4319991" algn="l" defTabSz="1079998" rtl="0" eaLnBrk="1" latinLnBrk="0" hangingPunct="1">
        <a:defRPr sz="2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6.jp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13.png"/><Relationship Id="rId2" Type="http://schemas.openxmlformats.org/officeDocument/2006/relationships/notesSlide" Target="../notesSlides/notesSlide2.xml"/><Relationship Id="rId16"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11.png"/><Relationship Id="rId10" Type="http://schemas.openxmlformats.org/officeDocument/2006/relationships/image" Target="../media/image22.png"/><Relationship Id="rId4" Type="http://schemas.openxmlformats.org/officeDocument/2006/relationships/image" Target="../media/image2.png"/><Relationship Id="rId9" Type="http://schemas.openxmlformats.org/officeDocument/2006/relationships/image" Target="../media/image21.png"/><Relationship Id="rId14" Type="http://schemas.openxmlformats.org/officeDocument/2006/relationships/image" Target="../media/image26.png"/></Relationships>
</file>

<file path=ppt/slides/_rels/slide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13.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11.png"/><Relationship Id="rId2" Type="http://schemas.openxmlformats.org/officeDocument/2006/relationships/notesSlide" Target="../notesSlides/notesSlide3.xml"/><Relationship Id="rId16" Type="http://schemas.openxmlformats.org/officeDocument/2006/relationships/image" Target="../media/image12.png"/><Relationship Id="rId20"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19" Type="http://schemas.openxmlformats.org/officeDocument/2006/relationships/image" Target="../media/image19.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21" Type="http://schemas.openxmlformats.org/officeDocument/2006/relationships/image" Target="../media/image17.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54.png"/><Relationship Id="rId20"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13.png"/><Relationship Id="rId10" Type="http://schemas.openxmlformats.org/officeDocument/2006/relationships/image" Target="../media/image48.png"/><Relationship Id="rId19" Type="http://schemas.openxmlformats.org/officeDocument/2006/relationships/image" Target="../media/image40.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41.png"/><Relationship Id="rId21" Type="http://schemas.openxmlformats.org/officeDocument/2006/relationships/image" Target="../media/image13.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69.png"/><Relationship Id="rId20"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23" Type="http://schemas.openxmlformats.org/officeDocument/2006/relationships/image" Target="../media/image12.png"/><Relationship Id="rId10" Type="http://schemas.openxmlformats.org/officeDocument/2006/relationships/image" Target="../media/image63.png"/><Relationship Id="rId19" Type="http://schemas.openxmlformats.org/officeDocument/2006/relationships/image" Target="../media/image40.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 Id="rId22"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41.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40.png"/><Relationship Id="rId2" Type="http://schemas.openxmlformats.org/officeDocument/2006/relationships/notesSlide" Target="../notesSlides/notesSlide6.xml"/><Relationship Id="rId16"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1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18" Type="http://schemas.openxmlformats.org/officeDocument/2006/relationships/image" Target="../media/image12.png"/><Relationship Id="rId3" Type="http://schemas.openxmlformats.org/officeDocument/2006/relationships/image" Target="../media/image41.png"/><Relationship Id="rId7" Type="http://schemas.openxmlformats.org/officeDocument/2006/relationships/image" Target="../media/image85.png"/><Relationship Id="rId12" Type="http://schemas.openxmlformats.org/officeDocument/2006/relationships/image" Target="../media/image90.png"/><Relationship Id="rId17" Type="http://schemas.openxmlformats.org/officeDocument/2006/relationships/image" Target="../media/image13.png"/><Relationship Id="rId2" Type="http://schemas.openxmlformats.org/officeDocument/2006/relationships/notesSlide" Target="../notesSlides/notesSlide7.xml"/><Relationship Id="rId16" Type="http://schemas.openxmlformats.org/officeDocument/2006/relationships/image" Target="../media/image11.png"/><Relationship Id="rId20" Type="http://schemas.openxmlformats.org/officeDocument/2006/relationships/image" Target="../media/image17.png"/><Relationship Id="rId1" Type="http://schemas.openxmlformats.org/officeDocument/2006/relationships/slideLayout" Target="../slideLayouts/slideLayout12.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png"/><Relationship Id="rId19" Type="http://schemas.openxmlformats.org/officeDocument/2006/relationships/image" Target="../media/image4.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s>
</file>

<file path=ppt/slides/_rels/slide8.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9.png"/><Relationship Id="rId18" Type="http://schemas.openxmlformats.org/officeDocument/2006/relationships/image" Target="../media/image13.png"/><Relationship Id="rId3" Type="http://schemas.openxmlformats.org/officeDocument/2006/relationships/image" Target="../media/image94.png"/><Relationship Id="rId7" Type="http://schemas.openxmlformats.org/officeDocument/2006/relationships/image" Target="../media/image98.png"/><Relationship Id="rId12" Type="http://schemas.openxmlformats.org/officeDocument/2006/relationships/image" Target="../media/image103.png"/><Relationship Id="rId17" Type="http://schemas.openxmlformats.org/officeDocument/2006/relationships/image" Target="../media/image12.png"/><Relationship Id="rId2" Type="http://schemas.openxmlformats.org/officeDocument/2006/relationships/notesSlide" Target="../notesSlides/notesSlide8.xml"/><Relationship Id="rId16"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5" Type="http://schemas.openxmlformats.org/officeDocument/2006/relationships/image" Target="../media/image5.png"/><Relationship Id="rId10" Type="http://schemas.openxmlformats.org/officeDocument/2006/relationships/image" Target="../media/image101.png"/><Relationship Id="rId19" Type="http://schemas.openxmlformats.org/officeDocument/2006/relationships/image" Target="../media/image11.png"/><Relationship Id="rId4" Type="http://schemas.openxmlformats.org/officeDocument/2006/relationships/image" Target="../media/image95.png"/><Relationship Id="rId9" Type="http://schemas.openxmlformats.org/officeDocument/2006/relationships/image" Target="../media/image100.png"/><Relationship Id="rId1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3" Type="http://schemas.openxmlformats.org/officeDocument/2006/relationships/image" Target="../media/image40.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notesSlide" Target="../notesSlides/notesSlide9.xml"/><Relationship Id="rId16" Type="http://schemas.openxmlformats.org/officeDocument/2006/relationships/image" Target="../media/image114.png"/><Relationship Id="rId1" Type="http://schemas.openxmlformats.org/officeDocument/2006/relationships/slideLayout" Target="../slideLayouts/slideLayout12.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11.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18" Type="http://schemas.openxmlformats.org/officeDocument/2006/relationships/image" Target="../media/image5.png"/><Relationship Id="rId3" Type="http://schemas.openxmlformats.org/officeDocument/2006/relationships/image" Target="../media/image40.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4.png"/><Relationship Id="rId2" Type="http://schemas.openxmlformats.org/officeDocument/2006/relationships/notesSlide" Target="../notesSlides/notesSlide10.xml"/><Relationship Id="rId16" Type="http://schemas.openxmlformats.org/officeDocument/2006/relationships/image" Target="../media/image124.png"/><Relationship Id="rId1" Type="http://schemas.openxmlformats.org/officeDocument/2006/relationships/slideLayout" Target="../slideLayouts/slideLayout12.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png"/><Relationship Id="rId10" Type="http://schemas.openxmlformats.org/officeDocument/2006/relationships/image" Target="../media/image120.png"/><Relationship Id="rId4" Type="http://schemas.openxmlformats.org/officeDocument/2006/relationships/image" Target="../media/image19.png"/><Relationship Id="rId9" Type="http://schemas.openxmlformats.org/officeDocument/2006/relationships/image" Target="../media/image119.png"/><Relationship Id="rId1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6.wdp"/><Relationship Id="rId18" Type="http://schemas.openxmlformats.org/officeDocument/2006/relationships/image" Target="../media/image133.png"/><Relationship Id="rId3" Type="http://schemas.openxmlformats.org/officeDocument/2006/relationships/image" Target="../media/image125.png"/><Relationship Id="rId21" Type="http://schemas.openxmlformats.org/officeDocument/2006/relationships/image" Target="../media/image11.png"/><Relationship Id="rId7" Type="http://schemas.openxmlformats.org/officeDocument/2006/relationships/image" Target="../media/image128.png"/><Relationship Id="rId12" Type="http://schemas.openxmlformats.org/officeDocument/2006/relationships/image" Target="../media/image130.png"/><Relationship Id="rId17" Type="http://schemas.microsoft.com/office/2007/relationships/hdphoto" Target="../media/hdphoto8.wdp"/><Relationship Id="rId2" Type="http://schemas.openxmlformats.org/officeDocument/2006/relationships/notesSlide" Target="../notesSlides/notesSlide11.xml"/><Relationship Id="rId16" Type="http://schemas.openxmlformats.org/officeDocument/2006/relationships/image" Target="../media/image132.png"/><Relationship Id="rId20"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127.png"/><Relationship Id="rId11" Type="http://schemas.microsoft.com/office/2007/relationships/hdphoto" Target="../media/hdphoto5.wdp"/><Relationship Id="rId24" Type="http://schemas.openxmlformats.org/officeDocument/2006/relationships/image" Target="../media/image135.png"/><Relationship Id="rId5" Type="http://schemas.microsoft.com/office/2007/relationships/hdphoto" Target="../media/hdphoto2.wdp"/><Relationship Id="rId15" Type="http://schemas.microsoft.com/office/2007/relationships/hdphoto" Target="../media/hdphoto7.wdp"/><Relationship Id="rId23" Type="http://schemas.openxmlformats.org/officeDocument/2006/relationships/image" Target="../media/image124.png"/><Relationship Id="rId10" Type="http://schemas.microsoft.com/office/2007/relationships/hdphoto" Target="../media/hdphoto4.wdp"/><Relationship Id="rId19" Type="http://schemas.openxmlformats.org/officeDocument/2006/relationships/image" Target="../media/image134.png"/><Relationship Id="rId4" Type="http://schemas.openxmlformats.org/officeDocument/2006/relationships/image" Target="../media/image126.png"/><Relationship Id="rId9" Type="http://schemas.openxmlformats.org/officeDocument/2006/relationships/image" Target="../media/image129.png"/><Relationship Id="rId14" Type="http://schemas.openxmlformats.org/officeDocument/2006/relationships/image" Target="../media/image131.png"/><Relationship Id="rId22"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microsoft.com/office/2007/relationships/hdphoto" Target="../media/hdphoto10.wdp"/><Relationship Id="rId13" Type="http://schemas.openxmlformats.org/officeDocument/2006/relationships/image" Target="../media/image142.png"/><Relationship Id="rId18" Type="http://schemas.openxmlformats.org/officeDocument/2006/relationships/image" Target="../media/image145.png"/><Relationship Id="rId3" Type="http://schemas.openxmlformats.org/officeDocument/2006/relationships/image" Target="../media/image125.png"/><Relationship Id="rId21" Type="http://schemas.openxmlformats.org/officeDocument/2006/relationships/image" Target="../media/image11.png"/><Relationship Id="rId7" Type="http://schemas.openxmlformats.org/officeDocument/2006/relationships/image" Target="../media/image138.png"/><Relationship Id="rId12" Type="http://schemas.openxmlformats.org/officeDocument/2006/relationships/image" Target="../media/image141.png"/><Relationship Id="rId17" Type="http://schemas.microsoft.com/office/2007/relationships/hdphoto" Target="../media/hdphoto13.wdp"/><Relationship Id="rId2" Type="http://schemas.openxmlformats.org/officeDocument/2006/relationships/notesSlide" Target="../notesSlides/notesSlide12.xml"/><Relationship Id="rId16" Type="http://schemas.openxmlformats.org/officeDocument/2006/relationships/image" Target="../media/image144.png"/><Relationship Id="rId20"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137.png"/><Relationship Id="rId11" Type="http://schemas.microsoft.com/office/2007/relationships/hdphoto" Target="../media/hdphoto11.wdp"/><Relationship Id="rId5" Type="http://schemas.microsoft.com/office/2007/relationships/hdphoto" Target="../media/hdphoto9.wdp"/><Relationship Id="rId15" Type="http://schemas.openxmlformats.org/officeDocument/2006/relationships/image" Target="../media/image143.png"/><Relationship Id="rId23" Type="http://schemas.openxmlformats.org/officeDocument/2006/relationships/image" Target="../media/image124.png"/><Relationship Id="rId10" Type="http://schemas.openxmlformats.org/officeDocument/2006/relationships/image" Target="../media/image140.png"/><Relationship Id="rId19" Type="http://schemas.openxmlformats.org/officeDocument/2006/relationships/image" Target="../media/image146.png"/><Relationship Id="rId4" Type="http://schemas.openxmlformats.org/officeDocument/2006/relationships/image" Target="../media/image136.png"/><Relationship Id="rId9" Type="http://schemas.openxmlformats.org/officeDocument/2006/relationships/image" Target="../media/image139.png"/><Relationship Id="rId14" Type="http://schemas.microsoft.com/office/2007/relationships/hdphoto" Target="../media/hdphoto12.wdp"/><Relationship Id="rId22"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50.png"/><Relationship Id="rId13" Type="http://schemas.microsoft.com/office/2007/relationships/hdphoto" Target="../media/hdphoto17.wdp"/><Relationship Id="rId18" Type="http://schemas.openxmlformats.org/officeDocument/2006/relationships/image" Target="../media/image156.png"/><Relationship Id="rId3" Type="http://schemas.openxmlformats.org/officeDocument/2006/relationships/image" Target="../media/image125.png"/><Relationship Id="rId21" Type="http://schemas.openxmlformats.org/officeDocument/2006/relationships/image" Target="../media/image40.png"/><Relationship Id="rId7" Type="http://schemas.openxmlformats.org/officeDocument/2006/relationships/image" Target="../media/image149.png"/><Relationship Id="rId12" Type="http://schemas.openxmlformats.org/officeDocument/2006/relationships/image" Target="../media/image152.png"/><Relationship Id="rId17" Type="http://schemas.microsoft.com/office/2007/relationships/hdphoto" Target="../media/hdphoto18.wdp"/><Relationship Id="rId2" Type="http://schemas.openxmlformats.org/officeDocument/2006/relationships/notesSlide" Target="../notesSlides/notesSlide13.xml"/><Relationship Id="rId16" Type="http://schemas.openxmlformats.org/officeDocument/2006/relationships/image" Target="../media/image155.png"/><Relationship Id="rId20" Type="http://schemas.openxmlformats.org/officeDocument/2006/relationships/image" Target="../media/image113.png"/><Relationship Id="rId1" Type="http://schemas.openxmlformats.org/officeDocument/2006/relationships/slideLayout" Target="../slideLayouts/slideLayout12.xml"/><Relationship Id="rId6" Type="http://schemas.microsoft.com/office/2007/relationships/hdphoto" Target="../media/hdphoto14.wdp"/><Relationship Id="rId11" Type="http://schemas.microsoft.com/office/2007/relationships/hdphoto" Target="../media/hdphoto16.wdp"/><Relationship Id="rId24" Type="http://schemas.openxmlformats.org/officeDocument/2006/relationships/image" Target="../media/image124.png"/><Relationship Id="rId5" Type="http://schemas.openxmlformats.org/officeDocument/2006/relationships/image" Target="../media/image148.png"/><Relationship Id="rId15" Type="http://schemas.openxmlformats.org/officeDocument/2006/relationships/image" Target="../media/image154.png"/><Relationship Id="rId23" Type="http://schemas.openxmlformats.org/officeDocument/2006/relationships/image" Target="../media/image12.png"/><Relationship Id="rId10" Type="http://schemas.openxmlformats.org/officeDocument/2006/relationships/image" Target="../media/image151.png"/><Relationship Id="rId19" Type="http://schemas.microsoft.com/office/2007/relationships/hdphoto" Target="../media/hdphoto19.wdp"/><Relationship Id="rId4" Type="http://schemas.openxmlformats.org/officeDocument/2006/relationships/image" Target="../media/image147.png"/><Relationship Id="rId9" Type="http://schemas.microsoft.com/office/2007/relationships/hdphoto" Target="../media/hdphoto15.wdp"/><Relationship Id="rId14" Type="http://schemas.openxmlformats.org/officeDocument/2006/relationships/image" Target="../media/image153.png"/><Relationship Id="rId22"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26.png"/><Relationship Id="rId18" Type="http://schemas.openxmlformats.org/officeDocument/2006/relationships/image" Target="../media/image11.png"/><Relationship Id="rId3" Type="http://schemas.openxmlformats.org/officeDocument/2006/relationships/image" Target="../media/image17.png"/><Relationship Id="rId21" Type="http://schemas.openxmlformats.org/officeDocument/2006/relationships/image" Target="../media/image40.png"/><Relationship Id="rId7" Type="http://schemas.openxmlformats.org/officeDocument/2006/relationships/image" Target="../media/image159.png"/><Relationship Id="rId12" Type="http://schemas.openxmlformats.org/officeDocument/2006/relationships/image" Target="../media/image164.png"/><Relationship Id="rId17" Type="http://schemas.openxmlformats.org/officeDocument/2006/relationships/image" Target="../media/image167.png"/><Relationship Id="rId2" Type="http://schemas.openxmlformats.org/officeDocument/2006/relationships/notesSlide" Target="../notesSlides/notesSlide14.xml"/><Relationship Id="rId16" Type="http://schemas.openxmlformats.org/officeDocument/2006/relationships/image" Target="../media/image166.png"/><Relationship Id="rId20" Type="http://schemas.openxmlformats.org/officeDocument/2006/relationships/image" Target="../media/image168.png"/><Relationship Id="rId1" Type="http://schemas.openxmlformats.org/officeDocument/2006/relationships/slideLayout" Target="../slideLayouts/slideLayout12.xml"/><Relationship Id="rId6" Type="http://schemas.openxmlformats.org/officeDocument/2006/relationships/image" Target="../media/image158.png"/><Relationship Id="rId11" Type="http://schemas.openxmlformats.org/officeDocument/2006/relationships/image" Target="../media/image163.png"/><Relationship Id="rId5" Type="http://schemas.openxmlformats.org/officeDocument/2006/relationships/image" Target="../media/image19.png"/><Relationship Id="rId15" Type="http://schemas.openxmlformats.org/officeDocument/2006/relationships/image" Target="../media/image165.png"/><Relationship Id="rId10" Type="http://schemas.openxmlformats.org/officeDocument/2006/relationships/image" Target="../media/image162.png"/><Relationship Id="rId19" Type="http://schemas.openxmlformats.org/officeDocument/2006/relationships/image" Target="../media/image12.png"/><Relationship Id="rId4" Type="http://schemas.openxmlformats.org/officeDocument/2006/relationships/image" Target="../media/image157.png"/><Relationship Id="rId9" Type="http://schemas.openxmlformats.org/officeDocument/2006/relationships/image" Target="../media/image161.png"/><Relationship Id="rId14" Type="http://schemas.openxmlformats.org/officeDocument/2006/relationships/image" Target="../media/image110.png"/><Relationship Id="rId22" Type="http://schemas.openxmlformats.org/officeDocument/2006/relationships/image" Target="../media/image124.png"/></Relationships>
</file>

<file path=ppt/slides/_rels/slide15.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9.png"/><Relationship Id="rId18" Type="http://schemas.openxmlformats.org/officeDocument/2006/relationships/image" Target="../media/image184.png"/><Relationship Id="rId3" Type="http://schemas.openxmlformats.org/officeDocument/2006/relationships/image" Target="../media/image169.png"/><Relationship Id="rId21" Type="http://schemas.openxmlformats.org/officeDocument/2006/relationships/image" Target="../media/image11.png"/><Relationship Id="rId7" Type="http://schemas.openxmlformats.org/officeDocument/2006/relationships/image" Target="../media/image173.png"/><Relationship Id="rId12" Type="http://schemas.openxmlformats.org/officeDocument/2006/relationships/image" Target="../media/image178.png"/><Relationship Id="rId17" Type="http://schemas.openxmlformats.org/officeDocument/2006/relationships/image" Target="../media/image183.png"/><Relationship Id="rId2" Type="http://schemas.openxmlformats.org/officeDocument/2006/relationships/notesSlide" Target="../notesSlides/notesSlide15.xml"/><Relationship Id="rId16" Type="http://schemas.openxmlformats.org/officeDocument/2006/relationships/image" Target="../media/image182.png"/><Relationship Id="rId20"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172.png"/><Relationship Id="rId11" Type="http://schemas.openxmlformats.org/officeDocument/2006/relationships/image" Target="../media/image177.png"/><Relationship Id="rId5" Type="http://schemas.openxmlformats.org/officeDocument/2006/relationships/image" Target="../media/image171.png"/><Relationship Id="rId15" Type="http://schemas.openxmlformats.org/officeDocument/2006/relationships/image" Target="../media/image181.png"/><Relationship Id="rId23" Type="http://schemas.openxmlformats.org/officeDocument/2006/relationships/image" Target="../media/image124.png"/><Relationship Id="rId10" Type="http://schemas.openxmlformats.org/officeDocument/2006/relationships/image" Target="../media/image176.png"/><Relationship Id="rId19" Type="http://schemas.openxmlformats.org/officeDocument/2006/relationships/image" Target="../media/image157.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80.png"/><Relationship Id="rId22"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18" Type="http://schemas.openxmlformats.org/officeDocument/2006/relationships/image" Target="../media/image17.png"/><Relationship Id="rId3" Type="http://schemas.openxmlformats.org/officeDocument/2006/relationships/image" Target="../media/image169.png"/><Relationship Id="rId21" Type="http://schemas.openxmlformats.org/officeDocument/2006/relationships/image" Target="../media/image124.png"/><Relationship Id="rId7" Type="http://schemas.openxmlformats.org/officeDocument/2006/relationships/image" Target="../media/image188.png"/><Relationship Id="rId12" Type="http://schemas.openxmlformats.org/officeDocument/2006/relationships/image" Target="../media/image193.png"/><Relationship Id="rId17" Type="http://schemas.openxmlformats.org/officeDocument/2006/relationships/image" Target="../media/image198.png"/><Relationship Id="rId2" Type="http://schemas.openxmlformats.org/officeDocument/2006/relationships/notesSlide" Target="../notesSlides/notesSlide16.xml"/><Relationship Id="rId16" Type="http://schemas.openxmlformats.org/officeDocument/2006/relationships/image" Target="../media/image197.png"/><Relationship Id="rId20"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5" Type="http://schemas.openxmlformats.org/officeDocument/2006/relationships/image" Target="../media/image196.png"/><Relationship Id="rId10" Type="http://schemas.openxmlformats.org/officeDocument/2006/relationships/image" Target="../media/image191.png"/><Relationship Id="rId19" Type="http://schemas.openxmlformats.org/officeDocument/2006/relationships/image" Target="../media/image1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 Id="rId22" Type="http://schemas.openxmlformats.org/officeDocument/2006/relationships/image" Target="../media/image199.png"/></Relationships>
</file>

<file path=ppt/slides/_rels/slide17.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9.png"/><Relationship Id="rId18" Type="http://schemas.openxmlformats.org/officeDocument/2006/relationships/image" Target="../media/image12.png"/><Relationship Id="rId3" Type="http://schemas.openxmlformats.org/officeDocument/2006/relationships/image" Target="../media/image169.png"/><Relationship Id="rId7" Type="http://schemas.openxmlformats.org/officeDocument/2006/relationships/image" Target="../media/image203.png"/><Relationship Id="rId12" Type="http://schemas.openxmlformats.org/officeDocument/2006/relationships/image" Target="../media/image208.png"/><Relationship Id="rId17" Type="http://schemas.openxmlformats.org/officeDocument/2006/relationships/image" Target="../media/image11.png"/><Relationship Id="rId2" Type="http://schemas.openxmlformats.org/officeDocument/2006/relationships/notesSlide" Target="../notesSlides/notesSlide17.xml"/><Relationship Id="rId16"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202.png"/><Relationship Id="rId11" Type="http://schemas.openxmlformats.org/officeDocument/2006/relationships/image" Target="../media/image207.png"/><Relationship Id="rId5" Type="http://schemas.openxmlformats.org/officeDocument/2006/relationships/image" Target="../media/image201.png"/><Relationship Id="rId15" Type="http://schemas.openxmlformats.org/officeDocument/2006/relationships/image" Target="../media/image157.png"/><Relationship Id="rId10" Type="http://schemas.openxmlformats.org/officeDocument/2006/relationships/image" Target="../media/image206.png"/><Relationship Id="rId19" Type="http://schemas.openxmlformats.org/officeDocument/2006/relationships/image" Target="../media/image124.png"/><Relationship Id="rId4" Type="http://schemas.openxmlformats.org/officeDocument/2006/relationships/image" Target="../media/image200.png"/><Relationship Id="rId9" Type="http://schemas.openxmlformats.org/officeDocument/2006/relationships/image" Target="../media/image205.png"/><Relationship Id="rId14" Type="http://schemas.openxmlformats.org/officeDocument/2006/relationships/image" Target="../media/image210.png"/></Relationships>
</file>

<file path=ppt/slides/_rels/slide18.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image" Target="../media/image220.png"/><Relationship Id="rId18" Type="http://schemas.openxmlformats.org/officeDocument/2006/relationships/image" Target="../media/image225.png"/><Relationship Id="rId26" Type="http://schemas.openxmlformats.org/officeDocument/2006/relationships/image" Target="../media/image40.png"/><Relationship Id="rId3" Type="http://schemas.openxmlformats.org/officeDocument/2006/relationships/image" Target="../media/image169.png"/><Relationship Id="rId21" Type="http://schemas.openxmlformats.org/officeDocument/2006/relationships/image" Target="../media/image228.png"/><Relationship Id="rId7" Type="http://schemas.openxmlformats.org/officeDocument/2006/relationships/image" Target="../media/image214.png"/><Relationship Id="rId12" Type="http://schemas.openxmlformats.org/officeDocument/2006/relationships/image" Target="../media/image219.png"/><Relationship Id="rId17" Type="http://schemas.openxmlformats.org/officeDocument/2006/relationships/image" Target="../media/image224.png"/><Relationship Id="rId25" Type="http://schemas.openxmlformats.org/officeDocument/2006/relationships/image" Target="../media/image17.png"/><Relationship Id="rId2" Type="http://schemas.openxmlformats.org/officeDocument/2006/relationships/notesSlide" Target="../notesSlides/notesSlide18.xml"/><Relationship Id="rId16" Type="http://schemas.openxmlformats.org/officeDocument/2006/relationships/image" Target="../media/image223.png"/><Relationship Id="rId20" Type="http://schemas.openxmlformats.org/officeDocument/2006/relationships/image" Target="../media/image227.png"/><Relationship Id="rId29"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image" Target="../media/image213.png"/><Relationship Id="rId11" Type="http://schemas.openxmlformats.org/officeDocument/2006/relationships/image" Target="../media/image218.png"/><Relationship Id="rId24" Type="http://schemas.openxmlformats.org/officeDocument/2006/relationships/image" Target="../media/image231.png"/><Relationship Id="rId5" Type="http://schemas.openxmlformats.org/officeDocument/2006/relationships/image" Target="../media/image212.png"/><Relationship Id="rId15" Type="http://schemas.openxmlformats.org/officeDocument/2006/relationships/image" Target="../media/image222.png"/><Relationship Id="rId23" Type="http://schemas.openxmlformats.org/officeDocument/2006/relationships/image" Target="../media/image230.png"/><Relationship Id="rId28" Type="http://schemas.openxmlformats.org/officeDocument/2006/relationships/image" Target="../media/image124.png"/><Relationship Id="rId10" Type="http://schemas.openxmlformats.org/officeDocument/2006/relationships/image" Target="../media/image217.png"/><Relationship Id="rId19" Type="http://schemas.openxmlformats.org/officeDocument/2006/relationships/image" Target="../media/image226.png"/><Relationship Id="rId4" Type="http://schemas.openxmlformats.org/officeDocument/2006/relationships/image" Target="../media/image211.png"/><Relationship Id="rId9" Type="http://schemas.openxmlformats.org/officeDocument/2006/relationships/image" Target="../media/image216.png"/><Relationship Id="rId14" Type="http://schemas.openxmlformats.org/officeDocument/2006/relationships/image" Target="../media/image221.png"/><Relationship Id="rId22" Type="http://schemas.openxmlformats.org/officeDocument/2006/relationships/image" Target="../media/image229.png"/><Relationship Id="rId27"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237.png"/><Relationship Id="rId13" Type="http://schemas.openxmlformats.org/officeDocument/2006/relationships/image" Target="../media/image11.png"/><Relationship Id="rId18" Type="http://schemas.openxmlformats.org/officeDocument/2006/relationships/image" Target="../media/image243.png"/><Relationship Id="rId3" Type="http://schemas.openxmlformats.org/officeDocument/2006/relationships/image" Target="../media/image232.png"/><Relationship Id="rId21" Type="http://schemas.openxmlformats.org/officeDocument/2006/relationships/image" Target="../media/image246.png"/><Relationship Id="rId7" Type="http://schemas.openxmlformats.org/officeDocument/2006/relationships/image" Target="../media/image236.png"/><Relationship Id="rId12" Type="http://schemas.openxmlformats.org/officeDocument/2006/relationships/image" Target="../media/image241.png"/><Relationship Id="rId17" Type="http://schemas.openxmlformats.org/officeDocument/2006/relationships/image" Target="../media/image242.png"/><Relationship Id="rId2" Type="http://schemas.openxmlformats.org/officeDocument/2006/relationships/notesSlide" Target="../notesSlides/notesSlide19.xml"/><Relationship Id="rId16" Type="http://schemas.openxmlformats.org/officeDocument/2006/relationships/image" Target="../media/image40.png"/><Relationship Id="rId20" Type="http://schemas.openxmlformats.org/officeDocument/2006/relationships/image" Target="../media/image245.png"/><Relationship Id="rId1" Type="http://schemas.openxmlformats.org/officeDocument/2006/relationships/slideLayout" Target="../slideLayouts/slideLayout12.xml"/><Relationship Id="rId6" Type="http://schemas.openxmlformats.org/officeDocument/2006/relationships/image" Target="../media/image235.png"/><Relationship Id="rId11" Type="http://schemas.openxmlformats.org/officeDocument/2006/relationships/image" Target="../media/image240.png"/><Relationship Id="rId5" Type="http://schemas.openxmlformats.org/officeDocument/2006/relationships/image" Target="../media/image234.png"/><Relationship Id="rId15" Type="http://schemas.openxmlformats.org/officeDocument/2006/relationships/image" Target="../media/image12.png"/><Relationship Id="rId10" Type="http://schemas.openxmlformats.org/officeDocument/2006/relationships/image" Target="../media/image239.png"/><Relationship Id="rId19" Type="http://schemas.openxmlformats.org/officeDocument/2006/relationships/image" Target="../media/image244.png"/><Relationship Id="rId4" Type="http://schemas.openxmlformats.org/officeDocument/2006/relationships/image" Target="../media/image233.png"/><Relationship Id="rId9" Type="http://schemas.openxmlformats.org/officeDocument/2006/relationships/image" Target="../media/image238.png"/><Relationship Id="rId14" Type="http://schemas.openxmlformats.org/officeDocument/2006/relationships/image" Target="../media/image124.png"/><Relationship Id="rId22" Type="http://schemas.openxmlformats.org/officeDocument/2006/relationships/image" Target="../media/image247.png"/></Relationships>
</file>

<file path=ppt/slides/_rels/slide20.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255.png"/><Relationship Id="rId18" Type="http://schemas.openxmlformats.org/officeDocument/2006/relationships/image" Target="../media/image260.png"/><Relationship Id="rId3" Type="http://schemas.openxmlformats.org/officeDocument/2006/relationships/image" Target="../media/image1.png"/><Relationship Id="rId21" Type="http://schemas.openxmlformats.org/officeDocument/2006/relationships/image" Target="../media/image157.png"/><Relationship Id="rId7" Type="http://schemas.openxmlformats.org/officeDocument/2006/relationships/image" Target="../media/image249.png"/><Relationship Id="rId12" Type="http://schemas.openxmlformats.org/officeDocument/2006/relationships/image" Target="../media/image254.png"/><Relationship Id="rId17" Type="http://schemas.openxmlformats.org/officeDocument/2006/relationships/image" Target="../media/image259.png"/><Relationship Id="rId2" Type="http://schemas.openxmlformats.org/officeDocument/2006/relationships/notesSlide" Target="../notesSlides/notesSlide20.xml"/><Relationship Id="rId16" Type="http://schemas.openxmlformats.org/officeDocument/2006/relationships/image" Target="../media/image258.png"/><Relationship Id="rId20" Type="http://schemas.openxmlformats.org/officeDocument/2006/relationships/image" Target="../media/image17.png"/><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53.png"/><Relationship Id="rId24" Type="http://schemas.openxmlformats.org/officeDocument/2006/relationships/image" Target="../media/image124.png"/><Relationship Id="rId5" Type="http://schemas.openxmlformats.org/officeDocument/2006/relationships/image" Target="../media/image248.png"/><Relationship Id="rId15" Type="http://schemas.openxmlformats.org/officeDocument/2006/relationships/image" Target="../media/image257.png"/><Relationship Id="rId23" Type="http://schemas.openxmlformats.org/officeDocument/2006/relationships/image" Target="../media/image12.png"/><Relationship Id="rId10" Type="http://schemas.openxmlformats.org/officeDocument/2006/relationships/image" Target="../media/image252.png"/><Relationship Id="rId19" Type="http://schemas.openxmlformats.org/officeDocument/2006/relationships/image" Target="../media/image261.png"/><Relationship Id="rId4" Type="http://schemas.openxmlformats.org/officeDocument/2006/relationships/image" Target="../media/image40.png"/><Relationship Id="rId9" Type="http://schemas.openxmlformats.org/officeDocument/2006/relationships/image" Target="../media/image251.png"/><Relationship Id="rId14" Type="http://schemas.openxmlformats.org/officeDocument/2006/relationships/image" Target="../media/image256.png"/><Relationship Id="rId2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449709"/>
            <a:ext cx="14400213" cy="8100120"/>
          </a:xfrm>
          <a:prstGeom prst="rect">
            <a:avLst/>
          </a:prstGeom>
        </p:spPr>
      </p:pic>
      <p:pic>
        <p:nvPicPr>
          <p:cNvPr id="3" name="Image 1" descr="preencoded.png"/>
          <p:cNvPicPr>
            <a:picLocks noChangeAspect="1"/>
          </p:cNvPicPr>
          <p:nvPr/>
        </p:nvPicPr>
        <p:blipFill>
          <a:blip r:embed="rId4"/>
          <a:stretch>
            <a:fillRect/>
          </a:stretch>
        </p:blipFill>
        <p:spPr>
          <a:xfrm>
            <a:off x="-4" y="-17610"/>
            <a:ext cx="14400213" cy="9017148"/>
          </a:xfrm>
          <a:prstGeom prst="rect">
            <a:avLst/>
          </a:prstGeom>
        </p:spPr>
      </p:pic>
      <p:pic>
        <p:nvPicPr>
          <p:cNvPr id="4" name="Image 2" descr="preencoded.png"/>
          <p:cNvPicPr>
            <a:picLocks noChangeAspect="1"/>
          </p:cNvPicPr>
          <p:nvPr/>
        </p:nvPicPr>
        <p:blipFill>
          <a:blip r:embed="rId5"/>
          <a:stretch>
            <a:fillRect/>
          </a:stretch>
        </p:blipFill>
        <p:spPr>
          <a:xfrm>
            <a:off x="-45019" y="5538225"/>
            <a:ext cx="2991359" cy="2543551"/>
          </a:xfrm>
          <a:prstGeom prst="rect">
            <a:avLst/>
          </a:prstGeom>
        </p:spPr>
      </p:pic>
      <p:pic>
        <p:nvPicPr>
          <p:cNvPr id="5" name="Image 3" descr="preencoded.png"/>
          <p:cNvPicPr>
            <a:picLocks noChangeAspect="1"/>
          </p:cNvPicPr>
          <p:nvPr/>
        </p:nvPicPr>
        <p:blipFill>
          <a:blip r:embed="rId6"/>
          <a:stretch>
            <a:fillRect/>
          </a:stretch>
        </p:blipFill>
        <p:spPr>
          <a:xfrm>
            <a:off x="11767674" y="6208489"/>
            <a:ext cx="2655039" cy="2880043"/>
          </a:xfrm>
          <a:prstGeom prst="rect">
            <a:avLst/>
          </a:prstGeom>
        </p:spPr>
      </p:pic>
      <p:pic>
        <p:nvPicPr>
          <p:cNvPr id="6" name="Image 4" descr="preencoded.png"/>
          <p:cNvPicPr>
            <a:picLocks noChangeAspect="1"/>
          </p:cNvPicPr>
          <p:nvPr/>
        </p:nvPicPr>
        <p:blipFill>
          <a:blip r:embed="rId7"/>
          <a:stretch>
            <a:fillRect/>
          </a:stretch>
        </p:blipFill>
        <p:spPr>
          <a:xfrm>
            <a:off x="9360138" y="2879745"/>
            <a:ext cx="3600053" cy="3600053"/>
          </a:xfrm>
          <a:prstGeom prst="rect">
            <a:avLst/>
          </a:prstGeom>
        </p:spPr>
      </p:pic>
      <p:pic>
        <p:nvPicPr>
          <p:cNvPr id="7" name="Image 5" descr="preencoded.png"/>
          <p:cNvPicPr>
            <a:picLocks noChangeAspect="1"/>
          </p:cNvPicPr>
          <p:nvPr/>
        </p:nvPicPr>
        <p:blipFill>
          <a:blip r:embed="rId8"/>
          <a:stretch>
            <a:fillRect/>
          </a:stretch>
        </p:blipFill>
        <p:spPr>
          <a:xfrm>
            <a:off x="0" y="809714"/>
            <a:ext cx="720011" cy="720011"/>
          </a:xfrm>
          <a:prstGeom prst="rect">
            <a:avLst/>
          </a:prstGeom>
        </p:spPr>
      </p:pic>
      <p:pic>
        <p:nvPicPr>
          <p:cNvPr id="8" name="Image 6" descr="preencoded.png"/>
          <p:cNvPicPr>
            <a:picLocks noChangeAspect="1"/>
          </p:cNvPicPr>
          <p:nvPr/>
        </p:nvPicPr>
        <p:blipFill>
          <a:blip r:embed="rId9"/>
          <a:stretch>
            <a:fillRect/>
          </a:stretch>
        </p:blipFill>
        <p:spPr>
          <a:xfrm>
            <a:off x="66899" y="6180255"/>
            <a:ext cx="382683" cy="459219"/>
          </a:xfrm>
          <a:prstGeom prst="rect">
            <a:avLst/>
          </a:prstGeom>
        </p:spPr>
      </p:pic>
      <p:pic>
        <p:nvPicPr>
          <p:cNvPr id="9" name="Image 7" descr="preencoded.png"/>
          <p:cNvPicPr>
            <a:picLocks noChangeAspect="1"/>
          </p:cNvPicPr>
          <p:nvPr/>
        </p:nvPicPr>
        <p:blipFill>
          <a:blip r:embed="rId10"/>
          <a:stretch>
            <a:fillRect/>
          </a:stretch>
        </p:blipFill>
        <p:spPr>
          <a:xfrm>
            <a:off x="6576874" y="4679771"/>
            <a:ext cx="1125017" cy="45001"/>
          </a:xfrm>
          <a:prstGeom prst="rect">
            <a:avLst/>
          </a:prstGeom>
        </p:spPr>
      </p:pic>
      <p:pic>
        <p:nvPicPr>
          <p:cNvPr id="10" name="Image 8" descr="preencoded.png"/>
          <p:cNvPicPr>
            <a:picLocks noChangeAspect="1"/>
          </p:cNvPicPr>
          <p:nvPr/>
        </p:nvPicPr>
        <p:blipFill>
          <a:blip r:embed="rId11"/>
          <a:stretch>
            <a:fillRect/>
          </a:stretch>
        </p:blipFill>
        <p:spPr>
          <a:xfrm>
            <a:off x="9130900" y="6180255"/>
            <a:ext cx="450007" cy="450007"/>
          </a:xfrm>
          <a:prstGeom prst="rect">
            <a:avLst/>
          </a:prstGeom>
        </p:spPr>
      </p:pic>
      <p:pic>
        <p:nvPicPr>
          <p:cNvPr id="11" name="Image 9" descr="preencoded.png"/>
          <p:cNvPicPr>
            <a:picLocks noChangeAspect="1"/>
          </p:cNvPicPr>
          <p:nvPr/>
        </p:nvPicPr>
        <p:blipFill>
          <a:blip r:embed="rId12"/>
          <a:stretch>
            <a:fillRect/>
          </a:stretch>
        </p:blipFill>
        <p:spPr>
          <a:xfrm>
            <a:off x="9242993" y="6238338"/>
            <a:ext cx="255122" cy="255122"/>
          </a:xfrm>
          <a:prstGeom prst="rect">
            <a:avLst/>
          </a:prstGeom>
        </p:spPr>
      </p:pic>
      <p:pic>
        <p:nvPicPr>
          <p:cNvPr id="12" name="Image 10" descr="preencoded.png"/>
          <p:cNvPicPr>
            <a:picLocks noChangeAspect="1"/>
          </p:cNvPicPr>
          <p:nvPr/>
        </p:nvPicPr>
        <p:blipFill>
          <a:blip r:embed="rId13"/>
          <a:stretch>
            <a:fillRect/>
          </a:stretch>
        </p:blipFill>
        <p:spPr>
          <a:xfrm>
            <a:off x="56286" y="8638090"/>
            <a:ext cx="255122" cy="255122"/>
          </a:xfrm>
          <a:prstGeom prst="rect">
            <a:avLst/>
          </a:prstGeom>
        </p:spPr>
      </p:pic>
      <p:pic>
        <p:nvPicPr>
          <p:cNvPr id="13" name="Image 11" descr="preencoded.png"/>
          <p:cNvPicPr>
            <a:picLocks noChangeAspect="1"/>
          </p:cNvPicPr>
          <p:nvPr/>
        </p:nvPicPr>
        <p:blipFill>
          <a:blip r:embed="rId14"/>
          <a:stretch>
            <a:fillRect/>
          </a:stretch>
        </p:blipFill>
        <p:spPr>
          <a:xfrm>
            <a:off x="-1" y="-16287"/>
            <a:ext cx="14400213" cy="90001"/>
          </a:xfrm>
          <a:prstGeom prst="rect">
            <a:avLst/>
          </a:prstGeom>
        </p:spPr>
      </p:pic>
      <p:pic>
        <p:nvPicPr>
          <p:cNvPr id="14" name="Image 12" descr="preencoded.png"/>
          <p:cNvPicPr>
            <a:picLocks noChangeAspect="1"/>
          </p:cNvPicPr>
          <p:nvPr/>
        </p:nvPicPr>
        <p:blipFill>
          <a:blip r:embed="rId15"/>
          <a:stretch>
            <a:fillRect/>
          </a:stretch>
        </p:blipFill>
        <p:spPr>
          <a:xfrm>
            <a:off x="-7" y="8916180"/>
            <a:ext cx="14400213" cy="90001"/>
          </a:xfrm>
          <a:prstGeom prst="rect">
            <a:avLst/>
          </a:prstGeom>
        </p:spPr>
      </p:pic>
      <p:sp>
        <p:nvSpPr>
          <p:cNvPr id="15" name="Text 0"/>
          <p:cNvSpPr/>
          <p:nvPr/>
        </p:nvSpPr>
        <p:spPr>
          <a:xfrm>
            <a:off x="561677" y="6289285"/>
            <a:ext cx="2290911" cy="395941"/>
          </a:xfrm>
          <a:prstGeom prst="rect">
            <a:avLst/>
          </a:prstGeom>
          <a:noFill/>
          <a:ln/>
        </p:spPr>
        <p:txBody>
          <a:bodyPr wrap="square" lIns="0" tIns="0" rIns="0" bIns="0" rtlCol="0" anchor="t"/>
          <a:lstStyle/>
          <a:p>
            <a:pPr>
              <a:lnSpc>
                <a:spcPts val="2480"/>
              </a:lnSpc>
            </a:pPr>
            <a:r>
              <a:rPr lang="en-US" sz="2835" kern="0" spc="64" dirty="0">
                <a:solidFill>
                  <a:srgbClr val="6B7280"/>
                </a:solidFill>
                <a:latin typeface="Montserrat" pitchFamily="34" charset="0"/>
                <a:ea typeface="Montserrat" pitchFamily="34" charset="-122"/>
                <a:cs typeface="Montserrat" pitchFamily="34" charset="-120"/>
              </a:rPr>
              <a:t>Monografía</a:t>
            </a:r>
            <a:endParaRPr lang="en-US" sz="2835" dirty="0"/>
          </a:p>
        </p:txBody>
      </p:sp>
      <p:sp>
        <p:nvSpPr>
          <p:cNvPr id="16" name="Text 1"/>
          <p:cNvSpPr/>
          <p:nvPr/>
        </p:nvSpPr>
        <p:spPr>
          <a:xfrm>
            <a:off x="2335534" y="2762163"/>
            <a:ext cx="10080149" cy="1620024"/>
          </a:xfrm>
          <a:prstGeom prst="rect">
            <a:avLst/>
          </a:prstGeom>
          <a:noFill/>
          <a:ln/>
        </p:spPr>
        <p:txBody>
          <a:bodyPr wrap="square" lIns="0" tIns="0" rIns="0" bIns="0" rtlCol="0" anchor="t"/>
          <a:lstStyle/>
          <a:p>
            <a:pPr algn="ctr">
              <a:lnSpc>
                <a:spcPts val="4252"/>
              </a:lnSpc>
            </a:pPr>
            <a:r>
              <a:rPr lang="en-US" sz="4252" b="1" dirty="0">
                <a:latin typeface="Montserrat" pitchFamily="34" charset="0"/>
                <a:ea typeface="Montserrat" pitchFamily="34" charset="-122"/>
                <a:cs typeface="Montserrat" pitchFamily="34" charset="-120"/>
              </a:rPr>
              <a:t>Correlación entre Nudos Críticos y Proyectos en las Agendas Concretas de Acción</a:t>
            </a:r>
            <a:endParaRPr lang="en-US" sz="4252" dirty="0"/>
          </a:p>
        </p:txBody>
      </p:sp>
      <p:sp>
        <p:nvSpPr>
          <p:cNvPr id="17" name="Text 2"/>
          <p:cNvSpPr/>
          <p:nvPr/>
        </p:nvSpPr>
        <p:spPr>
          <a:xfrm>
            <a:off x="386743" y="4920890"/>
            <a:ext cx="13713468" cy="986691"/>
          </a:xfrm>
          <a:prstGeom prst="rect">
            <a:avLst/>
          </a:prstGeom>
          <a:noFill/>
          <a:ln/>
        </p:spPr>
        <p:txBody>
          <a:bodyPr wrap="square" lIns="0" tIns="0" rIns="0" bIns="0" rtlCol="0" anchor="t"/>
          <a:lstStyle/>
          <a:p>
            <a:pPr algn="ctr">
              <a:lnSpc>
                <a:spcPts val="2835"/>
              </a:lnSpc>
            </a:pPr>
            <a:r>
              <a:rPr lang="en-US" sz="2835" dirty="0">
                <a:solidFill>
                  <a:srgbClr val="588157"/>
                </a:solidFill>
                <a:latin typeface="Merriweather" pitchFamily="34" charset="0"/>
                <a:ea typeface="Merriweather" pitchFamily="34" charset="-122"/>
                <a:cs typeface="Merriweather" pitchFamily="34" charset="-120"/>
              </a:rPr>
              <a:t>Un Análisis Cuantitativo de la Planificación Comunal en Mérida (2019-2025)</a:t>
            </a:r>
            <a:endParaRPr lang="en-US" sz="2835" dirty="0"/>
          </a:p>
        </p:txBody>
      </p:sp>
      <p:sp>
        <p:nvSpPr>
          <p:cNvPr id="18" name="Text 3"/>
          <p:cNvSpPr/>
          <p:nvPr/>
        </p:nvSpPr>
        <p:spPr>
          <a:xfrm>
            <a:off x="9580910" y="6134505"/>
            <a:ext cx="4819305" cy="2365522"/>
          </a:xfrm>
          <a:prstGeom prst="rect">
            <a:avLst/>
          </a:prstGeom>
          <a:noFill/>
          <a:ln/>
        </p:spPr>
        <p:txBody>
          <a:bodyPr wrap="square" lIns="0" tIns="0" rIns="0" bIns="0" rtlCol="0" anchor="t"/>
          <a:lstStyle/>
          <a:p>
            <a:pPr algn="ctr">
              <a:lnSpc>
                <a:spcPct val="150000"/>
              </a:lnSpc>
            </a:pPr>
            <a:r>
              <a:rPr lang="es-VE" sz="1890" dirty="0">
                <a:latin typeface="Merriweather" panose="00000500000000000000" pitchFamily="2" charset="0"/>
              </a:rPr>
              <a:t>Br. William Alexander Gutiérrez Varela</a:t>
            </a:r>
          </a:p>
          <a:p>
            <a:pPr algn="ctr">
              <a:lnSpc>
                <a:spcPct val="150000"/>
              </a:lnSpc>
            </a:pPr>
            <a:r>
              <a:rPr lang="es-VE" sz="1890" dirty="0">
                <a:latin typeface="Merriweather" panose="00000500000000000000" pitchFamily="2" charset="0"/>
              </a:rPr>
              <a:t>Instituto Nacional de Estadística</a:t>
            </a:r>
          </a:p>
          <a:p>
            <a:pPr algn="ctr">
              <a:lnSpc>
                <a:spcPct val="150000"/>
              </a:lnSpc>
            </a:pPr>
            <a:r>
              <a:rPr lang="es-VE" sz="1890" dirty="0">
                <a:latin typeface="Merriweather" panose="00000500000000000000" pitchFamily="2" charset="0"/>
              </a:rPr>
              <a:t>Tutor Institucional: Yadira Gómez</a:t>
            </a:r>
          </a:p>
          <a:p>
            <a:pPr algn="ctr">
              <a:lnSpc>
                <a:spcPct val="150000"/>
              </a:lnSpc>
            </a:pPr>
            <a:r>
              <a:rPr lang="es-VE" sz="1890" dirty="0">
                <a:latin typeface="Merriweather" panose="00000500000000000000" pitchFamily="2" charset="0"/>
              </a:rPr>
              <a:t>Tutor Académico: Laura Castillo</a:t>
            </a:r>
          </a:p>
          <a:p>
            <a:pPr algn="ctr">
              <a:lnSpc>
                <a:spcPct val="150000"/>
              </a:lnSpc>
            </a:pPr>
            <a:r>
              <a:rPr lang="es-VE" sz="1890" dirty="0">
                <a:latin typeface="Merriweather" panose="00000500000000000000" pitchFamily="2" charset="0"/>
              </a:rPr>
              <a:t>Semestre B-2025</a:t>
            </a:r>
            <a:endParaRPr lang="en-US" sz="1890" dirty="0">
              <a:latin typeface="Merriweather" panose="00000500000000000000" pitchFamily="2" charset="0"/>
            </a:endParaRPr>
          </a:p>
        </p:txBody>
      </p:sp>
      <p:sp>
        <p:nvSpPr>
          <p:cNvPr id="19" name="Text 4"/>
          <p:cNvSpPr/>
          <p:nvPr/>
        </p:nvSpPr>
        <p:spPr>
          <a:xfrm>
            <a:off x="461348" y="8233276"/>
            <a:ext cx="6641953" cy="715174"/>
          </a:xfrm>
          <a:prstGeom prst="rect">
            <a:avLst/>
          </a:prstGeom>
          <a:noFill/>
          <a:ln/>
        </p:spPr>
        <p:txBody>
          <a:bodyPr wrap="square" lIns="0" tIns="0" rIns="0" bIns="0" rtlCol="0" anchor="t"/>
          <a:lstStyle/>
          <a:p>
            <a:pPr algn="ctr"/>
            <a:r>
              <a:rPr lang="es-VE" sz="2362" dirty="0">
                <a:solidFill>
                  <a:srgbClr val="4B5563"/>
                </a:solidFill>
                <a:latin typeface="Montserrat" pitchFamily="34" charset="0"/>
                <a:ea typeface="Montserrat" pitchFamily="34" charset="-122"/>
                <a:cs typeface="Montserrat" pitchFamily="34" charset="-120"/>
              </a:rPr>
              <a:t>Universidad de Los Andes </a:t>
            </a:r>
          </a:p>
          <a:p>
            <a:pPr algn="ctr"/>
            <a:r>
              <a:rPr lang="es-VE" sz="2362" dirty="0">
                <a:solidFill>
                  <a:srgbClr val="4B5563"/>
                </a:solidFill>
                <a:latin typeface="Montserrat" pitchFamily="34" charset="0"/>
                <a:ea typeface="Montserrat" pitchFamily="34" charset="-122"/>
                <a:cs typeface="Montserrat" pitchFamily="34" charset="-120"/>
              </a:rPr>
              <a:t>Facultad de Ciencias Económicas y Sociales</a:t>
            </a:r>
            <a:endParaRPr lang="es-VE" sz="2362" dirty="0"/>
          </a:p>
        </p:txBody>
      </p:sp>
      <p:pic>
        <p:nvPicPr>
          <p:cNvPr id="26" name="Imagen 25">
            <a:extLst>
              <a:ext uri="{FF2B5EF4-FFF2-40B4-BE49-F238E27FC236}">
                <a16:creationId xmlns:a16="http://schemas.microsoft.com/office/drawing/2014/main" id="{724539CB-2E31-0ECA-A952-E5E776A41D2D}"/>
              </a:ext>
            </a:extLst>
          </p:cNvPr>
          <p:cNvPicPr>
            <a:picLocks noChangeAspect="1"/>
          </p:cNvPicPr>
          <p:nvPr/>
        </p:nvPicPr>
        <p:blipFill>
          <a:blip r:embed="rId16"/>
          <a:stretch>
            <a:fillRect/>
          </a:stretch>
        </p:blipFill>
        <p:spPr>
          <a:xfrm>
            <a:off x="0" y="549444"/>
            <a:ext cx="4609202" cy="1268096"/>
          </a:xfrm>
          <a:prstGeom prst="rect">
            <a:avLst/>
          </a:prstGeom>
        </p:spPr>
      </p:pic>
      <p:pic>
        <p:nvPicPr>
          <p:cNvPr id="22" name="Imagen 21">
            <a:extLst>
              <a:ext uri="{FF2B5EF4-FFF2-40B4-BE49-F238E27FC236}">
                <a16:creationId xmlns:a16="http://schemas.microsoft.com/office/drawing/2014/main" id="{24ED04EE-1682-BFF2-5759-E25CF9CD5A5A}"/>
              </a:ext>
            </a:extLst>
          </p:cNvPr>
          <p:cNvPicPr>
            <a:picLocks noChangeAspect="1"/>
          </p:cNvPicPr>
          <p:nvPr/>
        </p:nvPicPr>
        <p:blipFill>
          <a:blip r:embed="rId17">
            <a:extLst>
              <a:ext uri="{BEBA8EAE-BF5A-486C-A8C5-ECC9F3942E4B}">
                <a14:imgProps xmlns:a14="http://schemas.microsoft.com/office/drawing/2010/main">
                  <a14:imgLayer r:embed="rId18">
                    <a14:imgEffect>
                      <a14:brightnessContrast bright="20000" contrast="40000"/>
                    </a14:imgEffect>
                  </a14:imgLayer>
                </a14:imgProps>
              </a:ext>
            </a:extLst>
          </a:blip>
          <a:srcRect l="21862" r="21218"/>
          <a:stretch>
            <a:fillRect/>
          </a:stretch>
        </p:blipFill>
        <p:spPr>
          <a:xfrm>
            <a:off x="12935571" y="559850"/>
            <a:ext cx="1464644" cy="2146370"/>
          </a:xfrm>
          <a:prstGeom prst="rect">
            <a:avLst/>
          </a:prstGeom>
        </p:spPr>
      </p:pic>
      <p:pic>
        <p:nvPicPr>
          <p:cNvPr id="24" name="Imagen 23">
            <a:extLst>
              <a:ext uri="{FF2B5EF4-FFF2-40B4-BE49-F238E27FC236}">
                <a16:creationId xmlns:a16="http://schemas.microsoft.com/office/drawing/2014/main" id="{B4489DAA-8552-773E-B910-FFADC8BF9F61}"/>
              </a:ext>
            </a:extLst>
          </p:cNvPr>
          <p:cNvPicPr>
            <a:picLocks noChangeAspect="1"/>
          </p:cNvPicPr>
          <p:nvPr/>
        </p:nvPicPr>
        <p:blipFill>
          <a:blip r:embed="rId19"/>
          <a:srcRect t="3929"/>
          <a:stretch>
            <a:fillRect/>
          </a:stretch>
        </p:blipFill>
        <p:spPr>
          <a:xfrm>
            <a:off x="5369988" y="801320"/>
            <a:ext cx="4785253" cy="9923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449709"/>
            <a:ext cx="14400213" cy="8100120"/>
          </a:xfrm>
          <a:prstGeom prst="rect">
            <a:avLst/>
          </a:prstGeom>
        </p:spPr>
      </p:pic>
      <p:pic>
        <p:nvPicPr>
          <p:cNvPr id="3" name="Image 1" descr="preencoded.png"/>
          <p:cNvPicPr>
            <a:picLocks noChangeAspect="1"/>
          </p:cNvPicPr>
          <p:nvPr/>
        </p:nvPicPr>
        <p:blipFill>
          <a:blip r:embed="rId4"/>
          <a:stretch>
            <a:fillRect/>
          </a:stretch>
        </p:blipFill>
        <p:spPr>
          <a:xfrm>
            <a:off x="6625" y="0"/>
            <a:ext cx="14393587" cy="8999538"/>
          </a:xfrm>
          <a:prstGeom prst="rect">
            <a:avLst/>
          </a:prstGeom>
        </p:spPr>
      </p:pic>
      <p:pic>
        <p:nvPicPr>
          <p:cNvPr id="4" name="Image 2" descr="preencoded.png"/>
          <p:cNvPicPr>
            <a:picLocks noChangeAspect="1"/>
          </p:cNvPicPr>
          <p:nvPr/>
        </p:nvPicPr>
        <p:blipFill>
          <a:blip r:embed="rId5"/>
          <a:stretch>
            <a:fillRect/>
          </a:stretch>
        </p:blipFill>
        <p:spPr>
          <a:xfrm>
            <a:off x="10649281" y="68419"/>
            <a:ext cx="3757555" cy="2632539"/>
          </a:xfrm>
          <a:prstGeom prst="rect">
            <a:avLst/>
          </a:prstGeom>
        </p:spPr>
      </p:pic>
      <p:pic>
        <p:nvPicPr>
          <p:cNvPr id="5" name="Image 3" descr="preencoded.png"/>
          <p:cNvPicPr>
            <a:picLocks noChangeAspect="1"/>
          </p:cNvPicPr>
          <p:nvPr/>
        </p:nvPicPr>
        <p:blipFill>
          <a:blip r:embed="rId6"/>
          <a:stretch>
            <a:fillRect/>
          </a:stretch>
        </p:blipFill>
        <p:spPr>
          <a:xfrm>
            <a:off x="-12013" y="6115104"/>
            <a:ext cx="2655039" cy="2880043"/>
          </a:xfrm>
          <a:prstGeom prst="rect">
            <a:avLst/>
          </a:prstGeom>
        </p:spPr>
      </p:pic>
      <p:pic>
        <p:nvPicPr>
          <p:cNvPr id="6" name="Image 4" descr="preencoded.png"/>
          <p:cNvPicPr>
            <a:picLocks noChangeAspect="1"/>
          </p:cNvPicPr>
          <p:nvPr/>
        </p:nvPicPr>
        <p:blipFill>
          <a:blip r:embed="rId7"/>
          <a:stretch>
            <a:fillRect/>
          </a:stretch>
        </p:blipFill>
        <p:spPr>
          <a:xfrm>
            <a:off x="2588483" y="1306846"/>
            <a:ext cx="1275609" cy="63780"/>
          </a:xfrm>
          <a:prstGeom prst="rect">
            <a:avLst/>
          </a:prstGeom>
        </p:spPr>
      </p:pic>
      <p:pic>
        <p:nvPicPr>
          <p:cNvPr id="7" name="Image 5" descr="preencoded.png"/>
          <p:cNvPicPr>
            <a:picLocks noChangeAspect="1"/>
          </p:cNvPicPr>
          <p:nvPr/>
        </p:nvPicPr>
        <p:blipFill>
          <a:blip r:embed="rId8"/>
          <a:stretch>
            <a:fillRect/>
          </a:stretch>
        </p:blipFill>
        <p:spPr>
          <a:xfrm>
            <a:off x="48192" y="5619015"/>
            <a:ext cx="4965116" cy="2277591"/>
          </a:xfrm>
          <a:prstGeom prst="rect">
            <a:avLst/>
          </a:prstGeom>
        </p:spPr>
      </p:pic>
      <p:pic>
        <p:nvPicPr>
          <p:cNvPr id="8" name="Image 6" descr="preencoded.png"/>
          <p:cNvPicPr>
            <a:picLocks noChangeAspect="1"/>
          </p:cNvPicPr>
          <p:nvPr/>
        </p:nvPicPr>
        <p:blipFill>
          <a:blip r:embed="rId9"/>
          <a:stretch>
            <a:fillRect/>
          </a:stretch>
        </p:blipFill>
        <p:spPr>
          <a:xfrm>
            <a:off x="239469" y="5624921"/>
            <a:ext cx="255122" cy="255122"/>
          </a:xfrm>
          <a:prstGeom prst="rect">
            <a:avLst/>
          </a:prstGeom>
        </p:spPr>
      </p:pic>
      <p:pic>
        <p:nvPicPr>
          <p:cNvPr id="9" name="Image 7" descr="preencoded.png"/>
          <p:cNvPicPr>
            <a:picLocks noChangeAspect="1"/>
          </p:cNvPicPr>
          <p:nvPr/>
        </p:nvPicPr>
        <p:blipFill>
          <a:blip r:embed="rId10"/>
          <a:stretch>
            <a:fillRect/>
          </a:stretch>
        </p:blipFill>
        <p:spPr>
          <a:xfrm>
            <a:off x="5149669" y="2432059"/>
            <a:ext cx="4286316" cy="2686607"/>
          </a:xfrm>
          <a:prstGeom prst="rect">
            <a:avLst/>
          </a:prstGeom>
        </p:spPr>
      </p:pic>
      <p:pic>
        <p:nvPicPr>
          <p:cNvPr id="10" name="Image 8" descr="preencoded.png"/>
          <p:cNvPicPr>
            <a:picLocks noChangeAspect="1"/>
          </p:cNvPicPr>
          <p:nvPr/>
        </p:nvPicPr>
        <p:blipFill>
          <a:blip r:embed="rId11"/>
          <a:stretch>
            <a:fillRect/>
          </a:stretch>
        </p:blipFill>
        <p:spPr>
          <a:xfrm>
            <a:off x="5234284" y="2503868"/>
            <a:ext cx="270004" cy="360005"/>
          </a:xfrm>
          <a:prstGeom prst="rect">
            <a:avLst/>
          </a:prstGeom>
        </p:spPr>
      </p:pic>
      <p:pic>
        <p:nvPicPr>
          <p:cNvPr id="11" name="Image 9" descr="preencoded.png"/>
          <p:cNvPicPr>
            <a:picLocks noChangeAspect="1"/>
          </p:cNvPicPr>
          <p:nvPr/>
        </p:nvPicPr>
        <p:blipFill>
          <a:blip r:embed="rId10"/>
          <a:stretch>
            <a:fillRect/>
          </a:stretch>
        </p:blipFill>
        <p:spPr>
          <a:xfrm>
            <a:off x="9789848" y="2515980"/>
            <a:ext cx="4537012" cy="2602683"/>
          </a:xfrm>
          <a:prstGeom prst="rect">
            <a:avLst/>
          </a:prstGeom>
        </p:spPr>
      </p:pic>
      <p:pic>
        <p:nvPicPr>
          <p:cNvPr id="12" name="Image 10" descr="preencoded.png"/>
          <p:cNvPicPr>
            <a:picLocks noChangeAspect="1"/>
          </p:cNvPicPr>
          <p:nvPr/>
        </p:nvPicPr>
        <p:blipFill>
          <a:blip r:embed="rId12"/>
          <a:stretch>
            <a:fillRect/>
          </a:stretch>
        </p:blipFill>
        <p:spPr>
          <a:xfrm>
            <a:off x="9939963" y="2489007"/>
            <a:ext cx="332199" cy="360005"/>
          </a:xfrm>
          <a:prstGeom prst="rect">
            <a:avLst/>
          </a:prstGeom>
        </p:spPr>
      </p:pic>
      <p:pic>
        <p:nvPicPr>
          <p:cNvPr id="13" name="Image 11" descr="preencoded.png"/>
          <p:cNvPicPr>
            <a:picLocks noChangeAspect="1"/>
          </p:cNvPicPr>
          <p:nvPr/>
        </p:nvPicPr>
        <p:blipFill>
          <a:blip r:embed="rId10"/>
          <a:stretch>
            <a:fillRect/>
          </a:stretch>
        </p:blipFill>
        <p:spPr>
          <a:xfrm>
            <a:off x="5141005" y="5280251"/>
            <a:ext cx="4437675" cy="3165498"/>
          </a:xfrm>
          <a:prstGeom prst="rect">
            <a:avLst/>
          </a:prstGeom>
        </p:spPr>
      </p:pic>
      <p:pic>
        <p:nvPicPr>
          <p:cNvPr id="14" name="Image 12" descr="preencoded.png"/>
          <p:cNvPicPr>
            <a:picLocks noChangeAspect="1"/>
          </p:cNvPicPr>
          <p:nvPr/>
        </p:nvPicPr>
        <p:blipFill>
          <a:blip r:embed="rId13"/>
          <a:stretch>
            <a:fillRect/>
          </a:stretch>
        </p:blipFill>
        <p:spPr>
          <a:xfrm>
            <a:off x="5254976" y="5369680"/>
            <a:ext cx="321406" cy="360005"/>
          </a:xfrm>
          <a:prstGeom prst="rect">
            <a:avLst/>
          </a:prstGeom>
        </p:spPr>
      </p:pic>
      <p:pic>
        <p:nvPicPr>
          <p:cNvPr id="15" name="Image 13" descr="preencoded.png"/>
          <p:cNvPicPr>
            <a:picLocks noChangeAspect="1"/>
          </p:cNvPicPr>
          <p:nvPr/>
        </p:nvPicPr>
        <p:blipFill>
          <a:blip r:embed="rId10"/>
          <a:stretch>
            <a:fillRect/>
          </a:stretch>
        </p:blipFill>
        <p:spPr>
          <a:xfrm>
            <a:off x="9803502" y="5491380"/>
            <a:ext cx="4496106" cy="2777943"/>
          </a:xfrm>
          <a:prstGeom prst="rect">
            <a:avLst/>
          </a:prstGeom>
        </p:spPr>
      </p:pic>
      <p:pic>
        <p:nvPicPr>
          <p:cNvPr id="16" name="Image 14" descr="preencoded.png"/>
          <p:cNvPicPr>
            <a:picLocks noChangeAspect="1"/>
          </p:cNvPicPr>
          <p:nvPr/>
        </p:nvPicPr>
        <p:blipFill>
          <a:blip r:embed="rId14"/>
          <a:stretch>
            <a:fillRect/>
          </a:stretch>
        </p:blipFill>
        <p:spPr>
          <a:xfrm>
            <a:off x="10033224" y="5615216"/>
            <a:ext cx="296301" cy="360005"/>
          </a:xfrm>
          <a:prstGeom prst="rect">
            <a:avLst/>
          </a:prstGeom>
        </p:spPr>
      </p:pic>
      <p:pic>
        <p:nvPicPr>
          <p:cNvPr id="17" name="Image 15" descr="preencoded.png"/>
          <p:cNvPicPr>
            <a:picLocks noChangeAspect="1"/>
          </p:cNvPicPr>
          <p:nvPr/>
        </p:nvPicPr>
        <p:blipFill>
          <a:blip r:embed="rId15"/>
          <a:stretch>
            <a:fillRect/>
          </a:stretch>
        </p:blipFill>
        <p:spPr>
          <a:xfrm>
            <a:off x="4721" y="8623483"/>
            <a:ext cx="255122" cy="255122"/>
          </a:xfrm>
          <a:prstGeom prst="rect">
            <a:avLst/>
          </a:prstGeom>
        </p:spPr>
      </p:pic>
      <p:pic>
        <p:nvPicPr>
          <p:cNvPr id="18" name="Image 16" descr="preencoded.png"/>
          <p:cNvPicPr>
            <a:picLocks noChangeAspect="1"/>
          </p:cNvPicPr>
          <p:nvPr/>
        </p:nvPicPr>
        <p:blipFill>
          <a:blip r:embed="rId16"/>
          <a:stretch>
            <a:fillRect/>
          </a:stretch>
        </p:blipFill>
        <p:spPr>
          <a:xfrm>
            <a:off x="-2" y="4240"/>
            <a:ext cx="14400213" cy="90001"/>
          </a:xfrm>
          <a:prstGeom prst="rect">
            <a:avLst/>
          </a:prstGeom>
        </p:spPr>
      </p:pic>
      <p:pic>
        <p:nvPicPr>
          <p:cNvPr id="19" name="Image 17" descr="preencoded.png"/>
          <p:cNvPicPr>
            <a:picLocks noChangeAspect="1"/>
          </p:cNvPicPr>
          <p:nvPr/>
        </p:nvPicPr>
        <p:blipFill>
          <a:blip r:embed="rId17"/>
          <a:stretch>
            <a:fillRect/>
          </a:stretch>
        </p:blipFill>
        <p:spPr>
          <a:xfrm>
            <a:off x="17507" y="8905297"/>
            <a:ext cx="14376081" cy="89850"/>
          </a:xfrm>
          <a:prstGeom prst="rect">
            <a:avLst/>
          </a:prstGeom>
        </p:spPr>
      </p:pic>
      <p:sp>
        <p:nvSpPr>
          <p:cNvPr id="20" name="Text 0"/>
          <p:cNvSpPr/>
          <p:nvPr/>
        </p:nvSpPr>
        <p:spPr>
          <a:xfrm>
            <a:off x="6626" y="571452"/>
            <a:ext cx="14393586" cy="725569"/>
          </a:xfrm>
          <a:prstGeom prst="rect">
            <a:avLst/>
          </a:prstGeom>
          <a:noFill/>
          <a:ln/>
        </p:spPr>
        <p:txBody>
          <a:bodyPr wrap="square" lIns="0" tIns="0" rIns="0" bIns="0" rtlCol="0" anchor="t"/>
          <a:lstStyle/>
          <a:p>
            <a:pPr algn="ctr">
              <a:lnSpc>
                <a:spcPts val="5315"/>
              </a:lnSpc>
            </a:pPr>
            <a:r>
              <a:rPr lang="es-VE" sz="3307" b="1" dirty="0">
                <a:latin typeface="Montserrat" panose="00000500000000000000" pitchFamily="2" charset="0"/>
                <a:ea typeface="EB Garamond" pitchFamily="34" charset="-122"/>
                <a:cs typeface="EB Garamond" pitchFamily="34" charset="-120"/>
              </a:rPr>
              <a:t>Capítulo I: El Problema de la Investigación</a:t>
            </a:r>
            <a:endParaRPr lang="es-VE" sz="3307" dirty="0">
              <a:latin typeface="Montserrat" panose="00000500000000000000" pitchFamily="2" charset="0"/>
            </a:endParaRPr>
          </a:p>
        </p:txBody>
      </p:sp>
      <p:sp>
        <p:nvSpPr>
          <p:cNvPr id="21" name="Text 1"/>
          <p:cNvSpPr/>
          <p:nvPr/>
        </p:nvSpPr>
        <p:spPr>
          <a:xfrm>
            <a:off x="75910" y="2429587"/>
            <a:ext cx="4965117" cy="3057447"/>
          </a:xfrm>
          <a:prstGeom prst="rect">
            <a:avLst/>
          </a:prstGeom>
          <a:noFill/>
          <a:ln/>
        </p:spPr>
        <p:txBody>
          <a:bodyPr wrap="square" lIns="0" tIns="0" rIns="0" bIns="0" rtlCol="0" anchor="t"/>
          <a:lstStyle/>
          <a:p>
            <a:pPr algn="just"/>
            <a:r>
              <a:rPr lang="es-VE" sz="2200" dirty="0">
                <a:latin typeface="Merriweather" pitchFamily="34" charset="0"/>
                <a:ea typeface="Merriweather" pitchFamily="34" charset="-122"/>
                <a:cs typeface="Merriweather" pitchFamily="34" charset="-120"/>
              </a:rPr>
              <a:t>La implementación de las Agendas Concretas de Acción (ACA) en el Estado Mérida (2019-2025) ha presentado una notable brecha entre el diagnóstico de problemas y su resolución efectiva a través de proyectos ejecutados, en Mérida se estudio </a:t>
            </a:r>
            <a:r>
              <a:rPr lang="es-VE" sz="2200" b="1" dirty="0">
                <a:latin typeface="Merriweather" pitchFamily="34" charset="0"/>
                <a:ea typeface="Merriweather" pitchFamily="34" charset="-122"/>
                <a:cs typeface="Merriweather" pitchFamily="34" charset="-120"/>
              </a:rPr>
              <a:t>64 comunas </a:t>
            </a:r>
            <a:r>
              <a:rPr lang="es-VE" sz="2200" dirty="0">
                <a:latin typeface="Merriweather" pitchFamily="34" charset="0"/>
                <a:ea typeface="Merriweather" pitchFamily="34" charset="-122"/>
                <a:cs typeface="Merriweather" pitchFamily="34" charset="-120"/>
              </a:rPr>
              <a:t>en </a:t>
            </a:r>
            <a:r>
              <a:rPr lang="es-VE" sz="2200" b="1" dirty="0">
                <a:latin typeface="Merriweather" pitchFamily="34" charset="0"/>
                <a:ea typeface="Merriweather" pitchFamily="34" charset="-122"/>
                <a:cs typeface="Merriweather" pitchFamily="34" charset="-120"/>
              </a:rPr>
              <a:t>198 proyectos ACA </a:t>
            </a:r>
            <a:r>
              <a:rPr lang="es-VE" sz="2200" dirty="0">
                <a:latin typeface="Merriweather" pitchFamily="34" charset="0"/>
                <a:ea typeface="Merriweather" pitchFamily="34" charset="-122"/>
                <a:cs typeface="Merriweather" pitchFamily="34" charset="-120"/>
              </a:rPr>
              <a:t>en todo el Estado.</a:t>
            </a:r>
            <a:endParaRPr lang="es-VE" sz="2200" dirty="0"/>
          </a:p>
        </p:txBody>
      </p:sp>
      <p:sp>
        <p:nvSpPr>
          <p:cNvPr id="22" name="Text 2"/>
          <p:cNvSpPr/>
          <p:nvPr/>
        </p:nvSpPr>
        <p:spPr>
          <a:xfrm>
            <a:off x="163666" y="5968397"/>
            <a:ext cx="4849644" cy="1775168"/>
          </a:xfrm>
          <a:prstGeom prst="rect">
            <a:avLst/>
          </a:prstGeom>
          <a:noFill/>
          <a:ln/>
        </p:spPr>
        <p:txBody>
          <a:bodyPr wrap="square" lIns="0" tIns="0" rIns="0" bIns="0" rtlCol="0" anchor="t"/>
          <a:lstStyle/>
          <a:p>
            <a:pPr algn="just"/>
            <a:r>
              <a:rPr lang="en-US" sz="2200" dirty="0">
                <a:latin typeface="Montserrat" pitchFamily="34" charset="0"/>
                <a:ea typeface="Montserrat" pitchFamily="34" charset="-122"/>
                <a:cs typeface="Montserrat" pitchFamily="34" charset="-120"/>
              </a:rPr>
              <a:t> Casi la mitad de los proyectos (48,99%) son clasificados como "</a:t>
            </a:r>
            <a:r>
              <a:rPr lang="en-US" sz="2200" b="1" dirty="0">
                <a:latin typeface="Montserrat" pitchFamily="34" charset="0"/>
                <a:ea typeface="Montserrat" pitchFamily="34" charset="-122"/>
                <a:cs typeface="Montserrat" pitchFamily="34" charset="-120"/>
              </a:rPr>
              <a:t>No Considerados</a:t>
            </a:r>
            <a:r>
              <a:rPr lang="en-US" sz="2200" dirty="0">
                <a:latin typeface="Montserrat" pitchFamily="34" charset="0"/>
                <a:ea typeface="Montserrat" pitchFamily="34" charset="-122"/>
                <a:cs typeface="Montserrat" pitchFamily="34" charset="-120"/>
              </a:rPr>
              <a:t>", demostrando una desconexión entre el diagnóstico y la acción.</a:t>
            </a:r>
            <a:endParaRPr lang="en-US" sz="2200" dirty="0"/>
          </a:p>
        </p:txBody>
      </p:sp>
      <p:sp>
        <p:nvSpPr>
          <p:cNvPr id="23" name="Text 3"/>
          <p:cNvSpPr/>
          <p:nvPr/>
        </p:nvSpPr>
        <p:spPr>
          <a:xfrm>
            <a:off x="5236116" y="1737885"/>
            <a:ext cx="4342564" cy="360005"/>
          </a:xfrm>
          <a:prstGeom prst="rect">
            <a:avLst/>
          </a:prstGeom>
          <a:noFill/>
          <a:ln/>
        </p:spPr>
        <p:txBody>
          <a:bodyPr wrap="square" lIns="0" tIns="0" rIns="0" bIns="0" rtlCol="0" anchor="t"/>
          <a:lstStyle/>
          <a:p>
            <a:pPr algn="ctr">
              <a:lnSpc>
                <a:spcPts val="2835"/>
              </a:lnSpc>
            </a:pPr>
            <a:r>
              <a:rPr lang="en-US" sz="2835" dirty="0">
                <a:solidFill>
                  <a:srgbClr val="588157"/>
                </a:solidFill>
                <a:latin typeface="Merriweather" pitchFamily="34" charset="0"/>
                <a:ea typeface="Merriweather" pitchFamily="34" charset="-122"/>
                <a:cs typeface="Merriweather" pitchFamily="34" charset="-120"/>
              </a:rPr>
              <a:t>Síntomas Principales</a:t>
            </a:r>
            <a:endParaRPr lang="en-US" sz="2835" dirty="0"/>
          </a:p>
        </p:txBody>
      </p:sp>
      <p:sp>
        <p:nvSpPr>
          <p:cNvPr id="24" name="Text 4"/>
          <p:cNvSpPr/>
          <p:nvPr/>
        </p:nvSpPr>
        <p:spPr>
          <a:xfrm>
            <a:off x="5560366" y="2448830"/>
            <a:ext cx="4109613" cy="997780"/>
          </a:xfrm>
          <a:prstGeom prst="rect">
            <a:avLst/>
          </a:prstGeom>
          <a:noFill/>
          <a:ln/>
        </p:spPr>
        <p:txBody>
          <a:bodyPr wrap="square" lIns="0" tIns="0" rIns="0" bIns="0" rtlCol="0" anchor="t"/>
          <a:lstStyle/>
          <a:p>
            <a:pPr algn="ctr">
              <a:lnSpc>
                <a:spcPts val="2480"/>
              </a:lnSpc>
            </a:pPr>
            <a:r>
              <a:rPr lang="en-US" sz="2362" b="1" dirty="0">
                <a:latin typeface="Montserrat" pitchFamily="34" charset="0"/>
                <a:ea typeface="Montserrat" pitchFamily="34" charset="-122"/>
                <a:cs typeface="Montserrat" pitchFamily="34" charset="-120"/>
              </a:rPr>
              <a:t>Ausencia de Seguimiento Cuantitativo</a:t>
            </a:r>
            <a:endParaRPr lang="en-US" sz="2362" dirty="0"/>
          </a:p>
        </p:txBody>
      </p:sp>
      <p:sp>
        <p:nvSpPr>
          <p:cNvPr id="25" name="Text 5"/>
          <p:cNvSpPr/>
          <p:nvPr/>
        </p:nvSpPr>
        <p:spPr>
          <a:xfrm>
            <a:off x="5295490" y="3085109"/>
            <a:ext cx="4348537" cy="2049397"/>
          </a:xfrm>
          <a:prstGeom prst="rect">
            <a:avLst/>
          </a:prstGeom>
          <a:noFill/>
          <a:ln/>
        </p:spPr>
        <p:txBody>
          <a:bodyPr wrap="square" lIns="0" tIns="0" rIns="0" bIns="0" rtlCol="0" anchor="t"/>
          <a:lstStyle/>
          <a:p>
            <a:pPr algn="just"/>
            <a:r>
              <a:rPr lang="en-US" sz="2200" dirty="0">
                <a:latin typeface="Merriweather" pitchFamily="34" charset="0"/>
                <a:ea typeface="Merriweather" pitchFamily="34" charset="-122"/>
                <a:cs typeface="Merriweather" pitchFamily="34" charset="-120"/>
              </a:rPr>
              <a:t>El</a:t>
            </a:r>
            <a:r>
              <a:rPr lang="en-US" sz="2200" dirty="0">
                <a:solidFill>
                  <a:srgbClr val="343A40"/>
                </a:solidFill>
                <a:latin typeface="Merriweather" pitchFamily="34" charset="0"/>
                <a:ea typeface="Merriweather" pitchFamily="34" charset="-122"/>
                <a:cs typeface="Merriweather" pitchFamily="34" charset="-120"/>
              </a:rPr>
              <a:t> </a:t>
            </a:r>
            <a:r>
              <a:rPr lang="en-US" sz="2200" b="1" dirty="0">
                <a:solidFill>
                  <a:srgbClr val="588157"/>
                </a:solidFill>
                <a:latin typeface="Merriweather" pitchFamily="34" charset="0"/>
                <a:ea typeface="Merriweather" pitchFamily="34" charset="-122"/>
                <a:cs typeface="Merriweather" pitchFamily="34" charset="-120"/>
              </a:rPr>
              <a:t>78%</a:t>
            </a:r>
            <a:r>
              <a:rPr lang="en-US" sz="2200" dirty="0">
                <a:solidFill>
                  <a:srgbClr val="343A40"/>
                </a:solidFill>
                <a:latin typeface="Merriweather" pitchFamily="34" charset="0"/>
                <a:ea typeface="Merriweather" pitchFamily="34" charset="-122"/>
                <a:cs typeface="Merriweather" pitchFamily="34" charset="-120"/>
              </a:rPr>
              <a:t> </a:t>
            </a:r>
            <a:r>
              <a:rPr lang="en-US" sz="2200" dirty="0">
                <a:latin typeface="Merriweather" pitchFamily="34" charset="0"/>
                <a:ea typeface="Merriweather" pitchFamily="34" charset="-122"/>
                <a:cs typeface="Merriweather" pitchFamily="34" charset="-120"/>
              </a:rPr>
              <a:t>de los proyectos ACA carecen de indicadores de seguimiento medibles, dificultando cualquier evaluación objetiva de su efectividad.</a:t>
            </a:r>
            <a:endParaRPr lang="en-US" sz="2200" dirty="0"/>
          </a:p>
        </p:txBody>
      </p:sp>
      <p:sp>
        <p:nvSpPr>
          <p:cNvPr id="26" name="Text 6"/>
          <p:cNvSpPr/>
          <p:nvPr/>
        </p:nvSpPr>
        <p:spPr>
          <a:xfrm>
            <a:off x="10430377" y="2515983"/>
            <a:ext cx="3969835" cy="561832"/>
          </a:xfrm>
          <a:prstGeom prst="rect">
            <a:avLst/>
          </a:prstGeom>
          <a:noFill/>
          <a:ln/>
        </p:spPr>
        <p:txBody>
          <a:bodyPr wrap="square" lIns="0" tIns="0" rIns="0" bIns="0" rtlCol="0" anchor="t"/>
          <a:lstStyle/>
          <a:p>
            <a:pPr>
              <a:lnSpc>
                <a:spcPts val="2480"/>
              </a:lnSpc>
            </a:pPr>
            <a:r>
              <a:rPr lang="en-US" sz="2362" b="1" dirty="0">
                <a:latin typeface="Montserrat" pitchFamily="34" charset="0"/>
                <a:ea typeface="Montserrat" pitchFamily="34" charset="-122"/>
                <a:cs typeface="Montserrat" pitchFamily="34" charset="-120"/>
              </a:rPr>
              <a:t>Opacidad y Desconexión</a:t>
            </a:r>
            <a:endParaRPr lang="en-US" sz="2362" dirty="0"/>
          </a:p>
        </p:txBody>
      </p:sp>
      <p:sp>
        <p:nvSpPr>
          <p:cNvPr id="27" name="Text 7"/>
          <p:cNvSpPr/>
          <p:nvPr/>
        </p:nvSpPr>
        <p:spPr>
          <a:xfrm>
            <a:off x="9932464" y="3150667"/>
            <a:ext cx="4532381" cy="1967996"/>
          </a:xfrm>
          <a:prstGeom prst="rect">
            <a:avLst/>
          </a:prstGeom>
          <a:noFill/>
          <a:ln/>
        </p:spPr>
        <p:txBody>
          <a:bodyPr wrap="square" lIns="0" tIns="0" rIns="0" bIns="0" rtlCol="0" anchor="t"/>
          <a:lstStyle/>
          <a:p>
            <a:r>
              <a:rPr lang="en-US" sz="2200" dirty="0">
                <a:latin typeface="Merriweather" pitchFamily="34" charset="0"/>
                <a:ea typeface="Merriweather" pitchFamily="34" charset="-122"/>
                <a:cs typeface="Merriweather" pitchFamily="34" charset="-120"/>
              </a:rPr>
              <a:t>No existen correlaciones verificables entre los problemas identificados y los resultados obtenidos, generando desconfianza en el proceso de planificación.</a:t>
            </a:r>
            <a:endParaRPr lang="en-US" sz="2200" dirty="0"/>
          </a:p>
        </p:txBody>
      </p:sp>
      <p:sp>
        <p:nvSpPr>
          <p:cNvPr id="28" name="Text 8"/>
          <p:cNvSpPr/>
          <p:nvPr/>
        </p:nvSpPr>
        <p:spPr>
          <a:xfrm>
            <a:off x="5606596" y="5425498"/>
            <a:ext cx="4082232" cy="529481"/>
          </a:xfrm>
          <a:prstGeom prst="rect">
            <a:avLst/>
          </a:prstGeom>
          <a:noFill/>
          <a:ln/>
        </p:spPr>
        <p:txBody>
          <a:bodyPr wrap="square" lIns="0" tIns="0" rIns="0" bIns="0" rtlCol="0" anchor="t"/>
          <a:lstStyle/>
          <a:p>
            <a:pPr>
              <a:lnSpc>
                <a:spcPts val="2480"/>
              </a:lnSpc>
            </a:pPr>
            <a:r>
              <a:rPr lang="en-US" sz="2362" b="1" dirty="0">
                <a:latin typeface="Montserrat" pitchFamily="34" charset="0"/>
                <a:ea typeface="Montserrat" pitchFamily="34" charset="-122"/>
                <a:cs typeface="Montserrat" pitchFamily="34" charset="-120"/>
              </a:rPr>
              <a:t>Ineficiencia en la Gestión</a:t>
            </a:r>
            <a:endParaRPr lang="en-US" sz="2362" dirty="0"/>
          </a:p>
        </p:txBody>
      </p:sp>
      <p:sp>
        <p:nvSpPr>
          <p:cNvPr id="29" name="Text 9"/>
          <p:cNvSpPr/>
          <p:nvPr/>
        </p:nvSpPr>
        <p:spPr>
          <a:xfrm>
            <a:off x="5224762" y="5755471"/>
            <a:ext cx="4434960" cy="2660493"/>
          </a:xfrm>
          <a:prstGeom prst="rect">
            <a:avLst/>
          </a:prstGeom>
          <a:noFill/>
          <a:ln/>
        </p:spPr>
        <p:txBody>
          <a:bodyPr wrap="square" lIns="0" tIns="0" rIns="0" bIns="0" rtlCol="0" anchor="t"/>
          <a:lstStyle/>
          <a:p>
            <a:pPr algn="just"/>
            <a:r>
              <a:rPr lang="es-VE" sz="2200" dirty="0">
                <a:latin typeface="Merriweather" pitchFamily="34" charset="0"/>
                <a:ea typeface="Merriweather" pitchFamily="34" charset="-122"/>
                <a:cs typeface="Merriweather" pitchFamily="34" charset="-120"/>
              </a:rPr>
              <a:t>Se observa una asignación ineficiente de recursos y la persistencia de déficits críticos en servicios básicos, a pesar de la ejecución de proyectos, proyectos clasificados como “</a:t>
            </a:r>
            <a:r>
              <a:rPr lang="es-VE" sz="2200" b="1" dirty="0">
                <a:latin typeface="Merriweather" pitchFamily="34" charset="0"/>
                <a:ea typeface="Merriweather" pitchFamily="34" charset="-122"/>
                <a:cs typeface="Merriweather" pitchFamily="34" charset="-120"/>
              </a:rPr>
              <a:t>Culminados”</a:t>
            </a:r>
            <a:r>
              <a:rPr lang="es-VE" sz="2200" dirty="0">
                <a:latin typeface="Merriweather" pitchFamily="34" charset="0"/>
                <a:ea typeface="Merriweather" pitchFamily="34" charset="-122"/>
                <a:cs typeface="Merriweather" pitchFamily="34" charset="-120"/>
              </a:rPr>
              <a:t> tiene un valor 25,25 %</a:t>
            </a:r>
            <a:endParaRPr lang="es-VE" sz="2200" dirty="0"/>
          </a:p>
        </p:txBody>
      </p:sp>
      <p:sp>
        <p:nvSpPr>
          <p:cNvPr id="30" name="Text 10"/>
          <p:cNvSpPr/>
          <p:nvPr/>
        </p:nvSpPr>
        <p:spPr>
          <a:xfrm>
            <a:off x="10045168" y="5624921"/>
            <a:ext cx="4281692" cy="550364"/>
          </a:xfrm>
          <a:prstGeom prst="rect">
            <a:avLst/>
          </a:prstGeom>
          <a:noFill/>
          <a:ln/>
        </p:spPr>
        <p:txBody>
          <a:bodyPr wrap="square" lIns="0" tIns="0" rIns="0" bIns="0" rtlCol="0" anchor="t"/>
          <a:lstStyle/>
          <a:p>
            <a:pPr algn="ctr">
              <a:lnSpc>
                <a:spcPts val="2480"/>
              </a:lnSpc>
            </a:pPr>
            <a:r>
              <a:rPr lang="es-VE" sz="2362" b="1" dirty="0">
                <a:latin typeface="Montserrat" pitchFamily="34" charset="0"/>
                <a:ea typeface="Montserrat" pitchFamily="34" charset="-122"/>
                <a:cs typeface="Montserrat" pitchFamily="34" charset="-120"/>
              </a:rPr>
              <a:t>Brecha Planificación Ejecución</a:t>
            </a:r>
            <a:endParaRPr lang="es-VE" sz="2362" dirty="0"/>
          </a:p>
        </p:txBody>
      </p:sp>
      <p:sp>
        <p:nvSpPr>
          <p:cNvPr id="31" name="Text 11"/>
          <p:cNvSpPr/>
          <p:nvPr/>
        </p:nvSpPr>
        <p:spPr>
          <a:xfrm>
            <a:off x="9964382" y="6436175"/>
            <a:ext cx="4378701" cy="1776230"/>
          </a:xfrm>
          <a:prstGeom prst="rect">
            <a:avLst/>
          </a:prstGeom>
          <a:noFill/>
          <a:ln/>
        </p:spPr>
        <p:txBody>
          <a:bodyPr wrap="square" lIns="0" tIns="0" rIns="0" bIns="0" rtlCol="0" anchor="t"/>
          <a:lstStyle/>
          <a:p>
            <a:pPr algn="just"/>
            <a:r>
              <a:rPr lang="en-US" sz="2200" dirty="0">
                <a:latin typeface="Merriweather" pitchFamily="34" charset="0"/>
                <a:ea typeface="Merriweather" pitchFamily="34" charset="-122"/>
                <a:cs typeface="Merriweather" pitchFamily="34" charset="-120"/>
              </a:rPr>
              <a:t>La clasificación </a:t>
            </a:r>
            <a:r>
              <a:rPr lang="en-US" sz="2200" b="1" dirty="0">
                <a:latin typeface="Merriweather" pitchFamily="34" charset="0"/>
                <a:ea typeface="Merriweather" pitchFamily="34" charset="-122"/>
                <a:cs typeface="Merriweather" pitchFamily="34" charset="-120"/>
              </a:rPr>
              <a:t>"No Considerados" </a:t>
            </a:r>
            <a:r>
              <a:rPr lang="en-US" sz="2200" dirty="0">
                <a:latin typeface="Merriweather" pitchFamily="34" charset="0"/>
                <a:ea typeface="Merriweather" pitchFamily="34" charset="-122"/>
                <a:cs typeface="Merriweather" pitchFamily="34" charset="-120"/>
              </a:rPr>
              <a:t>afecta a casi la mitad de los proyectos, evidenciando una desconexión entre el diagnóstico y la acción.</a:t>
            </a:r>
            <a:endParaRPr lang="en-US" sz="2200" dirty="0"/>
          </a:p>
        </p:txBody>
      </p:sp>
      <p:sp>
        <p:nvSpPr>
          <p:cNvPr id="32" name="Text 12"/>
          <p:cNvSpPr/>
          <p:nvPr/>
        </p:nvSpPr>
        <p:spPr>
          <a:xfrm>
            <a:off x="348932" y="8623483"/>
            <a:ext cx="5348962" cy="235258"/>
          </a:xfrm>
          <a:prstGeom prst="rect">
            <a:avLst/>
          </a:prstGeom>
          <a:noFill/>
          <a:ln/>
        </p:spPr>
        <p:txBody>
          <a:bodyPr wrap="square" lIns="0" tIns="0" rIns="0" bIns="0" rtlCol="0" anchor="t"/>
          <a:lstStyle/>
          <a:p>
            <a:r>
              <a:rPr lang="en-US" sz="1654" dirty="0">
                <a:solidFill>
                  <a:srgbClr val="4B5563"/>
                </a:solidFill>
                <a:latin typeface="Montserrat" pitchFamily="34" charset="0"/>
                <a:ea typeface="Montserrat" pitchFamily="34" charset="-122"/>
                <a:cs typeface="Montserrat" pitchFamily="34" charset="-120"/>
              </a:rPr>
              <a:t>Universidad de Los Andes | William A. Gutiérrez V.</a:t>
            </a:r>
            <a:endParaRPr lang="en-US" sz="1654" dirty="0"/>
          </a:p>
        </p:txBody>
      </p:sp>
      <p:sp>
        <p:nvSpPr>
          <p:cNvPr id="33" name="Text 0">
            <a:extLst>
              <a:ext uri="{FF2B5EF4-FFF2-40B4-BE49-F238E27FC236}">
                <a16:creationId xmlns:a16="http://schemas.microsoft.com/office/drawing/2014/main" id="{502B1A22-B4DD-EADC-AC1C-F717EBC8B65F}"/>
              </a:ext>
            </a:extLst>
          </p:cNvPr>
          <p:cNvSpPr/>
          <p:nvPr/>
        </p:nvSpPr>
        <p:spPr>
          <a:xfrm>
            <a:off x="494591" y="731588"/>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a:t>
            </a:r>
            <a:endParaRPr lang="en-US" sz="1594" dirty="0">
              <a:latin typeface="Montserrat"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3" descr="preencoded.png"/>
          <p:cNvPicPr>
            <a:picLocks noChangeAspect="1"/>
          </p:cNvPicPr>
          <p:nvPr/>
        </p:nvPicPr>
        <p:blipFill>
          <a:blip r:embed="rId3"/>
          <a:srcRect l="6260" t="30934" r="9043" b="34897"/>
          <a:stretch>
            <a:fillRect/>
          </a:stretch>
        </p:blipFill>
        <p:spPr>
          <a:xfrm>
            <a:off x="1712643" y="1039309"/>
            <a:ext cx="12120308" cy="273360"/>
          </a:xfrm>
          <a:prstGeom prst="rect">
            <a:avLst/>
          </a:prstGeom>
        </p:spPr>
      </p:pic>
      <p:pic>
        <p:nvPicPr>
          <p:cNvPr id="6" name="Image 4" descr="preencoded.png"/>
          <p:cNvPicPr>
            <a:picLocks noChangeAspect="1"/>
          </p:cNvPicPr>
          <p:nvPr/>
        </p:nvPicPr>
        <p:blipFill>
          <a:blip r:embed="rId4"/>
          <a:stretch>
            <a:fillRect/>
          </a:stretch>
        </p:blipFill>
        <p:spPr>
          <a:xfrm>
            <a:off x="720010" y="3059748"/>
            <a:ext cx="6345094" cy="1755026"/>
          </a:xfrm>
          <a:prstGeom prst="rect">
            <a:avLst/>
          </a:prstGeom>
        </p:spPr>
      </p:pic>
      <p:pic>
        <p:nvPicPr>
          <p:cNvPr id="7" name="Image 5" descr="preencoded.png"/>
          <p:cNvPicPr>
            <a:picLocks noChangeAspect="1"/>
          </p:cNvPicPr>
          <p:nvPr/>
        </p:nvPicPr>
        <p:blipFill>
          <a:blip r:embed="rId5"/>
          <a:stretch>
            <a:fillRect/>
          </a:stretch>
        </p:blipFill>
        <p:spPr>
          <a:xfrm>
            <a:off x="356831" y="1477960"/>
            <a:ext cx="675010" cy="675010"/>
          </a:xfrm>
          <a:prstGeom prst="rect">
            <a:avLst/>
          </a:prstGeom>
        </p:spPr>
      </p:pic>
      <p:pic>
        <p:nvPicPr>
          <p:cNvPr id="8" name="Image 6" descr="preencoded.png"/>
          <p:cNvPicPr>
            <a:picLocks noChangeAspect="1"/>
          </p:cNvPicPr>
          <p:nvPr/>
        </p:nvPicPr>
        <p:blipFill>
          <a:blip r:embed="rId6"/>
          <a:stretch>
            <a:fillRect/>
          </a:stretch>
        </p:blipFill>
        <p:spPr>
          <a:xfrm>
            <a:off x="576214" y="1680463"/>
            <a:ext cx="236253" cy="270004"/>
          </a:xfrm>
          <a:prstGeom prst="rect">
            <a:avLst/>
          </a:prstGeom>
        </p:spPr>
      </p:pic>
      <p:pic>
        <p:nvPicPr>
          <p:cNvPr id="9" name="Image 7" descr="preencoded.png"/>
          <p:cNvPicPr>
            <a:picLocks noChangeAspect="1"/>
          </p:cNvPicPr>
          <p:nvPr/>
        </p:nvPicPr>
        <p:blipFill>
          <a:blip r:embed="rId4"/>
          <a:stretch>
            <a:fillRect/>
          </a:stretch>
        </p:blipFill>
        <p:spPr>
          <a:xfrm>
            <a:off x="7335108" y="3059748"/>
            <a:ext cx="6345094" cy="1755026"/>
          </a:xfrm>
          <a:prstGeom prst="rect">
            <a:avLst/>
          </a:prstGeom>
        </p:spPr>
      </p:pic>
      <p:pic>
        <p:nvPicPr>
          <p:cNvPr id="10" name="Image 8" descr="preencoded.png"/>
          <p:cNvPicPr>
            <a:picLocks noChangeAspect="1"/>
          </p:cNvPicPr>
          <p:nvPr/>
        </p:nvPicPr>
        <p:blipFill>
          <a:blip r:embed="rId7"/>
          <a:stretch>
            <a:fillRect/>
          </a:stretch>
        </p:blipFill>
        <p:spPr>
          <a:xfrm>
            <a:off x="7274166" y="1379793"/>
            <a:ext cx="675010" cy="675010"/>
          </a:xfrm>
          <a:prstGeom prst="rect">
            <a:avLst/>
          </a:prstGeom>
        </p:spPr>
      </p:pic>
      <p:pic>
        <p:nvPicPr>
          <p:cNvPr id="11" name="Image 9" descr="preencoded.png"/>
          <p:cNvPicPr>
            <a:picLocks noChangeAspect="1"/>
          </p:cNvPicPr>
          <p:nvPr/>
        </p:nvPicPr>
        <p:blipFill>
          <a:blip r:embed="rId8"/>
          <a:stretch>
            <a:fillRect/>
          </a:stretch>
        </p:blipFill>
        <p:spPr>
          <a:xfrm>
            <a:off x="7510420" y="1582296"/>
            <a:ext cx="202503" cy="270004"/>
          </a:xfrm>
          <a:prstGeom prst="rect">
            <a:avLst/>
          </a:prstGeom>
        </p:spPr>
      </p:pic>
      <p:pic>
        <p:nvPicPr>
          <p:cNvPr id="12" name="Image 10" descr="preencoded.png"/>
          <p:cNvPicPr>
            <a:picLocks noChangeAspect="1"/>
          </p:cNvPicPr>
          <p:nvPr/>
        </p:nvPicPr>
        <p:blipFill>
          <a:blip r:embed="rId9"/>
          <a:stretch>
            <a:fillRect/>
          </a:stretch>
        </p:blipFill>
        <p:spPr>
          <a:xfrm>
            <a:off x="720010" y="5084779"/>
            <a:ext cx="6345094" cy="1530023"/>
          </a:xfrm>
          <a:prstGeom prst="rect">
            <a:avLst/>
          </a:prstGeom>
        </p:spPr>
      </p:pic>
      <p:pic>
        <p:nvPicPr>
          <p:cNvPr id="13" name="Image 11" descr="preencoded.png"/>
          <p:cNvPicPr>
            <a:picLocks noChangeAspect="1"/>
          </p:cNvPicPr>
          <p:nvPr/>
        </p:nvPicPr>
        <p:blipFill>
          <a:blip r:embed="rId10"/>
          <a:stretch>
            <a:fillRect/>
          </a:stretch>
        </p:blipFill>
        <p:spPr>
          <a:xfrm>
            <a:off x="45000" y="4493846"/>
            <a:ext cx="675010" cy="675010"/>
          </a:xfrm>
          <a:prstGeom prst="rect">
            <a:avLst/>
          </a:prstGeom>
        </p:spPr>
      </p:pic>
      <p:pic>
        <p:nvPicPr>
          <p:cNvPr id="14" name="Image 12" descr="preencoded.png"/>
          <p:cNvPicPr>
            <a:picLocks noChangeAspect="1"/>
          </p:cNvPicPr>
          <p:nvPr/>
        </p:nvPicPr>
        <p:blipFill>
          <a:blip r:embed="rId11"/>
          <a:stretch>
            <a:fillRect/>
          </a:stretch>
        </p:blipFill>
        <p:spPr>
          <a:xfrm>
            <a:off x="247503" y="4696349"/>
            <a:ext cx="270004" cy="270004"/>
          </a:xfrm>
          <a:prstGeom prst="rect">
            <a:avLst/>
          </a:prstGeom>
        </p:spPr>
      </p:pic>
      <p:pic>
        <p:nvPicPr>
          <p:cNvPr id="15" name="Image 13" descr="preencoded.png"/>
          <p:cNvPicPr>
            <a:picLocks noChangeAspect="1"/>
          </p:cNvPicPr>
          <p:nvPr/>
        </p:nvPicPr>
        <p:blipFill>
          <a:blip r:embed="rId9"/>
          <a:stretch>
            <a:fillRect/>
          </a:stretch>
        </p:blipFill>
        <p:spPr>
          <a:xfrm>
            <a:off x="7335108" y="5084779"/>
            <a:ext cx="7065104" cy="2010767"/>
          </a:xfrm>
          <a:prstGeom prst="rect">
            <a:avLst/>
          </a:prstGeom>
        </p:spPr>
      </p:pic>
      <p:pic>
        <p:nvPicPr>
          <p:cNvPr id="16" name="Image 14" descr="preencoded.png"/>
          <p:cNvPicPr>
            <a:picLocks noChangeAspect="1"/>
          </p:cNvPicPr>
          <p:nvPr/>
        </p:nvPicPr>
        <p:blipFill>
          <a:blip r:embed="rId12"/>
          <a:stretch>
            <a:fillRect/>
          </a:stretch>
        </p:blipFill>
        <p:spPr>
          <a:xfrm>
            <a:off x="8267443" y="4598219"/>
            <a:ext cx="675010" cy="675010"/>
          </a:xfrm>
          <a:prstGeom prst="rect">
            <a:avLst/>
          </a:prstGeom>
        </p:spPr>
      </p:pic>
      <p:pic>
        <p:nvPicPr>
          <p:cNvPr id="17" name="Image 15" descr="preencoded.png"/>
          <p:cNvPicPr>
            <a:picLocks noChangeAspect="1"/>
          </p:cNvPicPr>
          <p:nvPr/>
        </p:nvPicPr>
        <p:blipFill>
          <a:blip r:embed="rId13"/>
          <a:stretch>
            <a:fillRect/>
          </a:stretch>
        </p:blipFill>
        <p:spPr>
          <a:xfrm>
            <a:off x="8436196" y="4800722"/>
            <a:ext cx="337505" cy="270004"/>
          </a:xfrm>
          <a:prstGeom prst="rect">
            <a:avLst/>
          </a:prstGeom>
        </p:spPr>
      </p:pic>
      <p:pic>
        <p:nvPicPr>
          <p:cNvPr id="18" name="Image 16" descr="preencoded.png"/>
          <p:cNvPicPr>
            <a:picLocks noChangeAspect="1"/>
          </p:cNvPicPr>
          <p:nvPr/>
        </p:nvPicPr>
        <p:blipFill>
          <a:blip r:embed="rId14"/>
          <a:stretch>
            <a:fillRect/>
          </a:stretch>
        </p:blipFill>
        <p:spPr>
          <a:xfrm>
            <a:off x="1286668" y="7781871"/>
            <a:ext cx="12659273" cy="840954"/>
          </a:xfrm>
          <a:prstGeom prst="rect">
            <a:avLst/>
          </a:prstGeom>
        </p:spPr>
      </p:pic>
      <p:pic>
        <p:nvPicPr>
          <p:cNvPr id="19" name="Image 17" descr="preencoded.png"/>
          <p:cNvPicPr>
            <a:picLocks noChangeAspect="1"/>
          </p:cNvPicPr>
          <p:nvPr/>
        </p:nvPicPr>
        <p:blipFill>
          <a:blip r:embed="rId15"/>
          <a:stretch>
            <a:fillRect/>
          </a:stretch>
        </p:blipFill>
        <p:spPr>
          <a:xfrm>
            <a:off x="1377537" y="7882111"/>
            <a:ext cx="178875" cy="199476"/>
          </a:xfrm>
          <a:prstGeom prst="rect">
            <a:avLst/>
          </a:prstGeom>
        </p:spPr>
      </p:pic>
      <p:sp>
        <p:nvSpPr>
          <p:cNvPr id="20" name="Text 0"/>
          <p:cNvSpPr/>
          <p:nvPr/>
        </p:nvSpPr>
        <p:spPr>
          <a:xfrm>
            <a:off x="5507" y="105533"/>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a:t>
            </a:r>
            <a:endParaRPr lang="en-US" sz="1594" dirty="0">
              <a:latin typeface="Montserrat" panose="00000500000000000000" pitchFamily="2" charset="0"/>
            </a:endParaRPr>
          </a:p>
        </p:txBody>
      </p:sp>
      <p:sp>
        <p:nvSpPr>
          <p:cNvPr id="21" name="Text 1"/>
          <p:cNvSpPr/>
          <p:nvPr/>
        </p:nvSpPr>
        <p:spPr>
          <a:xfrm>
            <a:off x="1007824" y="541025"/>
            <a:ext cx="13392389" cy="450007"/>
          </a:xfrm>
          <a:prstGeom prst="rect">
            <a:avLst/>
          </a:prstGeom>
          <a:noFill/>
          <a:ln/>
        </p:spPr>
        <p:txBody>
          <a:bodyPr wrap="square" lIns="0" tIns="0" rIns="0" bIns="0" rtlCol="0" anchor="t"/>
          <a:lstStyle/>
          <a:p>
            <a:pPr>
              <a:lnSpc>
                <a:spcPts val="3543"/>
              </a:lnSpc>
            </a:pPr>
            <a:r>
              <a:rPr lang="en-US" sz="3189" b="1" dirty="0">
                <a:latin typeface="Montserrat" panose="00000500000000000000" pitchFamily="2" charset="0"/>
                <a:ea typeface="EB Garamond" pitchFamily="34" charset="-122"/>
                <a:cs typeface="EB Garamond" pitchFamily="34" charset="-120"/>
              </a:rPr>
              <a:t>Causas Fundamentales del Problema</a:t>
            </a:r>
            <a:endParaRPr lang="en-US" sz="3189" dirty="0">
              <a:latin typeface="Montserrat" panose="00000500000000000000" pitchFamily="2" charset="0"/>
            </a:endParaRPr>
          </a:p>
        </p:txBody>
      </p:sp>
      <p:sp>
        <p:nvSpPr>
          <p:cNvPr id="22" name="Text 2"/>
          <p:cNvSpPr/>
          <p:nvPr/>
        </p:nvSpPr>
        <p:spPr>
          <a:xfrm>
            <a:off x="1133098" y="1649510"/>
            <a:ext cx="5847837" cy="315005"/>
          </a:xfrm>
          <a:prstGeom prst="rect">
            <a:avLst/>
          </a:prstGeom>
          <a:noFill/>
          <a:ln/>
        </p:spPr>
        <p:txBody>
          <a:bodyPr wrap="square" lIns="0" tIns="0" rIns="0" bIns="0" rtlCol="0" anchor="t"/>
          <a:lstStyle/>
          <a:p>
            <a:pPr>
              <a:lnSpc>
                <a:spcPts val="2480"/>
              </a:lnSpc>
            </a:pPr>
            <a:r>
              <a:rPr lang="en-US" sz="2362" b="1" dirty="0">
                <a:latin typeface="Montserrat" panose="00000500000000000000" pitchFamily="2" charset="0"/>
                <a:ea typeface="EB Garamond" pitchFamily="34" charset="-122"/>
                <a:cs typeface="EB Garamond" pitchFamily="34" charset="-120"/>
              </a:rPr>
              <a:t>Opacidad y Centralización de Datos</a:t>
            </a:r>
            <a:endParaRPr lang="en-US" sz="2362" dirty="0">
              <a:latin typeface="Montserrat" panose="00000500000000000000" pitchFamily="2" charset="0"/>
            </a:endParaRPr>
          </a:p>
        </p:txBody>
      </p:sp>
      <p:sp>
        <p:nvSpPr>
          <p:cNvPr id="23" name="Text 3"/>
          <p:cNvSpPr/>
          <p:nvPr/>
        </p:nvSpPr>
        <p:spPr>
          <a:xfrm>
            <a:off x="817158" y="2211944"/>
            <a:ext cx="6345093" cy="2187914"/>
          </a:xfrm>
          <a:prstGeom prst="rect">
            <a:avLst/>
          </a:prstGeom>
          <a:noFill/>
          <a:ln/>
        </p:spPr>
        <p:txBody>
          <a:bodyPr wrap="square" lIns="0" tIns="0" rIns="0" bIns="0" rtlCol="0" anchor="t"/>
          <a:lstStyle/>
          <a:p>
            <a:pPr algn="just"/>
            <a:r>
              <a:rPr lang="en-US" sz="2611" dirty="0">
                <a:latin typeface="Merriweather" panose="00000500000000000000" pitchFamily="2" charset="0"/>
                <a:ea typeface="Arial" pitchFamily="34" charset="-122"/>
                <a:cs typeface="Arial" pitchFamily="34" charset="-120"/>
              </a:rPr>
              <a:t>La información se centraliza y se obtiene con grandes retrasos, lo que impide la validación in situ con los líderes comunales y fomenta la opacidad institucional.</a:t>
            </a:r>
            <a:endParaRPr lang="en-US" sz="2611" dirty="0">
              <a:latin typeface="Merriweather" panose="00000500000000000000" pitchFamily="2" charset="0"/>
            </a:endParaRPr>
          </a:p>
        </p:txBody>
      </p:sp>
      <p:sp>
        <p:nvSpPr>
          <p:cNvPr id="24" name="Text 4"/>
          <p:cNvSpPr/>
          <p:nvPr/>
        </p:nvSpPr>
        <p:spPr>
          <a:xfrm>
            <a:off x="8052090" y="1636258"/>
            <a:ext cx="6298433" cy="408282"/>
          </a:xfrm>
          <a:prstGeom prst="rect">
            <a:avLst/>
          </a:prstGeom>
          <a:noFill/>
          <a:ln/>
        </p:spPr>
        <p:txBody>
          <a:bodyPr wrap="square" lIns="0" tIns="0" rIns="0" bIns="0" rtlCol="0" anchor="t"/>
          <a:lstStyle/>
          <a:p>
            <a:pPr>
              <a:lnSpc>
                <a:spcPts val="2480"/>
              </a:lnSpc>
            </a:pPr>
            <a:r>
              <a:rPr lang="en-US" sz="2362" b="1" dirty="0">
                <a:latin typeface="Montserrat" panose="00000500000000000000" pitchFamily="2" charset="0"/>
                <a:ea typeface="EB Garamond" pitchFamily="34" charset="-122"/>
                <a:cs typeface="EB Garamond" pitchFamily="34" charset="-120"/>
              </a:rPr>
              <a:t>Naturaleza Cualitativa de los Registros</a:t>
            </a:r>
            <a:endParaRPr lang="en-US" sz="2362" dirty="0">
              <a:latin typeface="Montserrat" panose="00000500000000000000" pitchFamily="2" charset="0"/>
            </a:endParaRPr>
          </a:p>
        </p:txBody>
      </p:sp>
      <p:sp>
        <p:nvSpPr>
          <p:cNvPr id="25" name="Text 5"/>
          <p:cNvSpPr/>
          <p:nvPr/>
        </p:nvSpPr>
        <p:spPr>
          <a:xfrm>
            <a:off x="7740114" y="2097599"/>
            <a:ext cx="6475403" cy="2331757"/>
          </a:xfrm>
          <a:prstGeom prst="rect">
            <a:avLst/>
          </a:prstGeom>
          <a:noFill/>
          <a:ln/>
        </p:spPr>
        <p:txBody>
          <a:bodyPr wrap="square" lIns="0" tIns="0" rIns="0" bIns="0" rtlCol="0" anchor="t"/>
          <a:lstStyle/>
          <a:p>
            <a:pPr algn="just"/>
            <a:r>
              <a:rPr lang="en-US" sz="2611" dirty="0">
                <a:latin typeface="Merriweather" panose="00000500000000000000" pitchFamily="2" charset="0"/>
                <a:ea typeface="Arial" pitchFamily="34" charset="-122"/>
                <a:cs typeface="Arial" pitchFamily="34" charset="-120"/>
              </a:rPr>
              <a:t>Los registros iniciales, recopilados en rotafolios y digitalizados, son predominantemente cualitativos. No se han realizado análisis posteriores a la primera consulta de 2022 para transformarlos en datos cuantitativos.</a:t>
            </a:r>
            <a:endParaRPr lang="en-US" sz="2611" dirty="0">
              <a:latin typeface="Merriweather" panose="00000500000000000000" pitchFamily="2" charset="0"/>
            </a:endParaRPr>
          </a:p>
        </p:txBody>
      </p:sp>
      <p:sp>
        <p:nvSpPr>
          <p:cNvPr id="26" name="Text 6"/>
          <p:cNvSpPr/>
          <p:nvPr/>
        </p:nvSpPr>
        <p:spPr>
          <a:xfrm>
            <a:off x="788100" y="4681469"/>
            <a:ext cx="6592009" cy="315005"/>
          </a:xfrm>
          <a:prstGeom prst="rect">
            <a:avLst/>
          </a:prstGeom>
          <a:noFill/>
          <a:ln/>
        </p:spPr>
        <p:txBody>
          <a:bodyPr wrap="square" lIns="0" tIns="0" rIns="0" bIns="0" rtlCol="0" anchor="t"/>
          <a:lstStyle/>
          <a:p>
            <a:pPr>
              <a:lnSpc>
                <a:spcPts val="2480"/>
              </a:lnSpc>
            </a:pPr>
            <a:r>
              <a:rPr lang="en-US" sz="2362" b="1" dirty="0">
                <a:latin typeface="Montserrat" panose="00000500000000000000" pitchFamily="2" charset="0"/>
                <a:ea typeface="EB Garamond" pitchFamily="34" charset="-122"/>
                <a:cs typeface="EB Garamond" pitchFamily="34" charset="-120"/>
              </a:rPr>
              <a:t>Ausencia de Mecanismos de Seguimiento</a:t>
            </a:r>
            <a:endParaRPr lang="en-US" sz="2362" dirty="0">
              <a:latin typeface="Montserrat" panose="00000500000000000000" pitchFamily="2" charset="0"/>
            </a:endParaRPr>
          </a:p>
        </p:txBody>
      </p:sp>
      <p:sp>
        <p:nvSpPr>
          <p:cNvPr id="27" name="Text 7"/>
          <p:cNvSpPr/>
          <p:nvPr/>
        </p:nvSpPr>
        <p:spPr>
          <a:xfrm>
            <a:off x="830754" y="5141707"/>
            <a:ext cx="6369352" cy="2437087"/>
          </a:xfrm>
          <a:prstGeom prst="rect">
            <a:avLst/>
          </a:prstGeom>
          <a:noFill/>
          <a:ln/>
        </p:spPr>
        <p:txBody>
          <a:bodyPr wrap="square" lIns="0" tIns="0" rIns="0" bIns="0" rtlCol="0" anchor="t"/>
          <a:lstStyle/>
          <a:p>
            <a:pPr algn="just"/>
            <a:r>
              <a:rPr lang="en-US" sz="2611" dirty="0">
                <a:latin typeface="Merriweather" panose="00000500000000000000" pitchFamily="2" charset="0"/>
                <a:ea typeface="Arial" pitchFamily="34" charset="-122"/>
                <a:cs typeface="Arial" pitchFamily="34" charset="-120"/>
              </a:rPr>
              <a:t>Existe una falta de análisis y seguimiento en tiempo real, de estandarización en la recolección de datos y de un marco metodológico claro para medir el impacto de los proyectos.</a:t>
            </a:r>
            <a:endParaRPr lang="en-US" sz="2611" dirty="0">
              <a:latin typeface="Merriweather" panose="00000500000000000000" pitchFamily="2" charset="0"/>
            </a:endParaRPr>
          </a:p>
        </p:txBody>
      </p:sp>
      <p:sp>
        <p:nvSpPr>
          <p:cNvPr id="28" name="Text 8"/>
          <p:cNvSpPr/>
          <p:nvPr/>
        </p:nvSpPr>
        <p:spPr>
          <a:xfrm>
            <a:off x="9043705" y="4775724"/>
            <a:ext cx="4623140" cy="315005"/>
          </a:xfrm>
          <a:prstGeom prst="rect">
            <a:avLst/>
          </a:prstGeom>
          <a:noFill/>
          <a:ln/>
        </p:spPr>
        <p:txBody>
          <a:bodyPr wrap="square" lIns="0" tIns="0" rIns="0" bIns="0" rtlCol="0" anchor="t"/>
          <a:lstStyle/>
          <a:p>
            <a:pPr>
              <a:lnSpc>
                <a:spcPts val="2480"/>
              </a:lnSpc>
            </a:pPr>
            <a:r>
              <a:rPr lang="en-US" sz="2362" b="1" dirty="0">
                <a:latin typeface="Montserrat" panose="00000500000000000000" pitchFamily="2" charset="0"/>
                <a:ea typeface="EB Garamond" pitchFamily="34" charset="-122"/>
                <a:cs typeface="EB Garamond" pitchFamily="34" charset="-120"/>
              </a:rPr>
              <a:t>Inadecuación Metodológica</a:t>
            </a:r>
            <a:endParaRPr lang="en-US" sz="2362" dirty="0">
              <a:latin typeface="Montserrat" panose="00000500000000000000" pitchFamily="2" charset="0"/>
            </a:endParaRPr>
          </a:p>
        </p:txBody>
      </p:sp>
      <p:sp>
        <p:nvSpPr>
          <p:cNvPr id="29" name="Text 9"/>
          <p:cNvSpPr/>
          <p:nvPr/>
        </p:nvSpPr>
        <p:spPr>
          <a:xfrm>
            <a:off x="7712923" y="5263435"/>
            <a:ext cx="6545730" cy="1667872"/>
          </a:xfrm>
          <a:prstGeom prst="rect">
            <a:avLst/>
          </a:prstGeom>
          <a:noFill/>
          <a:ln/>
        </p:spPr>
        <p:txBody>
          <a:bodyPr wrap="square" lIns="0" tIns="0" rIns="0" bIns="0" rtlCol="0" anchor="t"/>
          <a:lstStyle/>
          <a:p>
            <a:pPr algn="just"/>
            <a:r>
              <a:rPr lang="en-US" sz="2611" dirty="0">
                <a:latin typeface="Merriweather" panose="00000500000000000000" pitchFamily="2" charset="0"/>
                <a:ea typeface="Arial" pitchFamily="34" charset="-122"/>
                <a:cs typeface="Arial" pitchFamily="34" charset="-120"/>
              </a:rPr>
              <a:t>La ausencia de protocolos para transformar diagnósticos cualitativos en modelos analíticos robustos y la marginación de actores locales en los sistemas de validación contribuyen a la ineficacia del sistema.</a:t>
            </a:r>
            <a:endParaRPr lang="en-US" sz="2611" dirty="0">
              <a:latin typeface="Merriweather" panose="00000500000000000000" pitchFamily="2" charset="0"/>
            </a:endParaRPr>
          </a:p>
        </p:txBody>
      </p:sp>
      <p:sp>
        <p:nvSpPr>
          <p:cNvPr id="30" name="Text 10"/>
          <p:cNvSpPr/>
          <p:nvPr/>
        </p:nvSpPr>
        <p:spPr>
          <a:xfrm>
            <a:off x="1647281" y="7861002"/>
            <a:ext cx="12185670" cy="875800"/>
          </a:xfrm>
          <a:prstGeom prst="rect">
            <a:avLst/>
          </a:prstGeom>
          <a:noFill/>
          <a:ln/>
        </p:spPr>
        <p:txBody>
          <a:bodyPr wrap="square" lIns="0" tIns="0" rIns="0" bIns="0" rtlCol="0" anchor="t"/>
          <a:lstStyle/>
          <a:p>
            <a:pPr algn="just"/>
            <a:r>
              <a:rPr lang="es-VE" sz="1600" b="1" dirty="0">
                <a:latin typeface="Merriweather" panose="00000500000000000000" pitchFamily="2" charset="0"/>
                <a:ea typeface="Arial" pitchFamily="34" charset="-122"/>
                <a:cs typeface="Arial" pitchFamily="34" charset="-120"/>
              </a:rPr>
              <a:t>Consecuencia:</a:t>
            </a:r>
            <a:r>
              <a:rPr lang="es-VE" sz="1600" dirty="0">
                <a:latin typeface="Merriweather" panose="00000500000000000000" pitchFamily="2" charset="0"/>
                <a:ea typeface="Arial" pitchFamily="34" charset="-122"/>
                <a:cs typeface="Arial" pitchFamily="34" charset="-120"/>
              </a:rPr>
              <a:t> Estas causas subyacentes han creado una brecha metodológica que obstaculiza la evaluación cuantitativa de las Agendas Concretas de Acción, generando la "Gran Desconexión" entre la planificación y la ejecución.</a:t>
            </a:r>
            <a:endParaRPr lang="es-VE" sz="1600" dirty="0">
              <a:latin typeface="Merriweather" panose="00000500000000000000" pitchFamily="2" charset="0"/>
            </a:endParaRPr>
          </a:p>
        </p:txBody>
      </p:sp>
      <p:pic>
        <p:nvPicPr>
          <p:cNvPr id="33" name="Image 22" descr="preencoded.png">
            <a:extLst>
              <a:ext uri="{FF2B5EF4-FFF2-40B4-BE49-F238E27FC236}">
                <a16:creationId xmlns:a16="http://schemas.microsoft.com/office/drawing/2014/main" id="{C9E25BB5-A91C-8E6E-230E-C0EB0A9FA2A6}"/>
              </a:ext>
            </a:extLst>
          </p:cNvPr>
          <p:cNvPicPr>
            <a:picLocks noChangeAspect="1"/>
          </p:cNvPicPr>
          <p:nvPr/>
        </p:nvPicPr>
        <p:blipFill>
          <a:blip r:embed="rId16"/>
          <a:stretch>
            <a:fillRect/>
          </a:stretch>
        </p:blipFill>
        <p:spPr>
          <a:xfrm>
            <a:off x="-1" y="-7544"/>
            <a:ext cx="14400213" cy="90001"/>
          </a:xfrm>
          <a:prstGeom prst="rect">
            <a:avLst/>
          </a:prstGeom>
        </p:spPr>
      </p:pic>
      <p:pic>
        <p:nvPicPr>
          <p:cNvPr id="34" name="Image 10" descr="preencoded.png">
            <a:extLst>
              <a:ext uri="{FF2B5EF4-FFF2-40B4-BE49-F238E27FC236}">
                <a16:creationId xmlns:a16="http://schemas.microsoft.com/office/drawing/2014/main" id="{40CCCE78-CD62-0D64-D9EC-07FC0C678D08}"/>
              </a:ext>
            </a:extLst>
          </p:cNvPr>
          <p:cNvPicPr>
            <a:picLocks noChangeAspect="1"/>
          </p:cNvPicPr>
          <p:nvPr/>
        </p:nvPicPr>
        <p:blipFill>
          <a:blip r:embed="rId17"/>
          <a:stretch>
            <a:fillRect/>
          </a:stretch>
        </p:blipFill>
        <p:spPr>
          <a:xfrm>
            <a:off x="29198" y="8610002"/>
            <a:ext cx="255122" cy="255122"/>
          </a:xfrm>
          <a:prstGeom prst="rect">
            <a:avLst/>
          </a:prstGeom>
        </p:spPr>
      </p:pic>
      <p:pic>
        <p:nvPicPr>
          <p:cNvPr id="35" name="Image 12" descr="preencoded.png">
            <a:extLst>
              <a:ext uri="{FF2B5EF4-FFF2-40B4-BE49-F238E27FC236}">
                <a16:creationId xmlns:a16="http://schemas.microsoft.com/office/drawing/2014/main" id="{DC192E90-73A0-7145-AFEC-7F60C0AEE708}"/>
              </a:ext>
            </a:extLst>
          </p:cNvPr>
          <p:cNvPicPr>
            <a:picLocks noChangeAspect="1"/>
          </p:cNvPicPr>
          <p:nvPr/>
        </p:nvPicPr>
        <p:blipFill>
          <a:blip r:embed="rId18"/>
          <a:stretch>
            <a:fillRect/>
          </a:stretch>
        </p:blipFill>
        <p:spPr>
          <a:xfrm>
            <a:off x="5507" y="8916847"/>
            <a:ext cx="14400213" cy="90001"/>
          </a:xfrm>
          <a:prstGeom prst="rect">
            <a:avLst/>
          </a:prstGeom>
        </p:spPr>
      </p:pic>
      <p:sp>
        <p:nvSpPr>
          <p:cNvPr id="36" name="Text 4">
            <a:extLst>
              <a:ext uri="{FF2B5EF4-FFF2-40B4-BE49-F238E27FC236}">
                <a16:creationId xmlns:a16="http://schemas.microsoft.com/office/drawing/2014/main" id="{357AB133-49D3-B5B5-DAD4-1E8E25291FED}"/>
              </a:ext>
            </a:extLst>
          </p:cNvPr>
          <p:cNvSpPr/>
          <p:nvPr/>
        </p:nvSpPr>
        <p:spPr>
          <a:xfrm>
            <a:off x="156759" y="8706788"/>
            <a:ext cx="8886946" cy="151085"/>
          </a:xfrm>
          <a:prstGeom prst="rect">
            <a:avLst/>
          </a:prstGeom>
          <a:noFill/>
          <a:ln/>
        </p:spPr>
        <p:txBody>
          <a:bodyPr wrap="square" lIns="0" tIns="0" rIns="0" bIns="0" rtlCol="0" anchor="t"/>
          <a:lstStyle/>
          <a:p>
            <a:pPr algn="ctr">
              <a:lnSpc>
                <a:spcPts val="1772"/>
              </a:lnSpc>
            </a:pPr>
            <a:r>
              <a:rPr lang="en-US" sz="1890" dirty="0">
                <a:latin typeface="Montserrat" pitchFamily="34" charset="0"/>
                <a:ea typeface="Montserrat" pitchFamily="34" charset="-122"/>
                <a:cs typeface="Montserrat" pitchFamily="34" charset="-120"/>
              </a:rPr>
              <a:t>Universidad de Los Andes, Facultad de Ciencias Económicas y Sociales</a:t>
            </a:r>
            <a:endParaRPr lang="en-US" sz="1890" dirty="0"/>
          </a:p>
        </p:txBody>
      </p:sp>
      <p:pic>
        <p:nvPicPr>
          <p:cNvPr id="37" name="Image 4" descr="preencoded.png">
            <a:extLst>
              <a:ext uri="{FF2B5EF4-FFF2-40B4-BE49-F238E27FC236}">
                <a16:creationId xmlns:a16="http://schemas.microsoft.com/office/drawing/2014/main" id="{AD0B40D2-C0CA-7FBE-B748-CE4926D8DBAB}"/>
              </a:ext>
            </a:extLst>
          </p:cNvPr>
          <p:cNvPicPr>
            <a:picLocks noChangeAspect="1"/>
          </p:cNvPicPr>
          <p:nvPr/>
        </p:nvPicPr>
        <p:blipFill>
          <a:blip r:embed="rId19"/>
          <a:stretch>
            <a:fillRect/>
          </a:stretch>
        </p:blipFill>
        <p:spPr>
          <a:xfrm>
            <a:off x="1046063" y="1014905"/>
            <a:ext cx="1275609" cy="63780"/>
          </a:xfrm>
          <a:prstGeom prst="rect">
            <a:avLst/>
          </a:prstGeom>
        </p:spPr>
      </p:pic>
      <p:pic>
        <p:nvPicPr>
          <p:cNvPr id="44" name="Image 2" descr="preencoded.png">
            <a:extLst>
              <a:ext uri="{FF2B5EF4-FFF2-40B4-BE49-F238E27FC236}">
                <a16:creationId xmlns:a16="http://schemas.microsoft.com/office/drawing/2014/main" id="{850A4CEA-7C37-5A90-5171-60212161B4AD}"/>
              </a:ext>
            </a:extLst>
          </p:cNvPr>
          <p:cNvPicPr>
            <a:picLocks noChangeAspect="1"/>
          </p:cNvPicPr>
          <p:nvPr/>
        </p:nvPicPr>
        <p:blipFill>
          <a:blip r:embed="rId20"/>
          <a:stretch>
            <a:fillRect/>
          </a:stretch>
        </p:blipFill>
        <p:spPr>
          <a:xfrm>
            <a:off x="-1" y="82456"/>
            <a:ext cx="3757555" cy="26325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4777692" y="1231923"/>
            <a:ext cx="2403029" cy="100127"/>
          </a:xfrm>
          <a:prstGeom prst="rect">
            <a:avLst/>
          </a:prstGeom>
        </p:spPr>
      </p:pic>
      <p:pic>
        <p:nvPicPr>
          <p:cNvPr id="5" name="Image 3" descr="preencoded.png"/>
          <p:cNvPicPr>
            <a:picLocks noChangeAspect="1"/>
          </p:cNvPicPr>
          <p:nvPr/>
        </p:nvPicPr>
        <p:blipFill>
          <a:blip r:embed="rId4"/>
          <a:stretch>
            <a:fillRect/>
          </a:stretch>
        </p:blipFill>
        <p:spPr>
          <a:xfrm>
            <a:off x="1386406" y="1687484"/>
            <a:ext cx="12153662" cy="675010"/>
          </a:xfrm>
          <a:prstGeom prst="rect">
            <a:avLst/>
          </a:prstGeom>
        </p:spPr>
      </p:pic>
      <p:pic>
        <p:nvPicPr>
          <p:cNvPr id="6" name="Image 4" descr="preencoded.png"/>
          <p:cNvPicPr>
            <a:picLocks noChangeAspect="1"/>
          </p:cNvPicPr>
          <p:nvPr/>
        </p:nvPicPr>
        <p:blipFill>
          <a:blip r:embed="rId5"/>
          <a:stretch>
            <a:fillRect/>
          </a:stretch>
        </p:blipFill>
        <p:spPr>
          <a:xfrm>
            <a:off x="1695854" y="1762293"/>
            <a:ext cx="398099" cy="398099"/>
          </a:xfrm>
          <a:prstGeom prst="rect">
            <a:avLst/>
          </a:prstGeom>
        </p:spPr>
      </p:pic>
      <p:pic>
        <p:nvPicPr>
          <p:cNvPr id="7" name="Image 5" descr="preencoded.png"/>
          <p:cNvPicPr>
            <a:picLocks noChangeAspect="1"/>
          </p:cNvPicPr>
          <p:nvPr/>
        </p:nvPicPr>
        <p:blipFill>
          <a:blip r:embed="rId6"/>
          <a:stretch>
            <a:fillRect/>
          </a:stretch>
        </p:blipFill>
        <p:spPr>
          <a:xfrm>
            <a:off x="4607373" y="2813062"/>
            <a:ext cx="5463617" cy="1068766"/>
          </a:xfrm>
          <a:prstGeom prst="rect">
            <a:avLst/>
          </a:prstGeom>
        </p:spPr>
      </p:pic>
      <p:pic>
        <p:nvPicPr>
          <p:cNvPr id="8" name="Image 6" descr="preencoded.png"/>
          <p:cNvPicPr>
            <a:picLocks noChangeAspect="1"/>
          </p:cNvPicPr>
          <p:nvPr/>
        </p:nvPicPr>
        <p:blipFill>
          <a:blip r:embed="rId7"/>
          <a:stretch>
            <a:fillRect/>
          </a:stretch>
        </p:blipFill>
        <p:spPr>
          <a:xfrm>
            <a:off x="84368" y="3853880"/>
            <a:ext cx="3372644" cy="2882382"/>
          </a:xfrm>
          <a:prstGeom prst="rect">
            <a:avLst/>
          </a:prstGeom>
        </p:spPr>
      </p:pic>
      <p:pic>
        <p:nvPicPr>
          <p:cNvPr id="9" name="Image 7" descr="preencoded.png"/>
          <p:cNvPicPr>
            <a:picLocks noChangeAspect="1"/>
          </p:cNvPicPr>
          <p:nvPr/>
        </p:nvPicPr>
        <p:blipFill>
          <a:blip r:embed="rId8"/>
          <a:stretch>
            <a:fillRect/>
          </a:stretch>
        </p:blipFill>
        <p:spPr>
          <a:xfrm>
            <a:off x="1270232" y="2727965"/>
            <a:ext cx="675010" cy="675010"/>
          </a:xfrm>
          <a:prstGeom prst="rect">
            <a:avLst/>
          </a:prstGeom>
        </p:spPr>
      </p:pic>
      <p:pic>
        <p:nvPicPr>
          <p:cNvPr id="10" name="Image 8" descr="preencoded.png"/>
          <p:cNvPicPr>
            <a:picLocks noChangeAspect="1"/>
          </p:cNvPicPr>
          <p:nvPr/>
        </p:nvPicPr>
        <p:blipFill>
          <a:blip r:embed="rId9"/>
          <a:stretch>
            <a:fillRect/>
          </a:stretch>
        </p:blipFill>
        <p:spPr>
          <a:xfrm>
            <a:off x="1472735" y="2885469"/>
            <a:ext cx="270004" cy="360006"/>
          </a:xfrm>
          <a:prstGeom prst="rect">
            <a:avLst/>
          </a:prstGeom>
        </p:spPr>
      </p:pic>
      <p:pic>
        <p:nvPicPr>
          <p:cNvPr id="11" name="Image 9" descr="preencoded.png"/>
          <p:cNvPicPr>
            <a:picLocks noChangeAspect="1"/>
          </p:cNvPicPr>
          <p:nvPr/>
        </p:nvPicPr>
        <p:blipFill>
          <a:blip r:embed="rId10"/>
          <a:stretch>
            <a:fillRect/>
          </a:stretch>
        </p:blipFill>
        <p:spPr>
          <a:xfrm>
            <a:off x="3552837" y="5131279"/>
            <a:ext cx="3105046" cy="2733790"/>
          </a:xfrm>
          <a:prstGeom prst="rect">
            <a:avLst/>
          </a:prstGeom>
        </p:spPr>
      </p:pic>
      <p:pic>
        <p:nvPicPr>
          <p:cNvPr id="12" name="Image 10" descr="preencoded.png"/>
          <p:cNvPicPr>
            <a:picLocks noChangeAspect="1"/>
          </p:cNvPicPr>
          <p:nvPr/>
        </p:nvPicPr>
        <p:blipFill>
          <a:blip r:embed="rId11"/>
          <a:stretch>
            <a:fillRect/>
          </a:stretch>
        </p:blipFill>
        <p:spPr>
          <a:xfrm>
            <a:off x="4616301" y="5077081"/>
            <a:ext cx="675010" cy="675010"/>
          </a:xfrm>
          <a:prstGeom prst="rect">
            <a:avLst/>
          </a:prstGeom>
        </p:spPr>
      </p:pic>
      <p:pic>
        <p:nvPicPr>
          <p:cNvPr id="13" name="Image 11" descr="preencoded.png"/>
          <p:cNvPicPr>
            <a:picLocks noChangeAspect="1"/>
          </p:cNvPicPr>
          <p:nvPr/>
        </p:nvPicPr>
        <p:blipFill>
          <a:blip r:embed="rId12"/>
          <a:stretch>
            <a:fillRect/>
          </a:stretch>
        </p:blipFill>
        <p:spPr>
          <a:xfrm>
            <a:off x="4818804" y="5234585"/>
            <a:ext cx="270004" cy="360006"/>
          </a:xfrm>
          <a:prstGeom prst="rect">
            <a:avLst/>
          </a:prstGeom>
        </p:spPr>
      </p:pic>
      <p:pic>
        <p:nvPicPr>
          <p:cNvPr id="14" name="Image 12" descr="preencoded.png"/>
          <p:cNvPicPr>
            <a:picLocks noChangeAspect="1"/>
          </p:cNvPicPr>
          <p:nvPr/>
        </p:nvPicPr>
        <p:blipFill>
          <a:blip r:embed="rId10"/>
          <a:stretch>
            <a:fillRect/>
          </a:stretch>
        </p:blipFill>
        <p:spPr>
          <a:xfrm>
            <a:off x="7332453" y="4828248"/>
            <a:ext cx="3993933" cy="3082437"/>
          </a:xfrm>
          <a:prstGeom prst="rect">
            <a:avLst/>
          </a:prstGeom>
        </p:spPr>
      </p:pic>
      <p:pic>
        <p:nvPicPr>
          <p:cNvPr id="15" name="Image 13" descr="preencoded.png"/>
          <p:cNvPicPr>
            <a:picLocks noChangeAspect="1"/>
          </p:cNvPicPr>
          <p:nvPr/>
        </p:nvPicPr>
        <p:blipFill>
          <a:blip r:embed="rId13"/>
          <a:stretch>
            <a:fillRect/>
          </a:stretch>
        </p:blipFill>
        <p:spPr>
          <a:xfrm>
            <a:off x="8863640" y="4900148"/>
            <a:ext cx="727519" cy="727519"/>
          </a:xfrm>
          <a:prstGeom prst="rect">
            <a:avLst/>
          </a:prstGeom>
        </p:spPr>
      </p:pic>
      <p:pic>
        <p:nvPicPr>
          <p:cNvPr id="16" name="Image 14" descr="preencoded.png"/>
          <p:cNvPicPr>
            <a:picLocks noChangeAspect="1"/>
          </p:cNvPicPr>
          <p:nvPr/>
        </p:nvPicPr>
        <p:blipFill>
          <a:blip r:embed="rId14"/>
          <a:stretch>
            <a:fillRect/>
          </a:stretch>
        </p:blipFill>
        <p:spPr>
          <a:xfrm>
            <a:off x="9032389" y="5057650"/>
            <a:ext cx="363759" cy="388011"/>
          </a:xfrm>
          <a:prstGeom prst="rect">
            <a:avLst/>
          </a:prstGeom>
        </p:spPr>
      </p:pic>
      <p:pic>
        <p:nvPicPr>
          <p:cNvPr id="17" name="Image 15" descr="preencoded.png"/>
          <p:cNvPicPr>
            <a:picLocks noChangeAspect="1"/>
          </p:cNvPicPr>
          <p:nvPr/>
        </p:nvPicPr>
        <p:blipFill>
          <a:blip r:embed="rId10"/>
          <a:stretch>
            <a:fillRect/>
          </a:stretch>
        </p:blipFill>
        <p:spPr>
          <a:xfrm>
            <a:off x="11212969" y="3716591"/>
            <a:ext cx="3105046" cy="4050115"/>
          </a:xfrm>
          <a:prstGeom prst="rect">
            <a:avLst/>
          </a:prstGeom>
        </p:spPr>
      </p:pic>
      <p:pic>
        <p:nvPicPr>
          <p:cNvPr id="18" name="Image 16" descr="preencoded.png"/>
          <p:cNvPicPr>
            <a:picLocks noChangeAspect="1"/>
          </p:cNvPicPr>
          <p:nvPr/>
        </p:nvPicPr>
        <p:blipFill>
          <a:blip r:embed="rId15"/>
          <a:stretch>
            <a:fillRect/>
          </a:stretch>
        </p:blipFill>
        <p:spPr>
          <a:xfrm>
            <a:off x="12595247" y="2730461"/>
            <a:ext cx="675010" cy="675010"/>
          </a:xfrm>
          <a:prstGeom prst="rect">
            <a:avLst/>
          </a:prstGeom>
        </p:spPr>
      </p:pic>
      <p:pic>
        <p:nvPicPr>
          <p:cNvPr id="19" name="Image 17" descr="preencoded.png"/>
          <p:cNvPicPr>
            <a:picLocks noChangeAspect="1"/>
          </p:cNvPicPr>
          <p:nvPr/>
        </p:nvPicPr>
        <p:blipFill>
          <a:blip r:embed="rId16"/>
          <a:stretch>
            <a:fillRect/>
          </a:stretch>
        </p:blipFill>
        <p:spPr>
          <a:xfrm>
            <a:off x="12763999" y="2887966"/>
            <a:ext cx="337505" cy="360006"/>
          </a:xfrm>
          <a:prstGeom prst="rect">
            <a:avLst/>
          </a:prstGeom>
        </p:spPr>
      </p:pic>
      <p:pic>
        <p:nvPicPr>
          <p:cNvPr id="20" name="Image 18" descr="preencoded.png"/>
          <p:cNvPicPr>
            <a:picLocks noChangeAspect="1"/>
          </p:cNvPicPr>
          <p:nvPr/>
        </p:nvPicPr>
        <p:blipFill>
          <a:blip r:embed="rId17"/>
          <a:stretch>
            <a:fillRect/>
          </a:stretch>
        </p:blipFill>
        <p:spPr>
          <a:xfrm>
            <a:off x="5178197" y="8104867"/>
            <a:ext cx="9269918" cy="847573"/>
          </a:xfrm>
          <a:prstGeom prst="rect">
            <a:avLst/>
          </a:prstGeom>
        </p:spPr>
      </p:pic>
      <p:pic>
        <p:nvPicPr>
          <p:cNvPr id="21" name="Image 19" descr="preencoded.png"/>
          <p:cNvPicPr>
            <a:picLocks noChangeAspect="1"/>
          </p:cNvPicPr>
          <p:nvPr/>
        </p:nvPicPr>
        <p:blipFill>
          <a:blip r:embed="rId18"/>
          <a:stretch>
            <a:fillRect/>
          </a:stretch>
        </p:blipFill>
        <p:spPr>
          <a:xfrm>
            <a:off x="5371959" y="8130186"/>
            <a:ext cx="181774" cy="282890"/>
          </a:xfrm>
          <a:prstGeom prst="rect">
            <a:avLst/>
          </a:prstGeom>
        </p:spPr>
      </p:pic>
      <p:sp>
        <p:nvSpPr>
          <p:cNvPr id="22" name="Text 0"/>
          <p:cNvSpPr/>
          <p:nvPr/>
        </p:nvSpPr>
        <p:spPr>
          <a:xfrm>
            <a:off x="549545" y="551829"/>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a:t>
            </a:r>
            <a:endParaRPr lang="en-US" sz="1594" dirty="0">
              <a:latin typeface="Montserrat" panose="00000500000000000000" pitchFamily="2" charset="0"/>
            </a:endParaRPr>
          </a:p>
        </p:txBody>
      </p:sp>
      <p:sp>
        <p:nvSpPr>
          <p:cNvPr id="23" name="Text 1"/>
          <p:cNvSpPr/>
          <p:nvPr/>
        </p:nvSpPr>
        <p:spPr>
          <a:xfrm>
            <a:off x="1746026" y="805484"/>
            <a:ext cx="12045719" cy="450007"/>
          </a:xfrm>
          <a:prstGeom prst="rect">
            <a:avLst/>
          </a:prstGeom>
          <a:noFill/>
          <a:ln/>
        </p:spPr>
        <p:txBody>
          <a:bodyPr wrap="square" lIns="0" tIns="0" rIns="0" bIns="0" rtlCol="0" anchor="t"/>
          <a:lstStyle/>
          <a:p>
            <a:pPr algn="ctr">
              <a:lnSpc>
                <a:spcPts val="3543"/>
              </a:lnSpc>
            </a:pPr>
            <a:r>
              <a:rPr lang="en-US" sz="3189" b="1" dirty="0">
                <a:latin typeface="Montserrat" panose="00000500000000000000" pitchFamily="2" charset="0"/>
                <a:ea typeface="EB Garamond" pitchFamily="34" charset="-122"/>
                <a:cs typeface="EB Garamond" pitchFamily="34" charset="-120"/>
              </a:rPr>
              <a:t>Pronóstico: Riesgos Futuros</a:t>
            </a:r>
            <a:endParaRPr lang="en-US" sz="3189" dirty="0">
              <a:latin typeface="Montserrat" panose="00000500000000000000" pitchFamily="2" charset="0"/>
            </a:endParaRPr>
          </a:p>
        </p:txBody>
      </p:sp>
      <p:sp>
        <p:nvSpPr>
          <p:cNvPr id="24" name="Text 2"/>
          <p:cNvSpPr/>
          <p:nvPr/>
        </p:nvSpPr>
        <p:spPr>
          <a:xfrm>
            <a:off x="2283199" y="1746577"/>
            <a:ext cx="12153662" cy="562508"/>
          </a:xfrm>
          <a:prstGeom prst="rect">
            <a:avLst/>
          </a:prstGeom>
          <a:noFill/>
          <a:ln/>
        </p:spPr>
        <p:txBody>
          <a:bodyPr wrap="square" lIns="0" tIns="0" rIns="0" bIns="0" rtlCol="0" anchor="t"/>
          <a:lstStyle/>
          <a:p>
            <a:pPr>
              <a:lnSpc>
                <a:spcPts val="2480"/>
              </a:lnSpc>
            </a:pPr>
            <a:r>
              <a:rPr lang="en-US" sz="2611" dirty="0">
                <a:latin typeface="Merriweather" panose="00000500000000000000" pitchFamily="2" charset="0"/>
                <a:ea typeface="Arial" pitchFamily="34" charset="-122"/>
                <a:cs typeface="Arial" pitchFamily="34" charset="-120"/>
              </a:rPr>
              <a:t>Si persiste la situación actual, el futuro de las Agendas Concretas de Acción (ACA) se verá seriamente comprometido.</a:t>
            </a:r>
            <a:endParaRPr lang="en-US" sz="2611" dirty="0">
              <a:latin typeface="Merriweather" panose="00000500000000000000" pitchFamily="2" charset="0"/>
            </a:endParaRPr>
          </a:p>
        </p:txBody>
      </p:sp>
      <p:sp>
        <p:nvSpPr>
          <p:cNvPr id="25" name="Text 3"/>
          <p:cNvSpPr/>
          <p:nvPr/>
        </p:nvSpPr>
        <p:spPr>
          <a:xfrm>
            <a:off x="5672265" y="2944423"/>
            <a:ext cx="3346586" cy="307391"/>
          </a:xfrm>
          <a:prstGeom prst="rect">
            <a:avLst/>
          </a:prstGeom>
          <a:noFill/>
          <a:ln/>
        </p:spPr>
        <p:txBody>
          <a:bodyPr wrap="square" lIns="0" tIns="0" rIns="0" bIns="0" rtlCol="0" anchor="t"/>
          <a:lstStyle/>
          <a:p>
            <a:pPr algn="ctr">
              <a:lnSpc>
                <a:spcPts val="2126"/>
              </a:lnSpc>
            </a:pPr>
            <a:r>
              <a:rPr lang="en-US" sz="2362" b="1" dirty="0">
                <a:solidFill>
                  <a:srgbClr val="FFFFFF"/>
                </a:solidFill>
                <a:latin typeface="Merriweather" panose="00000500000000000000" pitchFamily="2" charset="0"/>
                <a:ea typeface="Arial" pitchFamily="34" charset="-122"/>
                <a:cs typeface="Arial" pitchFamily="34" charset="-120"/>
              </a:rPr>
              <a:t>Situación Actual</a:t>
            </a:r>
            <a:endParaRPr lang="en-US" sz="2362" dirty="0">
              <a:latin typeface="Merriweather" panose="00000500000000000000" pitchFamily="2" charset="0"/>
            </a:endParaRPr>
          </a:p>
        </p:txBody>
      </p:sp>
      <p:sp>
        <p:nvSpPr>
          <p:cNvPr id="26" name="Text 4"/>
          <p:cNvSpPr/>
          <p:nvPr/>
        </p:nvSpPr>
        <p:spPr>
          <a:xfrm>
            <a:off x="4600104" y="3268555"/>
            <a:ext cx="5463617" cy="416257"/>
          </a:xfrm>
          <a:prstGeom prst="rect">
            <a:avLst/>
          </a:prstGeom>
          <a:noFill/>
          <a:ln/>
        </p:spPr>
        <p:txBody>
          <a:bodyPr wrap="square" lIns="0" tIns="0" rIns="0" bIns="0" rtlCol="0" anchor="t"/>
          <a:lstStyle/>
          <a:p>
            <a:pPr algn="ctr">
              <a:lnSpc>
                <a:spcPts val="1772"/>
              </a:lnSpc>
            </a:pPr>
            <a:r>
              <a:rPr lang="en-US" sz="1890" dirty="0">
                <a:solidFill>
                  <a:srgbClr val="FFFFFF"/>
                </a:solidFill>
                <a:latin typeface="Merriweather" panose="00000500000000000000" pitchFamily="2" charset="0"/>
                <a:ea typeface="Arial" pitchFamily="34" charset="-122"/>
                <a:cs typeface="Arial" pitchFamily="34" charset="-120"/>
              </a:rPr>
              <a:t>Opacidad documental y falta de evaluación cuantitativa</a:t>
            </a:r>
            <a:endParaRPr lang="en-US" sz="1890" dirty="0">
              <a:latin typeface="Merriweather" panose="00000500000000000000" pitchFamily="2" charset="0"/>
            </a:endParaRPr>
          </a:p>
        </p:txBody>
      </p:sp>
      <p:sp>
        <p:nvSpPr>
          <p:cNvPr id="27" name="Text 5"/>
          <p:cNvSpPr/>
          <p:nvPr/>
        </p:nvSpPr>
        <p:spPr>
          <a:xfrm>
            <a:off x="-25241" y="3544951"/>
            <a:ext cx="3620326" cy="375013"/>
          </a:xfrm>
          <a:prstGeom prst="rect">
            <a:avLst/>
          </a:prstGeom>
          <a:noFill/>
          <a:ln/>
        </p:spPr>
        <p:txBody>
          <a:bodyPr wrap="square" lIns="0" tIns="0" rIns="0" bIns="0" rtlCol="0" anchor="t"/>
          <a:lstStyle/>
          <a:p>
            <a:pPr algn="ctr">
              <a:lnSpc>
                <a:spcPts val="2480"/>
              </a:lnSpc>
            </a:pPr>
            <a:r>
              <a:rPr lang="en-US" sz="2000" b="1" dirty="0">
                <a:solidFill>
                  <a:srgbClr val="188E43"/>
                </a:solidFill>
                <a:latin typeface="Montserrat" panose="00000500000000000000" pitchFamily="2" charset="0"/>
                <a:ea typeface="EB Garamond" pitchFamily="34" charset="-122"/>
                <a:cs typeface="EB Garamond" pitchFamily="34" charset="-120"/>
              </a:rPr>
              <a:t>Asignación Ineficiente</a:t>
            </a:r>
            <a:endParaRPr lang="en-US" sz="2000" dirty="0">
              <a:solidFill>
                <a:srgbClr val="188E43"/>
              </a:solidFill>
              <a:latin typeface="Montserrat" panose="00000500000000000000" pitchFamily="2" charset="0"/>
            </a:endParaRPr>
          </a:p>
        </p:txBody>
      </p:sp>
      <p:sp>
        <p:nvSpPr>
          <p:cNvPr id="28" name="Text 6"/>
          <p:cNvSpPr/>
          <p:nvPr/>
        </p:nvSpPr>
        <p:spPr>
          <a:xfrm>
            <a:off x="149664" y="3881828"/>
            <a:ext cx="3180516" cy="2013605"/>
          </a:xfrm>
          <a:prstGeom prst="rect">
            <a:avLst/>
          </a:prstGeom>
          <a:noFill/>
          <a:ln/>
        </p:spPr>
        <p:txBody>
          <a:bodyPr wrap="square" lIns="0" tIns="0" rIns="0" bIns="0" rtlCol="0" anchor="t"/>
          <a:lstStyle/>
          <a:p>
            <a:pPr algn="ctr"/>
            <a:r>
              <a:rPr lang="en-US" sz="2000" dirty="0">
                <a:solidFill>
                  <a:srgbClr val="212529"/>
                </a:solidFill>
                <a:latin typeface="Merriweather" panose="00000500000000000000" pitchFamily="2" charset="0"/>
                <a:ea typeface="Arial" pitchFamily="34" charset="-122"/>
                <a:cs typeface="Arial" pitchFamily="34" charset="-120"/>
              </a:rPr>
              <a:t>Sin indicadores de seguimiento, será imposible justificar la asignación de recursos públicos a proyectos con dudosa efectividad.</a:t>
            </a:r>
            <a:endParaRPr lang="en-US" sz="2000" dirty="0">
              <a:latin typeface="Merriweather" panose="00000500000000000000" pitchFamily="2" charset="0"/>
            </a:endParaRPr>
          </a:p>
        </p:txBody>
      </p:sp>
      <p:sp>
        <p:nvSpPr>
          <p:cNvPr id="29" name="Text 7"/>
          <p:cNvSpPr/>
          <p:nvPr/>
        </p:nvSpPr>
        <p:spPr>
          <a:xfrm>
            <a:off x="3285629" y="5749196"/>
            <a:ext cx="3294049" cy="315005"/>
          </a:xfrm>
          <a:prstGeom prst="rect">
            <a:avLst/>
          </a:prstGeom>
          <a:noFill/>
          <a:ln/>
        </p:spPr>
        <p:txBody>
          <a:bodyPr wrap="square" lIns="0" tIns="0" rIns="0" bIns="0" rtlCol="0" anchor="t"/>
          <a:lstStyle/>
          <a:p>
            <a:pPr algn="ctr">
              <a:lnSpc>
                <a:spcPts val="2480"/>
              </a:lnSpc>
            </a:pPr>
            <a:r>
              <a:rPr lang="en-US" sz="2000" b="1" dirty="0">
                <a:solidFill>
                  <a:srgbClr val="188E43"/>
                </a:solidFill>
                <a:latin typeface="Montserrat" panose="00000500000000000000" pitchFamily="2" charset="0"/>
                <a:ea typeface="EB Garamond" pitchFamily="34" charset="-122"/>
                <a:cs typeface="EB Garamond" pitchFamily="34" charset="-120"/>
              </a:rPr>
              <a:t>Déficits Persistentes</a:t>
            </a:r>
            <a:endParaRPr lang="en-US" sz="2000" dirty="0">
              <a:solidFill>
                <a:srgbClr val="188E43"/>
              </a:solidFill>
              <a:latin typeface="Montserrat" panose="00000500000000000000" pitchFamily="2" charset="0"/>
            </a:endParaRPr>
          </a:p>
        </p:txBody>
      </p:sp>
      <p:sp>
        <p:nvSpPr>
          <p:cNvPr id="30" name="Text 8"/>
          <p:cNvSpPr/>
          <p:nvPr/>
        </p:nvSpPr>
        <p:spPr>
          <a:xfrm>
            <a:off x="3421514" y="6067645"/>
            <a:ext cx="3452627" cy="1601539"/>
          </a:xfrm>
          <a:prstGeom prst="rect">
            <a:avLst/>
          </a:prstGeom>
          <a:noFill/>
          <a:ln/>
        </p:spPr>
        <p:txBody>
          <a:bodyPr wrap="square" lIns="0" tIns="0" rIns="0" bIns="0" rtlCol="0" anchor="t"/>
          <a:lstStyle/>
          <a:p>
            <a:pPr algn="ctr"/>
            <a:r>
              <a:rPr lang="en-US" sz="2000" dirty="0">
                <a:solidFill>
                  <a:srgbClr val="212529"/>
                </a:solidFill>
                <a:latin typeface="Merriweather" panose="00000500000000000000" pitchFamily="2" charset="0"/>
                <a:ea typeface="Arial" pitchFamily="34" charset="-122"/>
                <a:cs typeface="Arial" pitchFamily="34" charset="-120"/>
              </a:rPr>
              <a:t>El 64% de las comunas continúa enfrentando déficits en servicios básicos esenciales como agua y vialidad.</a:t>
            </a:r>
            <a:endParaRPr lang="en-US" sz="2000" dirty="0">
              <a:latin typeface="Merriweather" panose="00000500000000000000" pitchFamily="2" charset="0"/>
            </a:endParaRPr>
          </a:p>
        </p:txBody>
      </p:sp>
      <p:sp>
        <p:nvSpPr>
          <p:cNvPr id="31" name="Text 9"/>
          <p:cNvSpPr/>
          <p:nvPr/>
        </p:nvSpPr>
        <p:spPr>
          <a:xfrm>
            <a:off x="7621003" y="5609345"/>
            <a:ext cx="3550290" cy="305054"/>
          </a:xfrm>
          <a:prstGeom prst="rect">
            <a:avLst/>
          </a:prstGeom>
          <a:noFill/>
          <a:ln/>
        </p:spPr>
        <p:txBody>
          <a:bodyPr wrap="square" lIns="0" tIns="0" rIns="0" bIns="0" rtlCol="0" anchor="t"/>
          <a:lstStyle/>
          <a:p>
            <a:pPr algn="ctr">
              <a:lnSpc>
                <a:spcPts val="2480"/>
              </a:lnSpc>
            </a:pPr>
            <a:r>
              <a:rPr lang="en-US" sz="2000" b="1" dirty="0">
                <a:solidFill>
                  <a:srgbClr val="188E43"/>
                </a:solidFill>
                <a:latin typeface="Montserrat" panose="00000500000000000000" pitchFamily="2" charset="0"/>
                <a:ea typeface="EB Garamond" pitchFamily="34" charset="-122"/>
                <a:cs typeface="EB Garamond" pitchFamily="34" charset="-120"/>
              </a:rPr>
              <a:t>Erosión de Confianza</a:t>
            </a:r>
            <a:endParaRPr lang="en-US" sz="2000" dirty="0">
              <a:solidFill>
                <a:srgbClr val="188E43"/>
              </a:solidFill>
              <a:latin typeface="Montserrat" panose="00000500000000000000" pitchFamily="2" charset="0"/>
            </a:endParaRPr>
          </a:p>
        </p:txBody>
      </p:sp>
      <p:sp>
        <p:nvSpPr>
          <p:cNvPr id="32" name="Text 10"/>
          <p:cNvSpPr/>
          <p:nvPr/>
        </p:nvSpPr>
        <p:spPr>
          <a:xfrm>
            <a:off x="7480283" y="5927679"/>
            <a:ext cx="3846103" cy="1622780"/>
          </a:xfrm>
          <a:prstGeom prst="rect">
            <a:avLst/>
          </a:prstGeom>
          <a:noFill/>
          <a:ln/>
        </p:spPr>
        <p:txBody>
          <a:bodyPr wrap="square" lIns="0" tIns="0" rIns="0" bIns="0" rtlCol="0" anchor="t"/>
          <a:lstStyle/>
          <a:p>
            <a:pPr algn="ctr"/>
            <a:r>
              <a:rPr lang="es-VE" sz="2000" dirty="0">
                <a:solidFill>
                  <a:srgbClr val="212529"/>
                </a:solidFill>
                <a:latin typeface="Merriweather" panose="00000500000000000000" pitchFamily="2" charset="0"/>
                <a:ea typeface="Arial" pitchFamily="34" charset="-122"/>
                <a:cs typeface="Arial" pitchFamily="34" charset="-120"/>
              </a:rPr>
              <a:t>La ausencia de mecanismos transparentes para la rendición de cuentas generará desconfianza ciudadana y erosionará de la credibilidad.</a:t>
            </a:r>
            <a:endParaRPr lang="es-VE" sz="2000" dirty="0">
              <a:latin typeface="Merriweather" panose="00000500000000000000" pitchFamily="2" charset="0"/>
            </a:endParaRPr>
          </a:p>
        </p:txBody>
      </p:sp>
      <p:sp>
        <p:nvSpPr>
          <p:cNvPr id="33" name="Text 11"/>
          <p:cNvSpPr/>
          <p:nvPr/>
        </p:nvSpPr>
        <p:spPr>
          <a:xfrm>
            <a:off x="11633423" y="3527417"/>
            <a:ext cx="2655630" cy="361269"/>
          </a:xfrm>
          <a:prstGeom prst="rect">
            <a:avLst/>
          </a:prstGeom>
          <a:noFill/>
          <a:ln/>
        </p:spPr>
        <p:txBody>
          <a:bodyPr wrap="square" lIns="0" tIns="0" rIns="0" bIns="0" rtlCol="0" anchor="t"/>
          <a:lstStyle/>
          <a:p>
            <a:pPr algn="ctr">
              <a:lnSpc>
                <a:spcPts val="2480"/>
              </a:lnSpc>
            </a:pPr>
            <a:r>
              <a:rPr lang="en-US" sz="2000" b="1" dirty="0">
                <a:solidFill>
                  <a:srgbClr val="188E43"/>
                </a:solidFill>
                <a:latin typeface="Montserrat" panose="00000500000000000000" pitchFamily="2" charset="0"/>
                <a:ea typeface="EB Garamond" pitchFamily="34" charset="-122"/>
                <a:cs typeface="EB Garamond" pitchFamily="34" charset="-120"/>
              </a:rPr>
              <a:t>Deslegitimación</a:t>
            </a:r>
            <a:endParaRPr lang="en-US" sz="2000" dirty="0">
              <a:solidFill>
                <a:srgbClr val="188E43"/>
              </a:solidFill>
              <a:latin typeface="Montserrat" panose="00000500000000000000" pitchFamily="2" charset="0"/>
            </a:endParaRPr>
          </a:p>
        </p:txBody>
      </p:sp>
      <p:sp>
        <p:nvSpPr>
          <p:cNvPr id="34" name="Text 12"/>
          <p:cNvSpPr/>
          <p:nvPr/>
        </p:nvSpPr>
        <p:spPr>
          <a:xfrm>
            <a:off x="11326386" y="3862980"/>
            <a:ext cx="3126494" cy="2472466"/>
          </a:xfrm>
          <a:prstGeom prst="rect">
            <a:avLst/>
          </a:prstGeom>
          <a:noFill/>
          <a:ln/>
        </p:spPr>
        <p:txBody>
          <a:bodyPr wrap="square" lIns="0" tIns="0" rIns="0" bIns="0" rtlCol="0" anchor="t"/>
          <a:lstStyle/>
          <a:p>
            <a:pPr algn="ctr"/>
            <a:r>
              <a:rPr lang="en-US" sz="2000" dirty="0">
                <a:solidFill>
                  <a:srgbClr val="212529"/>
                </a:solidFill>
                <a:latin typeface="Merriweather" panose="00000500000000000000" pitchFamily="2" charset="0"/>
                <a:ea typeface="Arial" pitchFamily="34" charset="-122"/>
                <a:cs typeface="Arial" pitchFamily="34" charset="-120"/>
              </a:rPr>
              <a:t>Puede llevar a una deslegitimación de los procesos participativos si no se perciben resultados tangibles de la participación ciudadana.</a:t>
            </a:r>
            <a:endParaRPr lang="en-US" sz="2000" dirty="0">
              <a:latin typeface="Merriweather" panose="00000500000000000000" pitchFamily="2" charset="0"/>
            </a:endParaRPr>
          </a:p>
        </p:txBody>
      </p:sp>
      <p:sp>
        <p:nvSpPr>
          <p:cNvPr id="35" name="Text 13"/>
          <p:cNvSpPr/>
          <p:nvPr/>
        </p:nvSpPr>
        <p:spPr>
          <a:xfrm>
            <a:off x="5631697" y="8183766"/>
            <a:ext cx="8768516" cy="815772"/>
          </a:xfrm>
          <a:prstGeom prst="rect">
            <a:avLst/>
          </a:prstGeom>
          <a:noFill/>
          <a:ln/>
        </p:spPr>
        <p:txBody>
          <a:bodyPr wrap="square" lIns="0" tIns="0" rIns="0" bIns="0" rtlCol="0" anchor="t"/>
          <a:lstStyle/>
          <a:p>
            <a:pPr algn="ctr"/>
            <a:r>
              <a:rPr lang="en-US" sz="1417" b="1" dirty="0">
                <a:solidFill>
                  <a:srgbClr val="212529"/>
                </a:solidFill>
                <a:latin typeface="Merriweather" panose="00000500000000000000" pitchFamily="2" charset="0"/>
                <a:ea typeface="Arial" pitchFamily="34" charset="-122"/>
                <a:cs typeface="Arial" pitchFamily="34" charset="-120"/>
              </a:rPr>
              <a:t>Sin una evaluación cuantitativa rigurosa, los esfuerzos de planificación pública en Venezuela se verán frustrados, perpetuando la brecha entre las necesidades reales y las soluciones implementadas.</a:t>
            </a:r>
            <a:endParaRPr lang="en-US" sz="1417" dirty="0">
              <a:latin typeface="Merriweather" panose="00000500000000000000" pitchFamily="2" charset="0"/>
            </a:endParaRPr>
          </a:p>
        </p:txBody>
      </p:sp>
      <p:pic>
        <p:nvPicPr>
          <p:cNvPr id="43" name="Image 2" descr="preencoded.png">
            <a:extLst>
              <a:ext uri="{FF2B5EF4-FFF2-40B4-BE49-F238E27FC236}">
                <a16:creationId xmlns:a16="http://schemas.microsoft.com/office/drawing/2014/main" id="{08BB4ECE-4AC6-5924-3CEE-AD83937181EB}"/>
              </a:ext>
            </a:extLst>
          </p:cNvPr>
          <p:cNvPicPr>
            <a:picLocks noChangeAspect="1"/>
          </p:cNvPicPr>
          <p:nvPr/>
        </p:nvPicPr>
        <p:blipFill>
          <a:blip r:embed="rId19"/>
          <a:stretch>
            <a:fillRect/>
          </a:stretch>
        </p:blipFill>
        <p:spPr>
          <a:xfrm>
            <a:off x="-1" y="93500"/>
            <a:ext cx="3757555" cy="2632539"/>
          </a:xfrm>
          <a:prstGeom prst="rect">
            <a:avLst/>
          </a:prstGeom>
        </p:spPr>
      </p:pic>
      <p:pic>
        <p:nvPicPr>
          <p:cNvPr id="44" name="Image 18" descr="preencoded.png">
            <a:extLst>
              <a:ext uri="{FF2B5EF4-FFF2-40B4-BE49-F238E27FC236}">
                <a16:creationId xmlns:a16="http://schemas.microsoft.com/office/drawing/2014/main" id="{4A97BD50-259C-1E30-0FB0-10134D9715D5}"/>
              </a:ext>
            </a:extLst>
          </p:cNvPr>
          <p:cNvPicPr>
            <a:picLocks noChangeAspect="1"/>
          </p:cNvPicPr>
          <p:nvPr/>
        </p:nvPicPr>
        <p:blipFill>
          <a:blip r:embed="rId20"/>
          <a:stretch>
            <a:fillRect/>
          </a:stretch>
        </p:blipFill>
        <p:spPr>
          <a:xfrm>
            <a:off x="-1" y="-7093"/>
            <a:ext cx="14400213" cy="90001"/>
          </a:xfrm>
          <a:prstGeom prst="rect">
            <a:avLst/>
          </a:prstGeom>
        </p:spPr>
      </p:pic>
      <p:pic>
        <p:nvPicPr>
          <p:cNvPr id="45" name="Image 2" descr="preencoded.png">
            <a:extLst>
              <a:ext uri="{FF2B5EF4-FFF2-40B4-BE49-F238E27FC236}">
                <a16:creationId xmlns:a16="http://schemas.microsoft.com/office/drawing/2014/main" id="{4DA88090-C030-4430-09CC-CFEB55B3238B}"/>
              </a:ext>
            </a:extLst>
          </p:cNvPr>
          <p:cNvPicPr>
            <a:picLocks noChangeAspect="1"/>
          </p:cNvPicPr>
          <p:nvPr/>
        </p:nvPicPr>
        <p:blipFill>
          <a:blip r:embed="rId21"/>
          <a:stretch>
            <a:fillRect/>
          </a:stretch>
        </p:blipFill>
        <p:spPr>
          <a:xfrm>
            <a:off x="10697287" y="68116"/>
            <a:ext cx="3757555" cy="2632539"/>
          </a:xfrm>
          <a:prstGeom prst="rect">
            <a:avLst/>
          </a:prstGeom>
        </p:spPr>
      </p:pic>
      <p:pic>
        <p:nvPicPr>
          <p:cNvPr id="46" name="Image 17" descr="preencoded.png">
            <a:extLst>
              <a:ext uri="{FF2B5EF4-FFF2-40B4-BE49-F238E27FC236}">
                <a16:creationId xmlns:a16="http://schemas.microsoft.com/office/drawing/2014/main" id="{500594B6-71C7-8565-C608-27164C641527}"/>
              </a:ext>
            </a:extLst>
          </p:cNvPr>
          <p:cNvPicPr>
            <a:picLocks noChangeAspect="1"/>
          </p:cNvPicPr>
          <p:nvPr/>
        </p:nvPicPr>
        <p:blipFill>
          <a:blip r:embed="rId22"/>
          <a:stretch>
            <a:fillRect/>
          </a:stretch>
        </p:blipFill>
        <p:spPr>
          <a:xfrm>
            <a:off x="69457" y="8697318"/>
            <a:ext cx="255122" cy="255122"/>
          </a:xfrm>
          <a:prstGeom prst="rect">
            <a:avLst/>
          </a:prstGeom>
        </p:spPr>
      </p:pic>
      <p:pic>
        <p:nvPicPr>
          <p:cNvPr id="47" name="Image 19" descr="preencoded.png">
            <a:extLst>
              <a:ext uri="{FF2B5EF4-FFF2-40B4-BE49-F238E27FC236}">
                <a16:creationId xmlns:a16="http://schemas.microsoft.com/office/drawing/2014/main" id="{10217960-62B9-1C8A-A5B6-5BC0386EFB56}"/>
              </a:ext>
            </a:extLst>
          </p:cNvPr>
          <p:cNvPicPr>
            <a:picLocks noChangeAspect="1"/>
          </p:cNvPicPr>
          <p:nvPr/>
        </p:nvPicPr>
        <p:blipFill>
          <a:blip r:embed="rId23"/>
          <a:stretch>
            <a:fillRect/>
          </a:stretch>
        </p:blipFill>
        <p:spPr>
          <a:xfrm>
            <a:off x="6887" y="8942991"/>
            <a:ext cx="14400213" cy="90001"/>
          </a:xfrm>
          <a:prstGeom prst="rect">
            <a:avLst/>
          </a:prstGeom>
        </p:spPr>
      </p:pic>
      <p:sp>
        <p:nvSpPr>
          <p:cNvPr id="48" name="Text 11">
            <a:extLst>
              <a:ext uri="{FF2B5EF4-FFF2-40B4-BE49-F238E27FC236}">
                <a16:creationId xmlns:a16="http://schemas.microsoft.com/office/drawing/2014/main" id="{0797C772-77C7-0C08-AC47-7381B90D03FA}"/>
              </a:ext>
            </a:extLst>
          </p:cNvPr>
          <p:cNvSpPr/>
          <p:nvPr/>
        </p:nvSpPr>
        <p:spPr>
          <a:xfrm>
            <a:off x="297760" y="8462794"/>
            <a:ext cx="4791048" cy="539361"/>
          </a:xfrm>
          <a:prstGeom prst="rect">
            <a:avLst/>
          </a:prstGeom>
          <a:noFill/>
          <a:ln/>
        </p:spPr>
        <p:txBody>
          <a:bodyPr wrap="square" lIns="0" tIns="0" rIns="0" bIns="0" rtlCol="0" anchor="t"/>
          <a:lstStyle/>
          <a:p>
            <a:pPr algn="ctr"/>
            <a:r>
              <a:rPr lang="en-US" sz="1600" dirty="0">
                <a:latin typeface="Montserrat" pitchFamily="34" charset="0"/>
                <a:ea typeface="Montserrat" pitchFamily="34" charset="-122"/>
                <a:cs typeface="Montserrat" pitchFamily="34" charset="-120"/>
              </a:rPr>
              <a:t>Universidad de Los Andes | William A. Gutiérrez V.</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2119958" y="1331529"/>
            <a:ext cx="2337742" cy="97407"/>
          </a:xfrm>
          <a:prstGeom prst="rect">
            <a:avLst/>
          </a:prstGeom>
        </p:spPr>
      </p:pic>
      <p:pic>
        <p:nvPicPr>
          <p:cNvPr id="5" name="Image 3" descr="preencoded.png"/>
          <p:cNvPicPr>
            <a:picLocks noChangeAspect="1"/>
          </p:cNvPicPr>
          <p:nvPr/>
        </p:nvPicPr>
        <p:blipFill>
          <a:blip r:embed="rId4"/>
          <a:stretch>
            <a:fillRect/>
          </a:stretch>
        </p:blipFill>
        <p:spPr>
          <a:xfrm>
            <a:off x="383149" y="1737816"/>
            <a:ext cx="202503" cy="270004"/>
          </a:xfrm>
          <a:prstGeom prst="rect">
            <a:avLst/>
          </a:prstGeom>
        </p:spPr>
      </p:pic>
      <p:pic>
        <p:nvPicPr>
          <p:cNvPr id="6" name="Image 4" descr="preencoded.png"/>
          <p:cNvPicPr>
            <a:picLocks noChangeAspect="1"/>
          </p:cNvPicPr>
          <p:nvPr/>
        </p:nvPicPr>
        <p:blipFill>
          <a:blip r:embed="rId5"/>
          <a:stretch>
            <a:fillRect/>
          </a:stretch>
        </p:blipFill>
        <p:spPr>
          <a:xfrm>
            <a:off x="585002" y="5617960"/>
            <a:ext cx="270004" cy="270004"/>
          </a:xfrm>
          <a:prstGeom prst="rect">
            <a:avLst/>
          </a:prstGeom>
        </p:spPr>
      </p:pic>
      <p:pic>
        <p:nvPicPr>
          <p:cNvPr id="7" name="Image 5" descr="preencoded.png"/>
          <p:cNvPicPr>
            <a:picLocks noChangeAspect="1"/>
          </p:cNvPicPr>
          <p:nvPr/>
        </p:nvPicPr>
        <p:blipFill>
          <a:blip r:embed="rId6"/>
          <a:stretch>
            <a:fillRect/>
          </a:stretch>
        </p:blipFill>
        <p:spPr>
          <a:xfrm>
            <a:off x="7370076" y="1566211"/>
            <a:ext cx="6868135" cy="1239394"/>
          </a:xfrm>
          <a:prstGeom prst="rect">
            <a:avLst/>
          </a:prstGeom>
        </p:spPr>
      </p:pic>
      <p:pic>
        <p:nvPicPr>
          <p:cNvPr id="8" name="Image 6" descr="preencoded.png"/>
          <p:cNvPicPr>
            <a:picLocks noChangeAspect="1"/>
          </p:cNvPicPr>
          <p:nvPr/>
        </p:nvPicPr>
        <p:blipFill>
          <a:blip r:embed="rId7"/>
          <a:stretch>
            <a:fillRect/>
          </a:stretch>
        </p:blipFill>
        <p:spPr>
          <a:xfrm>
            <a:off x="7550076" y="1877899"/>
            <a:ext cx="270004" cy="360006"/>
          </a:xfrm>
          <a:prstGeom prst="rect">
            <a:avLst/>
          </a:prstGeom>
        </p:spPr>
      </p:pic>
      <p:pic>
        <p:nvPicPr>
          <p:cNvPr id="9" name="Image 7" descr="preencoded.png"/>
          <p:cNvPicPr>
            <a:picLocks noChangeAspect="1"/>
          </p:cNvPicPr>
          <p:nvPr/>
        </p:nvPicPr>
        <p:blipFill>
          <a:blip r:embed="rId8"/>
          <a:stretch>
            <a:fillRect/>
          </a:stretch>
        </p:blipFill>
        <p:spPr>
          <a:xfrm>
            <a:off x="7068204" y="4229833"/>
            <a:ext cx="2311558" cy="22500"/>
          </a:xfrm>
          <a:prstGeom prst="rect">
            <a:avLst/>
          </a:prstGeom>
        </p:spPr>
      </p:pic>
      <p:pic>
        <p:nvPicPr>
          <p:cNvPr id="10" name="Image 8" descr="preencoded.png"/>
          <p:cNvPicPr>
            <a:picLocks noChangeAspect="1"/>
          </p:cNvPicPr>
          <p:nvPr/>
        </p:nvPicPr>
        <p:blipFill>
          <a:blip r:embed="rId9"/>
          <a:stretch>
            <a:fillRect/>
          </a:stretch>
        </p:blipFill>
        <p:spPr>
          <a:xfrm>
            <a:off x="9405140" y="3554756"/>
            <a:ext cx="2531392" cy="1367430"/>
          </a:xfrm>
          <a:prstGeom prst="rect">
            <a:avLst/>
          </a:prstGeom>
        </p:spPr>
      </p:pic>
      <p:pic>
        <p:nvPicPr>
          <p:cNvPr id="11" name="Image 9" descr="preencoded.png"/>
          <p:cNvPicPr>
            <a:picLocks noChangeAspect="1"/>
          </p:cNvPicPr>
          <p:nvPr/>
        </p:nvPicPr>
        <p:blipFill>
          <a:blip r:embed="rId10"/>
          <a:stretch>
            <a:fillRect/>
          </a:stretch>
        </p:blipFill>
        <p:spPr>
          <a:xfrm>
            <a:off x="10452299" y="3644756"/>
            <a:ext cx="303717" cy="340163"/>
          </a:xfrm>
          <a:prstGeom prst="rect">
            <a:avLst/>
          </a:prstGeom>
        </p:spPr>
      </p:pic>
      <p:pic>
        <p:nvPicPr>
          <p:cNvPr id="12" name="Image 10" descr="preencoded.png"/>
          <p:cNvPicPr>
            <a:picLocks noChangeAspect="1"/>
          </p:cNvPicPr>
          <p:nvPr/>
        </p:nvPicPr>
        <p:blipFill>
          <a:blip r:embed="rId11"/>
          <a:stretch>
            <a:fillRect/>
          </a:stretch>
        </p:blipFill>
        <p:spPr>
          <a:xfrm>
            <a:off x="11934798" y="4193682"/>
            <a:ext cx="2311558" cy="22500"/>
          </a:xfrm>
          <a:prstGeom prst="rect">
            <a:avLst/>
          </a:prstGeom>
        </p:spPr>
      </p:pic>
      <p:pic>
        <p:nvPicPr>
          <p:cNvPr id="13" name="Image 11" descr="preencoded.png"/>
          <p:cNvPicPr>
            <a:picLocks noChangeAspect="1"/>
          </p:cNvPicPr>
          <p:nvPr/>
        </p:nvPicPr>
        <p:blipFill>
          <a:blip r:embed="rId12"/>
          <a:stretch>
            <a:fillRect/>
          </a:stretch>
        </p:blipFill>
        <p:spPr>
          <a:xfrm>
            <a:off x="7200107" y="4970888"/>
            <a:ext cx="6868134" cy="1367430"/>
          </a:xfrm>
          <a:prstGeom prst="rect">
            <a:avLst/>
          </a:prstGeom>
        </p:spPr>
      </p:pic>
      <p:pic>
        <p:nvPicPr>
          <p:cNvPr id="14" name="Image 12" descr="preencoded.png"/>
          <p:cNvPicPr>
            <a:picLocks noChangeAspect="1"/>
          </p:cNvPicPr>
          <p:nvPr/>
        </p:nvPicPr>
        <p:blipFill>
          <a:blip r:embed="rId13"/>
          <a:stretch>
            <a:fillRect/>
          </a:stretch>
        </p:blipFill>
        <p:spPr>
          <a:xfrm>
            <a:off x="7380109" y="5385272"/>
            <a:ext cx="270004" cy="360006"/>
          </a:xfrm>
          <a:prstGeom prst="rect">
            <a:avLst/>
          </a:prstGeom>
        </p:spPr>
      </p:pic>
      <p:pic>
        <p:nvPicPr>
          <p:cNvPr id="15" name="Image 13" descr="preencoded.png"/>
          <p:cNvPicPr>
            <a:picLocks noChangeAspect="1"/>
          </p:cNvPicPr>
          <p:nvPr/>
        </p:nvPicPr>
        <p:blipFill>
          <a:blip r:embed="rId14"/>
          <a:stretch>
            <a:fillRect/>
          </a:stretch>
        </p:blipFill>
        <p:spPr>
          <a:xfrm>
            <a:off x="7200106" y="6299796"/>
            <a:ext cx="2070031" cy="1575023"/>
          </a:xfrm>
          <a:prstGeom prst="rect">
            <a:avLst/>
          </a:prstGeom>
        </p:spPr>
      </p:pic>
      <p:pic>
        <p:nvPicPr>
          <p:cNvPr id="16" name="Image 14" descr="preencoded.png"/>
          <p:cNvPicPr>
            <a:picLocks noChangeAspect="1"/>
          </p:cNvPicPr>
          <p:nvPr/>
        </p:nvPicPr>
        <p:blipFill>
          <a:blip r:embed="rId15"/>
          <a:stretch>
            <a:fillRect/>
          </a:stretch>
        </p:blipFill>
        <p:spPr>
          <a:xfrm>
            <a:off x="8083249" y="6311049"/>
            <a:ext cx="303754" cy="360006"/>
          </a:xfrm>
          <a:prstGeom prst="rect">
            <a:avLst/>
          </a:prstGeom>
        </p:spPr>
      </p:pic>
      <p:pic>
        <p:nvPicPr>
          <p:cNvPr id="17" name="Image 15" descr="preencoded.png"/>
          <p:cNvPicPr>
            <a:picLocks noChangeAspect="1"/>
          </p:cNvPicPr>
          <p:nvPr/>
        </p:nvPicPr>
        <p:blipFill>
          <a:blip r:embed="rId16"/>
          <a:stretch>
            <a:fillRect/>
          </a:stretch>
        </p:blipFill>
        <p:spPr>
          <a:xfrm>
            <a:off x="9405139" y="6299796"/>
            <a:ext cx="2070031" cy="1575023"/>
          </a:xfrm>
          <a:prstGeom prst="rect">
            <a:avLst/>
          </a:prstGeom>
        </p:spPr>
      </p:pic>
      <p:pic>
        <p:nvPicPr>
          <p:cNvPr id="18" name="Image 16" descr="preencoded.png"/>
          <p:cNvPicPr>
            <a:picLocks noChangeAspect="1"/>
          </p:cNvPicPr>
          <p:nvPr/>
        </p:nvPicPr>
        <p:blipFill>
          <a:blip r:embed="rId17"/>
          <a:stretch>
            <a:fillRect/>
          </a:stretch>
        </p:blipFill>
        <p:spPr>
          <a:xfrm>
            <a:off x="10174820" y="6318548"/>
            <a:ext cx="337505" cy="360006"/>
          </a:xfrm>
          <a:prstGeom prst="rect">
            <a:avLst/>
          </a:prstGeom>
        </p:spPr>
      </p:pic>
      <p:pic>
        <p:nvPicPr>
          <p:cNvPr id="19" name="Image 17" descr="preencoded.png"/>
          <p:cNvPicPr>
            <a:picLocks noChangeAspect="1"/>
          </p:cNvPicPr>
          <p:nvPr/>
        </p:nvPicPr>
        <p:blipFill>
          <a:blip r:embed="rId14"/>
          <a:stretch>
            <a:fillRect/>
          </a:stretch>
        </p:blipFill>
        <p:spPr>
          <a:xfrm>
            <a:off x="11610171" y="6299796"/>
            <a:ext cx="2070031" cy="1575023"/>
          </a:xfrm>
          <a:prstGeom prst="rect">
            <a:avLst/>
          </a:prstGeom>
        </p:spPr>
      </p:pic>
      <p:pic>
        <p:nvPicPr>
          <p:cNvPr id="20" name="Image 18" descr="preencoded.png"/>
          <p:cNvPicPr>
            <a:picLocks noChangeAspect="1"/>
          </p:cNvPicPr>
          <p:nvPr/>
        </p:nvPicPr>
        <p:blipFill>
          <a:blip r:embed="rId18"/>
          <a:stretch>
            <a:fillRect/>
          </a:stretch>
        </p:blipFill>
        <p:spPr>
          <a:xfrm>
            <a:off x="12711584" y="6377534"/>
            <a:ext cx="337505" cy="360006"/>
          </a:xfrm>
          <a:prstGeom prst="rect">
            <a:avLst/>
          </a:prstGeom>
        </p:spPr>
      </p:pic>
      <p:sp>
        <p:nvSpPr>
          <p:cNvPr id="21" name="Text 0"/>
          <p:cNvSpPr/>
          <p:nvPr/>
        </p:nvSpPr>
        <p:spPr>
          <a:xfrm>
            <a:off x="621436" y="56717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a:t>
            </a:r>
            <a:endParaRPr lang="en-US" sz="1594" dirty="0">
              <a:latin typeface="Montserrat" panose="00000500000000000000" pitchFamily="2" charset="0"/>
            </a:endParaRPr>
          </a:p>
        </p:txBody>
      </p:sp>
      <p:sp>
        <p:nvSpPr>
          <p:cNvPr id="22" name="Text 1"/>
          <p:cNvSpPr/>
          <p:nvPr/>
        </p:nvSpPr>
        <p:spPr>
          <a:xfrm>
            <a:off x="2149804" y="875343"/>
            <a:ext cx="12474398" cy="450007"/>
          </a:xfrm>
          <a:prstGeom prst="rect">
            <a:avLst/>
          </a:prstGeom>
          <a:noFill/>
          <a:ln/>
        </p:spPr>
        <p:txBody>
          <a:bodyPr wrap="square" lIns="0" tIns="0" rIns="0" bIns="0" rtlCol="0" anchor="t"/>
          <a:lstStyle/>
          <a:p>
            <a:pPr>
              <a:lnSpc>
                <a:spcPts val="3543"/>
              </a:lnSpc>
            </a:pPr>
            <a:r>
              <a:rPr lang="en-US" sz="3307" b="1" dirty="0">
                <a:latin typeface="Montserrat" panose="00000500000000000000" pitchFamily="2" charset="0"/>
                <a:ea typeface="EB Garamond" pitchFamily="34" charset="-122"/>
                <a:cs typeface="EB Garamond" pitchFamily="34" charset="-120"/>
              </a:rPr>
              <a:t>Propuesta de Solución: Modelo Cuantitativo Innovador</a:t>
            </a:r>
            <a:endParaRPr lang="en-US" sz="3307" dirty="0">
              <a:latin typeface="Montserrat" panose="00000500000000000000" pitchFamily="2" charset="0"/>
            </a:endParaRPr>
          </a:p>
        </p:txBody>
      </p:sp>
      <p:sp>
        <p:nvSpPr>
          <p:cNvPr id="23" name="Text 2"/>
          <p:cNvSpPr/>
          <p:nvPr/>
        </p:nvSpPr>
        <p:spPr>
          <a:xfrm>
            <a:off x="647619" y="1709241"/>
            <a:ext cx="5760085" cy="360006"/>
          </a:xfrm>
          <a:prstGeom prst="rect">
            <a:avLst/>
          </a:prstGeom>
          <a:noFill/>
          <a:ln/>
        </p:spPr>
        <p:txBody>
          <a:bodyPr wrap="square" lIns="0" tIns="0" rIns="0" bIns="0" rtlCol="0" anchor="t"/>
          <a:lstStyle/>
          <a:p>
            <a:pPr>
              <a:lnSpc>
                <a:spcPts val="2835"/>
              </a:lnSpc>
            </a:pPr>
            <a:r>
              <a:rPr lang="en-US" sz="2400" b="1" dirty="0">
                <a:latin typeface="Montserrat" panose="00000500000000000000" pitchFamily="2" charset="0"/>
                <a:ea typeface="EB Garamond" pitchFamily="34" charset="-122"/>
                <a:cs typeface="EB Garamond" pitchFamily="34" charset="-120"/>
              </a:rPr>
              <a:t>Modelo Basado en Evidencia</a:t>
            </a:r>
            <a:endParaRPr lang="en-US" sz="2400" dirty="0">
              <a:latin typeface="Montserrat" panose="00000500000000000000" pitchFamily="2" charset="0"/>
            </a:endParaRPr>
          </a:p>
        </p:txBody>
      </p:sp>
      <p:sp>
        <p:nvSpPr>
          <p:cNvPr id="24" name="Text 3"/>
          <p:cNvSpPr/>
          <p:nvPr/>
        </p:nvSpPr>
        <p:spPr>
          <a:xfrm>
            <a:off x="235559" y="2140979"/>
            <a:ext cx="6599982" cy="1496248"/>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Arial" pitchFamily="34" charset="-122"/>
                <a:cs typeface="Arial" pitchFamily="34" charset="-120"/>
              </a:rPr>
              <a:t>Un enfoque cuantitativo que transforma la planificación pública actualmente cualitativa y opaca, generando indicadores de impacto replicables y verificables.</a:t>
            </a:r>
            <a:endParaRPr lang="en-US" sz="2200" dirty="0">
              <a:latin typeface="Merriweather" panose="00000500000000000000" pitchFamily="2" charset="0"/>
            </a:endParaRPr>
          </a:p>
        </p:txBody>
      </p:sp>
      <p:sp>
        <p:nvSpPr>
          <p:cNvPr id="25" name="Text 4"/>
          <p:cNvSpPr/>
          <p:nvPr/>
        </p:nvSpPr>
        <p:spPr>
          <a:xfrm>
            <a:off x="647619" y="3701571"/>
            <a:ext cx="5419924" cy="360006"/>
          </a:xfrm>
          <a:prstGeom prst="rect">
            <a:avLst/>
          </a:prstGeom>
          <a:noFill/>
          <a:ln/>
        </p:spPr>
        <p:txBody>
          <a:bodyPr wrap="square" lIns="0" tIns="0" rIns="0" bIns="0" rtlCol="0" anchor="t"/>
          <a:lstStyle/>
          <a:p>
            <a:pPr>
              <a:lnSpc>
                <a:spcPts val="2835"/>
              </a:lnSpc>
            </a:pPr>
            <a:r>
              <a:rPr lang="en-US" sz="2185" b="1" dirty="0">
                <a:latin typeface="Montserrat" panose="00000500000000000000" pitchFamily="2" charset="0"/>
                <a:ea typeface="EB Garamond" pitchFamily="34" charset="-122"/>
                <a:cs typeface="EB Garamond" pitchFamily="34" charset="-120"/>
              </a:rPr>
              <a:t>Integración de Métodos Estadísticos</a:t>
            </a:r>
            <a:endParaRPr lang="en-US" sz="2185" dirty="0">
              <a:latin typeface="Montserrat" panose="00000500000000000000" pitchFamily="2" charset="0"/>
            </a:endParaRPr>
          </a:p>
        </p:txBody>
      </p:sp>
      <p:sp>
        <p:nvSpPr>
          <p:cNvPr id="26" name="Text 5"/>
          <p:cNvSpPr/>
          <p:nvPr/>
        </p:nvSpPr>
        <p:spPr>
          <a:xfrm>
            <a:off x="235561" y="4088661"/>
            <a:ext cx="6599980" cy="1329624"/>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Arial" pitchFamily="34" charset="-122"/>
                <a:cs typeface="Arial" pitchFamily="34" charset="-120"/>
              </a:rPr>
              <a:t>El modelo integra herramientas estadísticas y metodologías de validación para ofrecer una evaluación robusta y transparente de la efectividad de las ACA.</a:t>
            </a:r>
            <a:endParaRPr lang="en-US" sz="2200" dirty="0">
              <a:latin typeface="Merriweather" panose="00000500000000000000" pitchFamily="2" charset="0"/>
            </a:endParaRPr>
          </a:p>
        </p:txBody>
      </p:sp>
      <p:sp>
        <p:nvSpPr>
          <p:cNvPr id="27" name="Text 6"/>
          <p:cNvSpPr/>
          <p:nvPr/>
        </p:nvSpPr>
        <p:spPr>
          <a:xfrm>
            <a:off x="990012" y="5572963"/>
            <a:ext cx="6120091" cy="360006"/>
          </a:xfrm>
          <a:prstGeom prst="rect">
            <a:avLst/>
          </a:prstGeom>
          <a:noFill/>
          <a:ln/>
        </p:spPr>
        <p:txBody>
          <a:bodyPr wrap="square" lIns="0" tIns="0" rIns="0" bIns="0" rtlCol="0" anchor="t"/>
          <a:lstStyle/>
          <a:p>
            <a:pPr>
              <a:lnSpc>
                <a:spcPts val="2835"/>
              </a:lnSpc>
            </a:pPr>
            <a:r>
              <a:rPr lang="en-US" sz="2185" b="1" dirty="0">
                <a:latin typeface="Montserrat" panose="00000500000000000000" pitchFamily="2" charset="0"/>
                <a:ea typeface="EB Garamond" pitchFamily="34" charset="-122"/>
                <a:cs typeface="EB Garamond" pitchFamily="34" charset="-120"/>
              </a:rPr>
              <a:t>Meta del Modelo</a:t>
            </a:r>
            <a:endParaRPr lang="en-US" sz="2185" dirty="0">
              <a:latin typeface="Montserrat" panose="00000500000000000000" pitchFamily="2" charset="0"/>
            </a:endParaRPr>
          </a:p>
        </p:txBody>
      </p:sp>
      <p:sp>
        <p:nvSpPr>
          <p:cNvPr id="28" name="Text 7"/>
          <p:cNvSpPr/>
          <p:nvPr/>
        </p:nvSpPr>
        <p:spPr>
          <a:xfrm>
            <a:off x="240070" y="5955723"/>
            <a:ext cx="6634336" cy="2157387"/>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Arial" pitchFamily="34" charset="-122"/>
                <a:cs typeface="Arial" pitchFamily="34" charset="-120"/>
              </a:rPr>
              <a:t>Superar la opacidad documental que caracteriza la planificación actual, generando indicadores de impacto que sean replicables y verificables. Esto permitirá una toma de decisiones más informada y efectiva en la planificación pública, mejorando la rendición de cuentas y la confianza ciudadana.</a:t>
            </a:r>
            <a:endParaRPr lang="en-US" sz="2200" dirty="0">
              <a:latin typeface="Merriweather" panose="00000500000000000000" pitchFamily="2" charset="0"/>
            </a:endParaRPr>
          </a:p>
        </p:txBody>
      </p:sp>
      <p:sp>
        <p:nvSpPr>
          <p:cNvPr id="29" name="Text 8"/>
          <p:cNvSpPr/>
          <p:nvPr/>
        </p:nvSpPr>
        <p:spPr>
          <a:xfrm>
            <a:off x="9232807" y="1604571"/>
            <a:ext cx="3817497" cy="270004"/>
          </a:xfrm>
          <a:prstGeom prst="rect">
            <a:avLst/>
          </a:prstGeom>
          <a:noFill/>
          <a:ln/>
        </p:spPr>
        <p:txBody>
          <a:bodyPr wrap="square" lIns="0" tIns="0" rIns="0" bIns="0" rtlCol="0" anchor="t"/>
          <a:lstStyle/>
          <a:p>
            <a:pPr>
              <a:lnSpc>
                <a:spcPts val="2126"/>
              </a:lnSpc>
            </a:pPr>
            <a:r>
              <a:rPr lang="en-US" sz="2362" b="1" dirty="0">
                <a:solidFill>
                  <a:srgbClr val="212529"/>
                </a:solidFill>
                <a:latin typeface="Montserrat" panose="00000500000000000000" pitchFamily="2" charset="0"/>
                <a:ea typeface="Arial" pitchFamily="34" charset="-122"/>
                <a:cs typeface="Arial" pitchFamily="34" charset="-120"/>
              </a:rPr>
              <a:t>Problema Actual</a:t>
            </a:r>
            <a:endParaRPr lang="en-US" sz="2362" dirty="0">
              <a:latin typeface="Montserrat" panose="00000500000000000000" pitchFamily="2" charset="0"/>
            </a:endParaRPr>
          </a:p>
        </p:txBody>
      </p:sp>
      <p:sp>
        <p:nvSpPr>
          <p:cNvPr id="30" name="Text 9"/>
          <p:cNvSpPr/>
          <p:nvPr/>
        </p:nvSpPr>
        <p:spPr>
          <a:xfrm>
            <a:off x="7928296" y="1930832"/>
            <a:ext cx="6075090" cy="614148"/>
          </a:xfrm>
          <a:prstGeom prst="rect">
            <a:avLst/>
          </a:prstGeom>
          <a:noFill/>
          <a:ln/>
        </p:spPr>
        <p:txBody>
          <a:bodyPr wrap="square" lIns="0" tIns="0" rIns="0" bIns="0" rtlCol="0" anchor="t"/>
          <a:lstStyle/>
          <a:p>
            <a:r>
              <a:rPr lang="en-US" sz="2611" dirty="0">
                <a:solidFill>
                  <a:srgbClr val="212529"/>
                </a:solidFill>
                <a:latin typeface="Merriweather" panose="00000500000000000000" pitchFamily="2" charset="0"/>
                <a:ea typeface="Arial" pitchFamily="34" charset="-122"/>
                <a:cs typeface="Arial" pitchFamily="34" charset="-120"/>
              </a:rPr>
              <a:t>Opacidad y falta de evaluación cuantitativa en las ACA</a:t>
            </a:r>
            <a:endParaRPr lang="en-US" sz="2611" dirty="0">
              <a:latin typeface="Merriweather" panose="00000500000000000000" pitchFamily="2" charset="0"/>
            </a:endParaRPr>
          </a:p>
        </p:txBody>
      </p:sp>
      <p:sp>
        <p:nvSpPr>
          <p:cNvPr id="31" name="Text 10"/>
          <p:cNvSpPr/>
          <p:nvPr/>
        </p:nvSpPr>
        <p:spPr>
          <a:xfrm>
            <a:off x="9619064" y="4049762"/>
            <a:ext cx="2126111" cy="774387"/>
          </a:xfrm>
          <a:prstGeom prst="rect">
            <a:avLst/>
          </a:prstGeom>
          <a:noFill/>
          <a:ln/>
        </p:spPr>
        <p:txBody>
          <a:bodyPr wrap="square" lIns="0" tIns="0" rIns="0" bIns="0" rtlCol="0" anchor="t"/>
          <a:lstStyle/>
          <a:p>
            <a:pPr algn="ctr">
              <a:lnSpc>
                <a:spcPts val="2126"/>
              </a:lnSpc>
            </a:pPr>
            <a:r>
              <a:rPr lang="en-US" sz="2362" b="1" dirty="0">
                <a:solidFill>
                  <a:srgbClr val="FFFFFF"/>
                </a:solidFill>
                <a:latin typeface="Montserrat" panose="00000500000000000000" pitchFamily="2" charset="0"/>
                <a:ea typeface="Arial" pitchFamily="34" charset="-122"/>
                <a:cs typeface="Arial" pitchFamily="34" charset="-120"/>
              </a:rPr>
              <a:t>Modelo Cuantitativo</a:t>
            </a:r>
            <a:endParaRPr lang="en-US" sz="2362" dirty="0">
              <a:latin typeface="Montserrat" panose="00000500000000000000" pitchFamily="2" charset="0"/>
            </a:endParaRPr>
          </a:p>
        </p:txBody>
      </p:sp>
      <p:sp>
        <p:nvSpPr>
          <p:cNvPr id="32" name="Text 11"/>
          <p:cNvSpPr/>
          <p:nvPr/>
        </p:nvSpPr>
        <p:spPr>
          <a:xfrm>
            <a:off x="8695278" y="5094640"/>
            <a:ext cx="4395299" cy="270004"/>
          </a:xfrm>
          <a:prstGeom prst="rect">
            <a:avLst/>
          </a:prstGeom>
          <a:noFill/>
          <a:ln/>
        </p:spPr>
        <p:txBody>
          <a:bodyPr wrap="square" lIns="0" tIns="0" rIns="0" bIns="0" rtlCol="0" anchor="t"/>
          <a:lstStyle/>
          <a:p>
            <a:pPr algn="ctr">
              <a:lnSpc>
                <a:spcPts val="2126"/>
              </a:lnSpc>
            </a:pPr>
            <a:r>
              <a:rPr lang="en-US" sz="2362" b="1" dirty="0">
                <a:solidFill>
                  <a:srgbClr val="212529"/>
                </a:solidFill>
                <a:latin typeface="Montserrat" panose="00000500000000000000" pitchFamily="2" charset="0"/>
                <a:ea typeface="Arial" pitchFamily="34" charset="-122"/>
                <a:cs typeface="Arial" pitchFamily="34" charset="-120"/>
              </a:rPr>
              <a:t>Solución Propuesta</a:t>
            </a:r>
            <a:endParaRPr lang="en-US" sz="2362" dirty="0">
              <a:latin typeface="Montserrat" panose="00000500000000000000" pitchFamily="2" charset="0"/>
            </a:endParaRPr>
          </a:p>
        </p:txBody>
      </p:sp>
      <p:sp>
        <p:nvSpPr>
          <p:cNvPr id="33" name="Text 12"/>
          <p:cNvSpPr/>
          <p:nvPr/>
        </p:nvSpPr>
        <p:spPr>
          <a:xfrm>
            <a:off x="7785115" y="5375895"/>
            <a:ext cx="6215626" cy="618760"/>
          </a:xfrm>
          <a:prstGeom prst="rect">
            <a:avLst/>
          </a:prstGeom>
          <a:noFill/>
          <a:ln/>
        </p:spPr>
        <p:txBody>
          <a:bodyPr wrap="square" lIns="0" tIns="0" rIns="0" bIns="0" rtlCol="0" anchor="t"/>
          <a:lstStyle/>
          <a:p>
            <a:pPr algn="just"/>
            <a:r>
              <a:rPr lang="en-US" sz="2611" dirty="0">
                <a:solidFill>
                  <a:srgbClr val="212529"/>
                </a:solidFill>
                <a:latin typeface="Merriweather" panose="00000500000000000000" pitchFamily="2" charset="0"/>
                <a:ea typeface="Arial" pitchFamily="34" charset="-122"/>
                <a:cs typeface="Arial" pitchFamily="34" charset="-120"/>
              </a:rPr>
              <a:t>Evaluación robusta y transparente de la efectividad de las ACA</a:t>
            </a:r>
            <a:endParaRPr lang="en-US" sz="2611" dirty="0">
              <a:latin typeface="Merriweather" panose="00000500000000000000" pitchFamily="2" charset="0"/>
            </a:endParaRPr>
          </a:p>
        </p:txBody>
      </p:sp>
      <p:sp>
        <p:nvSpPr>
          <p:cNvPr id="34" name="Text 13"/>
          <p:cNvSpPr/>
          <p:nvPr/>
        </p:nvSpPr>
        <p:spPr>
          <a:xfrm>
            <a:off x="7425112" y="6737537"/>
            <a:ext cx="1800028" cy="450007"/>
          </a:xfrm>
          <a:prstGeom prst="rect">
            <a:avLst/>
          </a:prstGeom>
          <a:noFill/>
          <a:ln/>
        </p:spPr>
        <p:txBody>
          <a:bodyPr wrap="square" lIns="0" tIns="0" rIns="0" bIns="0" rtlCol="0" anchor="t"/>
          <a:lstStyle/>
          <a:p>
            <a:pPr algn="ctr">
              <a:lnSpc>
                <a:spcPts val="1772"/>
              </a:lnSpc>
            </a:pPr>
            <a:r>
              <a:rPr lang="en-US" sz="1890" b="1" dirty="0">
                <a:solidFill>
                  <a:srgbClr val="212529"/>
                </a:solidFill>
                <a:latin typeface="Montserrat" panose="00000500000000000000" pitchFamily="2" charset="0"/>
                <a:ea typeface="Arial" pitchFamily="34" charset="-122"/>
                <a:cs typeface="Arial" pitchFamily="34" charset="-120"/>
              </a:rPr>
              <a:t>Correlación de Spearman</a:t>
            </a:r>
            <a:endParaRPr lang="en-US" sz="1890" dirty="0">
              <a:latin typeface="Montserrat" panose="00000500000000000000" pitchFamily="2" charset="0"/>
            </a:endParaRPr>
          </a:p>
        </p:txBody>
      </p:sp>
      <p:sp>
        <p:nvSpPr>
          <p:cNvPr id="35" name="Text 14"/>
          <p:cNvSpPr/>
          <p:nvPr/>
        </p:nvSpPr>
        <p:spPr>
          <a:xfrm>
            <a:off x="7335111" y="7334814"/>
            <a:ext cx="2003055" cy="866263"/>
          </a:xfrm>
          <a:prstGeom prst="rect">
            <a:avLst/>
          </a:prstGeom>
          <a:noFill/>
          <a:ln/>
        </p:spPr>
        <p:txBody>
          <a:bodyPr wrap="square" lIns="0" tIns="0" rIns="0" bIns="0" rtlCol="0" anchor="t"/>
          <a:lstStyle/>
          <a:p>
            <a:pPr algn="ctr"/>
            <a:r>
              <a:rPr lang="en-US" sz="1890" dirty="0">
                <a:solidFill>
                  <a:srgbClr val="212529"/>
                </a:solidFill>
                <a:latin typeface="Merriweather" panose="00000500000000000000" pitchFamily="2" charset="0"/>
                <a:ea typeface="Arial" pitchFamily="34" charset="-122"/>
                <a:cs typeface="Arial" pitchFamily="34" charset="-120"/>
              </a:rPr>
              <a:t>Medir relación entre proyectos y resultados</a:t>
            </a:r>
            <a:endParaRPr lang="en-US" sz="1890" dirty="0">
              <a:latin typeface="Merriweather" panose="00000500000000000000" pitchFamily="2" charset="0"/>
            </a:endParaRPr>
          </a:p>
        </p:txBody>
      </p:sp>
      <p:sp>
        <p:nvSpPr>
          <p:cNvPr id="36" name="Text 15"/>
          <p:cNvSpPr/>
          <p:nvPr/>
        </p:nvSpPr>
        <p:spPr>
          <a:xfrm>
            <a:off x="9338163" y="6723557"/>
            <a:ext cx="2227533" cy="420003"/>
          </a:xfrm>
          <a:prstGeom prst="rect">
            <a:avLst/>
          </a:prstGeom>
          <a:noFill/>
          <a:ln/>
        </p:spPr>
        <p:txBody>
          <a:bodyPr wrap="square" lIns="0" tIns="0" rIns="0" bIns="0" rtlCol="0" anchor="t"/>
          <a:lstStyle/>
          <a:p>
            <a:pPr algn="ctr">
              <a:lnSpc>
                <a:spcPts val="1772"/>
              </a:lnSpc>
            </a:pPr>
            <a:r>
              <a:rPr lang="en-US" sz="1890" b="1" dirty="0">
                <a:solidFill>
                  <a:srgbClr val="212529"/>
                </a:solidFill>
                <a:latin typeface="Montserrat" panose="00000500000000000000" pitchFamily="2" charset="0"/>
                <a:ea typeface="Arial" pitchFamily="34" charset="-122"/>
                <a:cs typeface="Arial" pitchFamily="34" charset="-120"/>
              </a:rPr>
              <a:t>Índice de Shannon</a:t>
            </a:r>
            <a:endParaRPr lang="en-US" sz="1890" dirty="0">
              <a:latin typeface="Montserrat" panose="00000500000000000000" pitchFamily="2" charset="0"/>
            </a:endParaRPr>
          </a:p>
        </p:txBody>
      </p:sp>
      <p:sp>
        <p:nvSpPr>
          <p:cNvPr id="37" name="Text 16"/>
          <p:cNvSpPr/>
          <p:nvPr/>
        </p:nvSpPr>
        <p:spPr>
          <a:xfrm>
            <a:off x="9664527" y="7250700"/>
            <a:ext cx="1800028" cy="1151265"/>
          </a:xfrm>
          <a:prstGeom prst="rect">
            <a:avLst/>
          </a:prstGeom>
          <a:noFill/>
          <a:ln/>
        </p:spPr>
        <p:txBody>
          <a:bodyPr wrap="square" lIns="0" tIns="0" rIns="0" bIns="0" rtlCol="0" anchor="t"/>
          <a:lstStyle/>
          <a:p>
            <a:pPr algn="ctr"/>
            <a:r>
              <a:rPr lang="en-US" sz="1890" dirty="0">
                <a:solidFill>
                  <a:srgbClr val="212529"/>
                </a:solidFill>
                <a:latin typeface="Merriweather" panose="00000500000000000000" pitchFamily="2" charset="0"/>
                <a:ea typeface="Arial" pitchFamily="34" charset="-122"/>
                <a:cs typeface="Arial" pitchFamily="34" charset="-120"/>
              </a:rPr>
              <a:t>Cuantificar complejidad de redes institucionales</a:t>
            </a:r>
            <a:endParaRPr lang="en-US" sz="1890" dirty="0">
              <a:latin typeface="Merriweather" panose="00000500000000000000" pitchFamily="2" charset="0"/>
            </a:endParaRPr>
          </a:p>
        </p:txBody>
      </p:sp>
      <p:sp>
        <p:nvSpPr>
          <p:cNvPr id="38" name="Text 17"/>
          <p:cNvSpPr/>
          <p:nvPr/>
        </p:nvSpPr>
        <p:spPr>
          <a:xfrm>
            <a:off x="11857674" y="6737537"/>
            <a:ext cx="2255568" cy="450007"/>
          </a:xfrm>
          <a:prstGeom prst="rect">
            <a:avLst/>
          </a:prstGeom>
          <a:noFill/>
          <a:ln/>
        </p:spPr>
        <p:txBody>
          <a:bodyPr wrap="square" lIns="0" tIns="0" rIns="0" bIns="0" rtlCol="0" anchor="t"/>
          <a:lstStyle/>
          <a:p>
            <a:pPr algn="ctr">
              <a:lnSpc>
                <a:spcPts val="1772"/>
              </a:lnSpc>
            </a:pPr>
            <a:r>
              <a:rPr lang="en-US" sz="1890" b="1" dirty="0">
                <a:solidFill>
                  <a:srgbClr val="212529"/>
                </a:solidFill>
                <a:latin typeface="Montserrat" panose="00000500000000000000" pitchFamily="2" charset="0"/>
                <a:ea typeface="Arial" pitchFamily="34" charset="-122"/>
                <a:cs typeface="Arial" pitchFamily="34" charset="-120"/>
              </a:rPr>
              <a:t>Validación Descentralizada</a:t>
            </a:r>
            <a:endParaRPr lang="en-US" sz="1890" dirty="0">
              <a:latin typeface="Montserrat" panose="00000500000000000000" pitchFamily="2" charset="0"/>
            </a:endParaRPr>
          </a:p>
        </p:txBody>
      </p:sp>
      <p:sp>
        <p:nvSpPr>
          <p:cNvPr id="39" name="Text 18"/>
          <p:cNvSpPr/>
          <p:nvPr/>
        </p:nvSpPr>
        <p:spPr>
          <a:xfrm>
            <a:off x="11936532" y="7304810"/>
            <a:ext cx="2188750" cy="932749"/>
          </a:xfrm>
          <a:prstGeom prst="rect">
            <a:avLst/>
          </a:prstGeom>
          <a:noFill/>
          <a:ln/>
        </p:spPr>
        <p:txBody>
          <a:bodyPr wrap="square" lIns="0" tIns="0" rIns="0" bIns="0" rtlCol="0" anchor="t"/>
          <a:lstStyle/>
          <a:p>
            <a:pPr algn="ctr"/>
            <a:r>
              <a:rPr lang="en-US" sz="1890" dirty="0">
                <a:solidFill>
                  <a:srgbClr val="212529"/>
                </a:solidFill>
                <a:latin typeface="Merriweather" panose="00000500000000000000" pitchFamily="2" charset="0"/>
                <a:ea typeface="Arial" pitchFamily="34" charset="-122"/>
                <a:cs typeface="Arial" pitchFamily="34" charset="-120"/>
              </a:rPr>
              <a:t>Transparencia y anclaje local de los datos</a:t>
            </a:r>
            <a:endParaRPr lang="en-US" sz="1890" dirty="0">
              <a:latin typeface="Merriweather" panose="00000500000000000000" pitchFamily="2" charset="0"/>
            </a:endParaRPr>
          </a:p>
        </p:txBody>
      </p:sp>
      <p:pic>
        <p:nvPicPr>
          <p:cNvPr id="42" name="Image 2" descr="preencoded.png">
            <a:extLst>
              <a:ext uri="{FF2B5EF4-FFF2-40B4-BE49-F238E27FC236}">
                <a16:creationId xmlns:a16="http://schemas.microsoft.com/office/drawing/2014/main" id="{B85ED0FF-03C0-9582-9705-C412CCCB6560}"/>
              </a:ext>
            </a:extLst>
          </p:cNvPr>
          <p:cNvPicPr>
            <a:picLocks noChangeAspect="1"/>
          </p:cNvPicPr>
          <p:nvPr/>
        </p:nvPicPr>
        <p:blipFill>
          <a:blip r:embed="rId19"/>
          <a:stretch>
            <a:fillRect/>
          </a:stretch>
        </p:blipFill>
        <p:spPr>
          <a:xfrm>
            <a:off x="-3" y="118084"/>
            <a:ext cx="3413157" cy="2391254"/>
          </a:xfrm>
          <a:prstGeom prst="rect">
            <a:avLst/>
          </a:prstGeom>
        </p:spPr>
      </p:pic>
      <p:pic>
        <p:nvPicPr>
          <p:cNvPr id="44" name="Image 17" descr="preencoded.png">
            <a:extLst>
              <a:ext uri="{FF2B5EF4-FFF2-40B4-BE49-F238E27FC236}">
                <a16:creationId xmlns:a16="http://schemas.microsoft.com/office/drawing/2014/main" id="{AB9F3B74-8D2F-1D3C-5E18-98091B732FCF}"/>
              </a:ext>
            </a:extLst>
          </p:cNvPr>
          <p:cNvPicPr>
            <a:picLocks noChangeAspect="1"/>
          </p:cNvPicPr>
          <p:nvPr/>
        </p:nvPicPr>
        <p:blipFill>
          <a:blip r:embed="rId20"/>
          <a:stretch>
            <a:fillRect/>
          </a:stretch>
        </p:blipFill>
        <p:spPr>
          <a:xfrm>
            <a:off x="0" y="8630397"/>
            <a:ext cx="255122" cy="255122"/>
          </a:xfrm>
          <a:prstGeom prst="rect">
            <a:avLst/>
          </a:prstGeom>
        </p:spPr>
      </p:pic>
      <p:pic>
        <p:nvPicPr>
          <p:cNvPr id="45" name="Image 19" descr="preencoded.png">
            <a:extLst>
              <a:ext uri="{FF2B5EF4-FFF2-40B4-BE49-F238E27FC236}">
                <a16:creationId xmlns:a16="http://schemas.microsoft.com/office/drawing/2014/main" id="{C575B204-E4B0-02FC-70BA-CC8D10F2254D}"/>
              </a:ext>
            </a:extLst>
          </p:cNvPr>
          <p:cNvPicPr>
            <a:picLocks noChangeAspect="1"/>
          </p:cNvPicPr>
          <p:nvPr/>
        </p:nvPicPr>
        <p:blipFill>
          <a:blip r:embed="rId21"/>
          <a:stretch>
            <a:fillRect/>
          </a:stretch>
        </p:blipFill>
        <p:spPr>
          <a:xfrm>
            <a:off x="-3" y="8922001"/>
            <a:ext cx="14400213" cy="90001"/>
          </a:xfrm>
          <a:prstGeom prst="rect">
            <a:avLst/>
          </a:prstGeom>
        </p:spPr>
      </p:pic>
      <p:sp>
        <p:nvSpPr>
          <p:cNvPr id="46" name="Text 11">
            <a:extLst>
              <a:ext uri="{FF2B5EF4-FFF2-40B4-BE49-F238E27FC236}">
                <a16:creationId xmlns:a16="http://schemas.microsoft.com/office/drawing/2014/main" id="{E336B842-85B1-8AC9-1559-A0550B5885A5}"/>
              </a:ext>
            </a:extLst>
          </p:cNvPr>
          <p:cNvSpPr/>
          <p:nvPr/>
        </p:nvSpPr>
        <p:spPr>
          <a:xfrm>
            <a:off x="207474" y="8653151"/>
            <a:ext cx="5380153" cy="372093"/>
          </a:xfrm>
          <a:prstGeom prst="rect">
            <a:avLst/>
          </a:prstGeom>
          <a:noFill/>
          <a:ln/>
        </p:spPr>
        <p:txBody>
          <a:bodyPr wrap="square" lIns="0" tIns="0" rIns="0" bIns="0" rtlCol="0" anchor="t"/>
          <a:lstStyle/>
          <a:p>
            <a:pPr algn="ctr"/>
            <a:r>
              <a:rPr lang="en-US" sz="1654" dirty="0">
                <a:latin typeface="Montserrat" pitchFamily="34" charset="0"/>
                <a:ea typeface="Montserrat" pitchFamily="34" charset="-122"/>
                <a:cs typeface="Montserrat" pitchFamily="34" charset="-120"/>
              </a:rPr>
              <a:t>Universidad de Los Andes | William A. Gutiérrez V.</a:t>
            </a:r>
            <a:endParaRPr lang="en-US" sz="1654" dirty="0"/>
          </a:p>
        </p:txBody>
      </p:sp>
      <p:pic>
        <p:nvPicPr>
          <p:cNvPr id="47" name="Image 4" descr="preencoded.png">
            <a:extLst>
              <a:ext uri="{FF2B5EF4-FFF2-40B4-BE49-F238E27FC236}">
                <a16:creationId xmlns:a16="http://schemas.microsoft.com/office/drawing/2014/main" id="{0C6070C7-BEF1-4487-055B-BE6E9114C416}"/>
              </a:ext>
            </a:extLst>
          </p:cNvPr>
          <p:cNvPicPr>
            <a:picLocks noChangeAspect="1"/>
          </p:cNvPicPr>
          <p:nvPr/>
        </p:nvPicPr>
        <p:blipFill>
          <a:blip r:embed="rId22"/>
          <a:stretch>
            <a:fillRect/>
          </a:stretch>
        </p:blipFill>
        <p:spPr>
          <a:xfrm>
            <a:off x="8948680" y="2774744"/>
            <a:ext cx="3600053" cy="3600053"/>
          </a:xfrm>
          <a:prstGeom prst="rect">
            <a:avLst/>
          </a:prstGeom>
        </p:spPr>
      </p:pic>
      <p:pic>
        <p:nvPicPr>
          <p:cNvPr id="48" name="Image 18" descr="preencoded.png">
            <a:extLst>
              <a:ext uri="{FF2B5EF4-FFF2-40B4-BE49-F238E27FC236}">
                <a16:creationId xmlns:a16="http://schemas.microsoft.com/office/drawing/2014/main" id="{D155330A-A444-F1FF-7882-9E03F8C94F72}"/>
              </a:ext>
            </a:extLst>
          </p:cNvPr>
          <p:cNvPicPr>
            <a:picLocks noChangeAspect="1"/>
          </p:cNvPicPr>
          <p:nvPr/>
        </p:nvPicPr>
        <p:blipFill>
          <a:blip r:embed="rId23"/>
          <a:stretch>
            <a:fillRect/>
          </a:stretch>
        </p:blipFill>
        <p:spPr>
          <a:xfrm>
            <a:off x="-2" y="5329"/>
            <a:ext cx="14400213" cy="900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4577857" y="1183440"/>
            <a:ext cx="1700813" cy="70867"/>
          </a:xfrm>
          <a:prstGeom prst="rect">
            <a:avLst/>
          </a:prstGeom>
          <a:ln>
            <a:solidFill>
              <a:srgbClr val="188E43"/>
            </a:solidFill>
          </a:ln>
        </p:spPr>
      </p:pic>
      <p:pic>
        <p:nvPicPr>
          <p:cNvPr id="5" name="Image 3" descr="preencoded.png"/>
          <p:cNvPicPr>
            <a:picLocks noChangeAspect="1"/>
          </p:cNvPicPr>
          <p:nvPr/>
        </p:nvPicPr>
        <p:blipFill>
          <a:blip r:embed="rId4"/>
          <a:stretch>
            <a:fillRect/>
          </a:stretch>
        </p:blipFill>
        <p:spPr>
          <a:xfrm>
            <a:off x="2340037" y="2159735"/>
            <a:ext cx="9720145" cy="1935029"/>
          </a:xfrm>
          <a:prstGeom prst="rect">
            <a:avLst/>
          </a:prstGeom>
        </p:spPr>
      </p:pic>
      <p:pic>
        <p:nvPicPr>
          <p:cNvPr id="6" name="Image 4" descr="preencoded.png"/>
          <p:cNvPicPr>
            <a:picLocks noChangeAspect="1"/>
          </p:cNvPicPr>
          <p:nvPr/>
        </p:nvPicPr>
        <p:blipFill>
          <a:blip r:embed="rId5"/>
          <a:stretch>
            <a:fillRect/>
          </a:stretch>
        </p:blipFill>
        <p:spPr>
          <a:xfrm>
            <a:off x="816695" y="2447017"/>
            <a:ext cx="540008" cy="540008"/>
          </a:xfrm>
          <a:prstGeom prst="rect">
            <a:avLst/>
          </a:prstGeom>
        </p:spPr>
      </p:pic>
      <p:pic>
        <p:nvPicPr>
          <p:cNvPr id="7" name="Image 5" descr="preencoded.png"/>
          <p:cNvPicPr>
            <a:picLocks noChangeAspect="1"/>
          </p:cNvPicPr>
          <p:nvPr/>
        </p:nvPicPr>
        <p:blipFill>
          <a:blip r:embed="rId6"/>
          <a:stretch>
            <a:fillRect/>
          </a:stretch>
        </p:blipFill>
        <p:spPr>
          <a:xfrm>
            <a:off x="720010" y="4454768"/>
            <a:ext cx="3887987" cy="1485022"/>
          </a:xfrm>
          <a:prstGeom prst="rect">
            <a:avLst/>
          </a:prstGeom>
        </p:spPr>
      </p:pic>
      <p:pic>
        <p:nvPicPr>
          <p:cNvPr id="8" name="Image 6" descr="preencoded.png"/>
          <p:cNvPicPr>
            <a:picLocks noChangeAspect="1"/>
          </p:cNvPicPr>
          <p:nvPr/>
        </p:nvPicPr>
        <p:blipFill>
          <a:blip r:embed="rId7"/>
          <a:stretch>
            <a:fillRect/>
          </a:stretch>
        </p:blipFill>
        <p:spPr>
          <a:xfrm>
            <a:off x="2472751" y="4646021"/>
            <a:ext cx="382506" cy="337505"/>
          </a:xfrm>
          <a:prstGeom prst="rect">
            <a:avLst/>
          </a:prstGeom>
        </p:spPr>
      </p:pic>
      <p:pic>
        <p:nvPicPr>
          <p:cNvPr id="9" name="Image 7" descr="preencoded.png"/>
          <p:cNvPicPr>
            <a:picLocks noChangeAspect="1"/>
          </p:cNvPicPr>
          <p:nvPr/>
        </p:nvPicPr>
        <p:blipFill>
          <a:blip r:embed="rId8"/>
          <a:stretch>
            <a:fillRect/>
          </a:stretch>
        </p:blipFill>
        <p:spPr>
          <a:xfrm>
            <a:off x="5255938" y="4454768"/>
            <a:ext cx="3887987" cy="1485022"/>
          </a:xfrm>
          <a:prstGeom prst="rect">
            <a:avLst/>
          </a:prstGeom>
        </p:spPr>
      </p:pic>
      <p:pic>
        <p:nvPicPr>
          <p:cNvPr id="10" name="Image 8" descr="preencoded.png"/>
          <p:cNvPicPr>
            <a:picLocks noChangeAspect="1"/>
          </p:cNvPicPr>
          <p:nvPr/>
        </p:nvPicPr>
        <p:blipFill>
          <a:blip r:embed="rId9"/>
          <a:stretch>
            <a:fillRect/>
          </a:stretch>
        </p:blipFill>
        <p:spPr>
          <a:xfrm>
            <a:off x="7083207" y="4445449"/>
            <a:ext cx="427506" cy="337505"/>
          </a:xfrm>
          <a:prstGeom prst="rect">
            <a:avLst/>
          </a:prstGeom>
        </p:spPr>
      </p:pic>
      <p:pic>
        <p:nvPicPr>
          <p:cNvPr id="11" name="Image 9" descr="preencoded.png"/>
          <p:cNvPicPr>
            <a:picLocks noChangeAspect="1"/>
          </p:cNvPicPr>
          <p:nvPr/>
        </p:nvPicPr>
        <p:blipFill>
          <a:blip r:embed="rId8"/>
          <a:stretch>
            <a:fillRect/>
          </a:stretch>
        </p:blipFill>
        <p:spPr>
          <a:xfrm>
            <a:off x="9791863" y="4454768"/>
            <a:ext cx="3887987" cy="1485022"/>
          </a:xfrm>
          <a:prstGeom prst="rect">
            <a:avLst/>
          </a:prstGeom>
        </p:spPr>
      </p:pic>
      <p:pic>
        <p:nvPicPr>
          <p:cNvPr id="12" name="Image 10" descr="preencoded.png"/>
          <p:cNvPicPr>
            <a:picLocks noChangeAspect="1"/>
          </p:cNvPicPr>
          <p:nvPr/>
        </p:nvPicPr>
        <p:blipFill>
          <a:blip r:embed="rId10"/>
          <a:stretch>
            <a:fillRect/>
          </a:stretch>
        </p:blipFill>
        <p:spPr>
          <a:xfrm>
            <a:off x="11927462" y="4304753"/>
            <a:ext cx="337505" cy="337505"/>
          </a:xfrm>
          <a:prstGeom prst="rect">
            <a:avLst/>
          </a:prstGeom>
        </p:spPr>
      </p:pic>
      <p:pic>
        <p:nvPicPr>
          <p:cNvPr id="13" name="Image 11" descr="preencoded.png"/>
          <p:cNvPicPr>
            <a:picLocks noChangeAspect="1"/>
          </p:cNvPicPr>
          <p:nvPr/>
        </p:nvPicPr>
        <p:blipFill>
          <a:blip r:embed="rId11"/>
          <a:stretch>
            <a:fillRect/>
          </a:stretch>
        </p:blipFill>
        <p:spPr>
          <a:xfrm>
            <a:off x="456237" y="6698933"/>
            <a:ext cx="6220815" cy="1802280"/>
          </a:xfrm>
          <a:prstGeom prst="rect">
            <a:avLst/>
          </a:prstGeom>
        </p:spPr>
      </p:pic>
      <p:pic>
        <p:nvPicPr>
          <p:cNvPr id="14" name="Image 12" descr="preencoded.png"/>
          <p:cNvPicPr>
            <a:picLocks noChangeAspect="1"/>
          </p:cNvPicPr>
          <p:nvPr/>
        </p:nvPicPr>
        <p:blipFill>
          <a:blip r:embed="rId12"/>
          <a:stretch>
            <a:fillRect/>
          </a:stretch>
        </p:blipFill>
        <p:spPr>
          <a:xfrm>
            <a:off x="636235" y="6923936"/>
            <a:ext cx="225003" cy="225003"/>
          </a:xfrm>
          <a:prstGeom prst="rect">
            <a:avLst/>
          </a:prstGeom>
        </p:spPr>
      </p:pic>
      <p:pic>
        <p:nvPicPr>
          <p:cNvPr id="15" name="Image 13" descr="preencoded.png"/>
          <p:cNvPicPr>
            <a:picLocks noChangeAspect="1"/>
          </p:cNvPicPr>
          <p:nvPr/>
        </p:nvPicPr>
        <p:blipFill>
          <a:blip r:embed="rId11"/>
          <a:stretch>
            <a:fillRect/>
          </a:stretch>
        </p:blipFill>
        <p:spPr>
          <a:xfrm>
            <a:off x="7554545" y="6602873"/>
            <a:ext cx="6702589" cy="2205033"/>
          </a:xfrm>
          <a:prstGeom prst="rect">
            <a:avLst/>
          </a:prstGeom>
        </p:spPr>
      </p:pic>
      <p:pic>
        <p:nvPicPr>
          <p:cNvPr id="16" name="Image 14" descr="preencoded.png"/>
          <p:cNvPicPr>
            <a:picLocks noChangeAspect="1"/>
          </p:cNvPicPr>
          <p:nvPr/>
        </p:nvPicPr>
        <p:blipFill>
          <a:blip r:embed="rId13"/>
          <a:stretch>
            <a:fillRect/>
          </a:stretch>
        </p:blipFill>
        <p:spPr>
          <a:xfrm>
            <a:off x="7734547" y="6827876"/>
            <a:ext cx="168752" cy="225003"/>
          </a:xfrm>
          <a:prstGeom prst="rect">
            <a:avLst/>
          </a:prstGeom>
        </p:spPr>
      </p:pic>
      <p:sp>
        <p:nvSpPr>
          <p:cNvPr id="17" name="Text 0"/>
          <p:cNvSpPr/>
          <p:nvPr/>
        </p:nvSpPr>
        <p:spPr>
          <a:xfrm>
            <a:off x="525009" y="424395"/>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a:t>
            </a:r>
            <a:endParaRPr lang="en-US" sz="1594" dirty="0">
              <a:latin typeface="Montserrat" panose="00000500000000000000" pitchFamily="2" charset="0"/>
            </a:endParaRPr>
          </a:p>
        </p:txBody>
      </p:sp>
      <p:sp>
        <p:nvSpPr>
          <p:cNvPr id="18" name="Text 1"/>
          <p:cNvSpPr/>
          <p:nvPr/>
        </p:nvSpPr>
        <p:spPr>
          <a:xfrm>
            <a:off x="3413678" y="689716"/>
            <a:ext cx="11021500" cy="444383"/>
          </a:xfrm>
          <a:prstGeom prst="rect">
            <a:avLst/>
          </a:prstGeom>
          <a:noFill/>
          <a:ln/>
        </p:spPr>
        <p:txBody>
          <a:bodyPr wrap="square" lIns="0" tIns="0" rIns="0" bIns="0" rtlCol="0" anchor="t"/>
          <a:lstStyle/>
          <a:p>
            <a:pPr algn="ctr">
              <a:lnSpc>
                <a:spcPts val="3543"/>
              </a:lnSpc>
            </a:pPr>
            <a:r>
              <a:rPr lang="en-US" sz="3543" b="1" dirty="0">
                <a:solidFill>
                  <a:schemeClr val="tx1">
                    <a:lumMod val="95000"/>
                    <a:lumOff val="5000"/>
                  </a:schemeClr>
                </a:solidFill>
                <a:latin typeface="Montserrat" panose="00000500000000000000" pitchFamily="2" charset="0"/>
                <a:ea typeface="EB Garamond" pitchFamily="34" charset="-122"/>
                <a:cs typeface="EB Garamond" pitchFamily="34" charset="-120"/>
              </a:rPr>
              <a:t>Objetivo General de la Investigación</a:t>
            </a:r>
            <a:endParaRPr lang="en-US" sz="3543" dirty="0">
              <a:solidFill>
                <a:schemeClr val="tx1">
                  <a:lumMod val="95000"/>
                  <a:lumOff val="5000"/>
                </a:schemeClr>
              </a:solidFill>
              <a:latin typeface="Montserrat" panose="00000500000000000000" pitchFamily="2" charset="0"/>
            </a:endParaRPr>
          </a:p>
        </p:txBody>
      </p:sp>
      <p:sp>
        <p:nvSpPr>
          <p:cNvPr id="19" name="Text 2"/>
          <p:cNvSpPr/>
          <p:nvPr/>
        </p:nvSpPr>
        <p:spPr>
          <a:xfrm>
            <a:off x="1086699" y="1874443"/>
            <a:ext cx="7151398" cy="459382"/>
          </a:xfrm>
          <a:prstGeom prst="rect">
            <a:avLst/>
          </a:prstGeom>
          <a:noFill/>
          <a:ln/>
        </p:spPr>
        <p:txBody>
          <a:bodyPr wrap="square" lIns="0" tIns="0" rIns="0" bIns="0" rtlCol="0" anchor="t"/>
          <a:lstStyle/>
          <a:p>
            <a:pPr algn="ctr">
              <a:lnSpc>
                <a:spcPts val="2835"/>
              </a:lnSpc>
            </a:pPr>
            <a:r>
              <a:rPr lang="en-US" sz="3189" b="1" dirty="0">
                <a:solidFill>
                  <a:srgbClr val="1BA04C"/>
                </a:solidFill>
                <a:latin typeface="Merriweather" panose="00000500000000000000" pitchFamily="2" charset="0"/>
                <a:ea typeface="EB Garamond" pitchFamily="34" charset="-122"/>
                <a:cs typeface="EB Garamond" pitchFamily="34" charset="-120"/>
              </a:rPr>
              <a:t>Elaborar un Modelo Cuantitativo</a:t>
            </a:r>
            <a:endParaRPr lang="en-US" sz="3189" dirty="0">
              <a:solidFill>
                <a:srgbClr val="1BA04C"/>
              </a:solidFill>
              <a:latin typeface="Merriweather" panose="00000500000000000000" pitchFamily="2" charset="0"/>
            </a:endParaRPr>
          </a:p>
        </p:txBody>
      </p:sp>
      <p:sp>
        <p:nvSpPr>
          <p:cNvPr id="20" name="Text 3"/>
          <p:cNvSpPr/>
          <p:nvPr/>
        </p:nvSpPr>
        <p:spPr>
          <a:xfrm>
            <a:off x="1369012" y="2294736"/>
            <a:ext cx="12899821" cy="2250034"/>
          </a:xfrm>
          <a:prstGeom prst="rect">
            <a:avLst/>
          </a:prstGeom>
          <a:noFill/>
          <a:ln/>
        </p:spPr>
        <p:txBody>
          <a:bodyPr wrap="square" lIns="0" tIns="0" rIns="0" bIns="0" rtlCol="0" anchor="t"/>
          <a:lstStyle/>
          <a:p>
            <a:pPr algn="just"/>
            <a:r>
              <a:rPr lang="en-US" sz="3189" dirty="0">
                <a:solidFill>
                  <a:srgbClr val="212529"/>
                </a:solidFill>
                <a:latin typeface="Merriweather" panose="00000500000000000000" pitchFamily="2" charset="0"/>
                <a:ea typeface="Arial" pitchFamily="34" charset="-122"/>
                <a:cs typeface="Arial" pitchFamily="34" charset="-120"/>
              </a:rPr>
              <a:t>Para evaluar la efectividad de las Agendas Concretas de Acción (ACA) en la resolución de nudos críticos en las comunas del Estado Mérida, con el fin de mejorar la planificación territorial y la transparencia en la rendición de cuentas.</a:t>
            </a:r>
            <a:endParaRPr lang="en-US" sz="3189" dirty="0">
              <a:latin typeface="Merriweather" panose="00000500000000000000" pitchFamily="2" charset="0"/>
            </a:endParaRPr>
          </a:p>
        </p:txBody>
      </p:sp>
      <p:sp>
        <p:nvSpPr>
          <p:cNvPr id="21" name="Text 4"/>
          <p:cNvSpPr/>
          <p:nvPr/>
        </p:nvSpPr>
        <p:spPr>
          <a:xfrm>
            <a:off x="525009" y="5129778"/>
            <a:ext cx="4307993" cy="315005"/>
          </a:xfrm>
          <a:prstGeom prst="rect">
            <a:avLst/>
          </a:prstGeom>
          <a:noFill/>
          <a:ln/>
        </p:spPr>
        <p:txBody>
          <a:bodyPr wrap="square" lIns="0" tIns="0" rIns="0" bIns="0" rtlCol="0" anchor="t"/>
          <a:lstStyle/>
          <a:p>
            <a:pPr algn="ctr">
              <a:lnSpc>
                <a:spcPts val="2480"/>
              </a:lnSpc>
            </a:pPr>
            <a:r>
              <a:rPr lang="en-US" sz="2611" b="1" dirty="0">
                <a:solidFill>
                  <a:srgbClr val="1BA04C"/>
                </a:solidFill>
                <a:latin typeface="Montserrat" panose="00000500000000000000" pitchFamily="2" charset="0"/>
                <a:ea typeface="EB Garamond" pitchFamily="34" charset="-122"/>
                <a:cs typeface="EB Garamond" pitchFamily="34" charset="-120"/>
              </a:rPr>
              <a:t>Correlación de Spearman</a:t>
            </a:r>
            <a:endParaRPr lang="en-US" sz="2611" dirty="0">
              <a:solidFill>
                <a:srgbClr val="1BA04C"/>
              </a:solidFill>
              <a:latin typeface="Montserrat" panose="00000500000000000000" pitchFamily="2" charset="0"/>
            </a:endParaRPr>
          </a:p>
        </p:txBody>
      </p:sp>
      <p:sp>
        <p:nvSpPr>
          <p:cNvPr id="22" name="Text 5"/>
          <p:cNvSpPr/>
          <p:nvPr/>
        </p:nvSpPr>
        <p:spPr>
          <a:xfrm>
            <a:off x="951243" y="5807301"/>
            <a:ext cx="3813385" cy="801629"/>
          </a:xfrm>
          <a:prstGeom prst="rect">
            <a:avLst/>
          </a:prstGeom>
          <a:noFill/>
          <a:ln/>
        </p:spPr>
        <p:txBody>
          <a:bodyPr wrap="square" lIns="0" tIns="0" rIns="0" bIns="0" rtlCol="0" anchor="t"/>
          <a:lstStyle/>
          <a:p>
            <a:pPr algn="ctr"/>
            <a:r>
              <a:rPr lang="en-US" sz="2611" dirty="0">
                <a:solidFill>
                  <a:srgbClr val="212529"/>
                </a:solidFill>
                <a:latin typeface="Merriweather" panose="00000500000000000000" pitchFamily="2" charset="0"/>
                <a:ea typeface="Arial" pitchFamily="34" charset="-122"/>
                <a:cs typeface="Arial" pitchFamily="34" charset="-120"/>
              </a:rPr>
              <a:t>Medir la relación entre proyectos y resultados</a:t>
            </a:r>
            <a:endParaRPr lang="en-US" sz="2611" dirty="0">
              <a:latin typeface="Merriweather" panose="00000500000000000000" pitchFamily="2" charset="0"/>
            </a:endParaRPr>
          </a:p>
        </p:txBody>
      </p:sp>
      <p:sp>
        <p:nvSpPr>
          <p:cNvPr id="23" name="Text 6"/>
          <p:cNvSpPr/>
          <p:nvPr/>
        </p:nvSpPr>
        <p:spPr>
          <a:xfrm>
            <a:off x="5665714" y="5027849"/>
            <a:ext cx="3530349" cy="403492"/>
          </a:xfrm>
          <a:prstGeom prst="rect">
            <a:avLst/>
          </a:prstGeom>
          <a:noFill/>
          <a:ln/>
        </p:spPr>
        <p:txBody>
          <a:bodyPr wrap="square" lIns="0" tIns="0" rIns="0" bIns="0" rtlCol="0" anchor="t"/>
          <a:lstStyle/>
          <a:p>
            <a:pPr algn="ctr">
              <a:lnSpc>
                <a:spcPts val="2480"/>
              </a:lnSpc>
            </a:pPr>
            <a:r>
              <a:rPr lang="en-US" sz="2611" b="1" dirty="0">
                <a:solidFill>
                  <a:srgbClr val="1BA04C"/>
                </a:solidFill>
                <a:latin typeface="Montserrat" panose="00000500000000000000" pitchFamily="2" charset="0"/>
                <a:ea typeface="EB Garamond" pitchFamily="34" charset="-122"/>
                <a:cs typeface="EB Garamond" pitchFamily="34" charset="-120"/>
              </a:rPr>
              <a:t>Índice de Shannon</a:t>
            </a:r>
            <a:endParaRPr lang="en-US" sz="2611" dirty="0">
              <a:solidFill>
                <a:srgbClr val="1BA04C"/>
              </a:solidFill>
              <a:latin typeface="Montserrat" panose="00000500000000000000" pitchFamily="2" charset="0"/>
            </a:endParaRPr>
          </a:p>
        </p:txBody>
      </p:sp>
      <p:sp>
        <p:nvSpPr>
          <p:cNvPr id="24" name="Text 7"/>
          <p:cNvSpPr/>
          <p:nvPr/>
        </p:nvSpPr>
        <p:spPr>
          <a:xfrm>
            <a:off x="5665715" y="5363453"/>
            <a:ext cx="3530349" cy="1220401"/>
          </a:xfrm>
          <a:prstGeom prst="rect">
            <a:avLst/>
          </a:prstGeom>
          <a:noFill/>
          <a:ln/>
        </p:spPr>
        <p:txBody>
          <a:bodyPr wrap="square" lIns="0" tIns="0" rIns="0" bIns="0" rtlCol="0" anchor="t"/>
          <a:lstStyle/>
          <a:p>
            <a:pPr algn="ctr"/>
            <a:r>
              <a:rPr lang="en-US" sz="2611" dirty="0">
                <a:solidFill>
                  <a:srgbClr val="212529"/>
                </a:solidFill>
                <a:latin typeface="Merriweather" panose="00000500000000000000" pitchFamily="2" charset="0"/>
                <a:ea typeface="Arial" pitchFamily="34" charset="-122"/>
                <a:cs typeface="Arial" pitchFamily="34" charset="-120"/>
              </a:rPr>
              <a:t>Cuantificar complejidad de redes institucionales</a:t>
            </a:r>
            <a:endParaRPr lang="en-US" sz="2611" dirty="0">
              <a:latin typeface="Merriweather" panose="00000500000000000000" pitchFamily="2" charset="0"/>
            </a:endParaRPr>
          </a:p>
        </p:txBody>
      </p:sp>
      <p:sp>
        <p:nvSpPr>
          <p:cNvPr id="25" name="Text 8"/>
          <p:cNvSpPr/>
          <p:nvPr/>
        </p:nvSpPr>
        <p:spPr>
          <a:xfrm>
            <a:off x="10014645" y="4754759"/>
            <a:ext cx="4231923" cy="617067"/>
          </a:xfrm>
          <a:prstGeom prst="rect">
            <a:avLst/>
          </a:prstGeom>
          <a:noFill/>
          <a:ln/>
        </p:spPr>
        <p:txBody>
          <a:bodyPr wrap="square" lIns="0" tIns="0" rIns="0" bIns="0" rtlCol="0" anchor="t"/>
          <a:lstStyle/>
          <a:p>
            <a:pPr algn="ctr">
              <a:lnSpc>
                <a:spcPts val="2480"/>
              </a:lnSpc>
            </a:pPr>
            <a:r>
              <a:rPr lang="en-US" sz="2611" b="1" dirty="0">
                <a:solidFill>
                  <a:srgbClr val="1BA04C"/>
                </a:solidFill>
                <a:latin typeface="Montserrat" panose="00000500000000000000" pitchFamily="2" charset="0"/>
                <a:ea typeface="EB Garamond" pitchFamily="34" charset="-122"/>
                <a:cs typeface="EB Garamond" pitchFamily="34" charset="-120"/>
              </a:rPr>
              <a:t>Validación Descentralizada</a:t>
            </a:r>
            <a:endParaRPr lang="en-US" sz="2611" dirty="0">
              <a:solidFill>
                <a:srgbClr val="1BA04C"/>
              </a:solidFill>
              <a:latin typeface="Montserrat" panose="00000500000000000000" pitchFamily="2" charset="0"/>
            </a:endParaRPr>
          </a:p>
        </p:txBody>
      </p:sp>
      <p:sp>
        <p:nvSpPr>
          <p:cNvPr id="26" name="Text 9"/>
          <p:cNvSpPr/>
          <p:nvPr/>
        </p:nvSpPr>
        <p:spPr>
          <a:xfrm>
            <a:off x="10400287" y="5357067"/>
            <a:ext cx="3319783" cy="1220401"/>
          </a:xfrm>
          <a:prstGeom prst="rect">
            <a:avLst/>
          </a:prstGeom>
          <a:noFill/>
          <a:ln/>
        </p:spPr>
        <p:txBody>
          <a:bodyPr wrap="square" lIns="0" tIns="0" rIns="0" bIns="0" rtlCol="0" anchor="t"/>
          <a:lstStyle/>
          <a:p>
            <a:pPr algn="ctr"/>
            <a:r>
              <a:rPr lang="en-US" sz="2611" dirty="0">
                <a:solidFill>
                  <a:srgbClr val="212529"/>
                </a:solidFill>
                <a:latin typeface="Merriweather" panose="00000500000000000000" pitchFamily="2" charset="0"/>
                <a:ea typeface="Arial" pitchFamily="34" charset="-122"/>
                <a:cs typeface="Arial" pitchFamily="34" charset="-120"/>
              </a:rPr>
              <a:t>Garantizar transparencia y anclaje local</a:t>
            </a:r>
            <a:endParaRPr lang="en-US" sz="2611" dirty="0">
              <a:latin typeface="Merriweather" panose="00000500000000000000" pitchFamily="2" charset="0"/>
            </a:endParaRPr>
          </a:p>
        </p:txBody>
      </p:sp>
      <p:sp>
        <p:nvSpPr>
          <p:cNvPr id="27" name="Text 10"/>
          <p:cNvSpPr/>
          <p:nvPr/>
        </p:nvSpPr>
        <p:spPr>
          <a:xfrm>
            <a:off x="951243" y="6878935"/>
            <a:ext cx="6702589" cy="315005"/>
          </a:xfrm>
          <a:prstGeom prst="rect">
            <a:avLst/>
          </a:prstGeom>
          <a:noFill/>
          <a:ln/>
        </p:spPr>
        <p:txBody>
          <a:bodyPr wrap="square" lIns="0" tIns="0" rIns="0" bIns="0" rtlCol="0" anchor="t"/>
          <a:lstStyle/>
          <a:p>
            <a:pPr>
              <a:lnSpc>
                <a:spcPts val="2480"/>
              </a:lnSpc>
            </a:pPr>
            <a:r>
              <a:rPr lang="en-US" sz="1772" b="1" dirty="0">
                <a:solidFill>
                  <a:srgbClr val="003366"/>
                </a:solidFill>
                <a:latin typeface="Montserrat" panose="00000500000000000000" pitchFamily="2" charset="0"/>
                <a:ea typeface="EB Garamond" pitchFamily="34" charset="-122"/>
                <a:cs typeface="EB Garamond" pitchFamily="34" charset="-120"/>
              </a:rPr>
              <a:t>Resultados Esperados</a:t>
            </a:r>
            <a:endParaRPr lang="en-US" sz="1772" dirty="0">
              <a:latin typeface="Montserrat" panose="00000500000000000000" pitchFamily="2" charset="0"/>
            </a:endParaRPr>
          </a:p>
        </p:txBody>
      </p:sp>
      <p:sp>
        <p:nvSpPr>
          <p:cNvPr id="28" name="Text 11"/>
          <p:cNvSpPr/>
          <p:nvPr/>
        </p:nvSpPr>
        <p:spPr>
          <a:xfrm>
            <a:off x="681237" y="7283943"/>
            <a:ext cx="6978970" cy="363527"/>
          </a:xfrm>
          <a:prstGeom prst="rect">
            <a:avLst/>
          </a:prstGeom>
          <a:noFill/>
          <a:ln/>
        </p:spPr>
        <p:txBody>
          <a:bodyPr wrap="square" lIns="0" tIns="0" rIns="0" bIns="0" rtlCol="0" anchor="t"/>
          <a:lstStyle/>
          <a:p>
            <a:pPr marL="404999" indent="-404999">
              <a:lnSpc>
                <a:spcPts val="2126"/>
              </a:lnSpc>
              <a:buSzPct val="100000"/>
              <a:buChar char="•"/>
            </a:pPr>
            <a:r>
              <a:rPr lang="en-US" sz="2008" dirty="0">
                <a:solidFill>
                  <a:srgbClr val="212529"/>
                </a:solidFill>
                <a:latin typeface="Merriweather" panose="00000500000000000000" pitchFamily="2" charset="0"/>
                <a:ea typeface="Arial" pitchFamily="34" charset="-122"/>
                <a:cs typeface="Arial" pitchFamily="34" charset="-120"/>
              </a:rPr>
              <a:t>Superar la opacidad documental actual</a:t>
            </a:r>
            <a:endParaRPr lang="en-US" sz="2008" dirty="0">
              <a:latin typeface="Merriweather" panose="00000500000000000000" pitchFamily="2" charset="0"/>
            </a:endParaRPr>
          </a:p>
        </p:txBody>
      </p:sp>
      <p:sp>
        <p:nvSpPr>
          <p:cNvPr id="29" name="Text 12"/>
          <p:cNvSpPr/>
          <p:nvPr/>
        </p:nvSpPr>
        <p:spPr>
          <a:xfrm>
            <a:off x="681237" y="7598946"/>
            <a:ext cx="6978970" cy="363527"/>
          </a:xfrm>
          <a:prstGeom prst="rect">
            <a:avLst/>
          </a:prstGeom>
          <a:noFill/>
          <a:ln/>
        </p:spPr>
        <p:txBody>
          <a:bodyPr wrap="square" lIns="0" tIns="0" rIns="0" bIns="0" rtlCol="0" anchor="t"/>
          <a:lstStyle/>
          <a:p>
            <a:pPr marL="404999" indent="-404999">
              <a:lnSpc>
                <a:spcPts val="2126"/>
              </a:lnSpc>
              <a:buSzPct val="100000"/>
              <a:buChar char="•"/>
            </a:pPr>
            <a:r>
              <a:rPr lang="en-US" sz="2008" dirty="0">
                <a:solidFill>
                  <a:srgbClr val="212529"/>
                </a:solidFill>
                <a:latin typeface="Merriweather" panose="00000500000000000000" pitchFamily="2" charset="0"/>
                <a:ea typeface="Arial" pitchFamily="34" charset="-122"/>
                <a:cs typeface="Arial" pitchFamily="34" charset="-120"/>
              </a:rPr>
              <a:t>Generar indicadores de impacto replicables</a:t>
            </a:r>
            <a:endParaRPr lang="en-US" sz="2008" dirty="0">
              <a:latin typeface="Merriweather" panose="00000500000000000000" pitchFamily="2" charset="0"/>
            </a:endParaRPr>
          </a:p>
        </p:txBody>
      </p:sp>
      <p:sp>
        <p:nvSpPr>
          <p:cNvPr id="30" name="Text 13"/>
          <p:cNvSpPr/>
          <p:nvPr/>
        </p:nvSpPr>
        <p:spPr>
          <a:xfrm>
            <a:off x="681237" y="7913952"/>
            <a:ext cx="5995811" cy="460319"/>
          </a:xfrm>
          <a:prstGeom prst="rect">
            <a:avLst/>
          </a:prstGeom>
          <a:noFill/>
          <a:ln/>
        </p:spPr>
        <p:txBody>
          <a:bodyPr wrap="square" lIns="0" tIns="0" rIns="0" bIns="0" rtlCol="0" anchor="t"/>
          <a:lstStyle/>
          <a:p>
            <a:pPr marL="404999" indent="-404999">
              <a:lnSpc>
                <a:spcPts val="2126"/>
              </a:lnSpc>
              <a:buSzPct val="100000"/>
              <a:buChar char="•"/>
            </a:pPr>
            <a:r>
              <a:rPr lang="en-US" sz="2008" dirty="0">
                <a:solidFill>
                  <a:srgbClr val="212529"/>
                </a:solidFill>
                <a:latin typeface="Merriweather" panose="00000500000000000000" pitchFamily="2" charset="0"/>
                <a:ea typeface="Arial" pitchFamily="34" charset="-122"/>
                <a:cs typeface="Arial" pitchFamily="34" charset="-120"/>
              </a:rPr>
              <a:t>Mejorar la toma de decisiones en planificación pública</a:t>
            </a:r>
            <a:endParaRPr lang="en-US" sz="2008" dirty="0">
              <a:latin typeface="Merriweather" panose="00000500000000000000" pitchFamily="2" charset="0"/>
            </a:endParaRPr>
          </a:p>
        </p:txBody>
      </p:sp>
      <p:sp>
        <p:nvSpPr>
          <p:cNvPr id="31" name="Text 14"/>
          <p:cNvSpPr/>
          <p:nvPr/>
        </p:nvSpPr>
        <p:spPr>
          <a:xfrm>
            <a:off x="7993303" y="6782875"/>
            <a:ext cx="6263832" cy="330155"/>
          </a:xfrm>
          <a:prstGeom prst="rect">
            <a:avLst/>
          </a:prstGeom>
          <a:noFill/>
          <a:ln/>
        </p:spPr>
        <p:txBody>
          <a:bodyPr wrap="square" lIns="0" tIns="0" rIns="0" bIns="0" rtlCol="0" anchor="t"/>
          <a:lstStyle/>
          <a:p>
            <a:pPr>
              <a:lnSpc>
                <a:spcPts val="2480"/>
              </a:lnSpc>
            </a:pPr>
            <a:r>
              <a:rPr lang="en-US" sz="1890" b="1" dirty="0">
                <a:solidFill>
                  <a:srgbClr val="003366"/>
                </a:solidFill>
                <a:latin typeface="Montserrat" panose="00000500000000000000" pitchFamily="2" charset="0"/>
                <a:ea typeface="EB Garamond" pitchFamily="34" charset="-122"/>
                <a:cs typeface="EB Garamond" pitchFamily="34" charset="-120"/>
              </a:rPr>
              <a:t>Impacto Esperado</a:t>
            </a:r>
            <a:endParaRPr lang="en-US" sz="1890" dirty="0">
              <a:latin typeface="Montserrat" panose="00000500000000000000" pitchFamily="2" charset="0"/>
            </a:endParaRPr>
          </a:p>
        </p:txBody>
      </p:sp>
      <p:sp>
        <p:nvSpPr>
          <p:cNvPr id="32" name="Text 15"/>
          <p:cNvSpPr/>
          <p:nvPr/>
        </p:nvSpPr>
        <p:spPr>
          <a:xfrm>
            <a:off x="7779546" y="7187883"/>
            <a:ext cx="6978970" cy="270004"/>
          </a:xfrm>
          <a:prstGeom prst="rect">
            <a:avLst/>
          </a:prstGeom>
          <a:noFill/>
          <a:ln/>
        </p:spPr>
        <p:txBody>
          <a:bodyPr wrap="square" lIns="0" tIns="0" rIns="0" bIns="0" rtlCol="0" anchor="t"/>
          <a:lstStyle/>
          <a:p>
            <a:pPr marL="404999" indent="-404999">
              <a:lnSpc>
                <a:spcPts val="2126"/>
              </a:lnSpc>
              <a:buSzPct val="100000"/>
              <a:buChar char="•"/>
            </a:pPr>
            <a:r>
              <a:rPr lang="en-US" sz="2008" dirty="0">
                <a:solidFill>
                  <a:srgbClr val="212529"/>
                </a:solidFill>
                <a:latin typeface="Merriweather" panose="00000500000000000000" pitchFamily="2" charset="0"/>
                <a:ea typeface="Arial" pitchFamily="34" charset="-122"/>
                <a:cs typeface="Arial" pitchFamily="34" charset="-120"/>
              </a:rPr>
              <a:t>Conectar planificación con ejecución</a:t>
            </a:r>
            <a:endParaRPr lang="en-US" sz="2008" dirty="0">
              <a:latin typeface="Merriweather" panose="00000500000000000000" pitchFamily="2" charset="0"/>
            </a:endParaRPr>
          </a:p>
        </p:txBody>
      </p:sp>
      <p:sp>
        <p:nvSpPr>
          <p:cNvPr id="33" name="Text 16"/>
          <p:cNvSpPr/>
          <p:nvPr/>
        </p:nvSpPr>
        <p:spPr>
          <a:xfrm>
            <a:off x="7779549" y="7502886"/>
            <a:ext cx="5770806" cy="634618"/>
          </a:xfrm>
          <a:prstGeom prst="rect">
            <a:avLst/>
          </a:prstGeom>
          <a:noFill/>
          <a:ln/>
        </p:spPr>
        <p:txBody>
          <a:bodyPr wrap="square" lIns="0" tIns="0" rIns="0" bIns="0" rtlCol="0" anchor="t"/>
          <a:lstStyle/>
          <a:p>
            <a:pPr marL="404999" indent="-404999">
              <a:lnSpc>
                <a:spcPts val="2126"/>
              </a:lnSpc>
              <a:buSzPct val="100000"/>
              <a:buChar char="•"/>
            </a:pPr>
            <a:r>
              <a:rPr lang="en-US" sz="2008" dirty="0">
                <a:solidFill>
                  <a:srgbClr val="212529"/>
                </a:solidFill>
                <a:latin typeface="Merriweather" panose="00000500000000000000" pitchFamily="2" charset="0"/>
                <a:ea typeface="Arial" pitchFamily="34" charset="-122"/>
                <a:cs typeface="Arial" pitchFamily="34" charset="-120"/>
              </a:rPr>
              <a:t>Aumentar la transparencia en cuentas públicas</a:t>
            </a:r>
            <a:endParaRPr lang="en-US" sz="2008" dirty="0">
              <a:latin typeface="Merriweather" panose="00000500000000000000" pitchFamily="2" charset="0"/>
            </a:endParaRPr>
          </a:p>
        </p:txBody>
      </p:sp>
      <p:sp>
        <p:nvSpPr>
          <p:cNvPr id="34" name="Text 17"/>
          <p:cNvSpPr/>
          <p:nvPr/>
        </p:nvSpPr>
        <p:spPr>
          <a:xfrm>
            <a:off x="7779548" y="8137504"/>
            <a:ext cx="5995812" cy="670401"/>
          </a:xfrm>
          <a:prstGeom prst="rect">
            <a:avLst/>
          </a:prstGeom>
          <a:noFill/>
          <a:ln/>
        </p:spPr>
        <p:txBody>
          <a:bodyPr wrap="square" lIns="0" tIns="0" rIns="0" bIns="0" rtlCol="0" anchor="t"/>
          <a:lstStyle/>
          <a:p>
            <a:pPr marL="404999" indent="-404999">
              <a:lnSpc>
                <a:spcPts val="2126"/>
              </a:lnSpc>
              <a:buSzPct val="100000"/>
              <a:buChar char="•"/>
            </a:pPr>
            <a:r>
              <a:rPr lang="en-US" sz="2008" dirty="0">
                <a:solidFill>
                  <a:srgbClr val="212529"/>
                </a:solidFill>
                <a:latin typeface="Merriweather" panose="00000500000000000000" pitchFamily="2" charset="0"/>
                <a:ea typeface="Arial" pitchFamily="34" charset="-122"/>
                <a:cs typeface="Arial" pitchFamily="34" charset="-120"/>
              </a:rPr>
              <a:t>Restaurar la confianza ciudadana en procesos participativos</a:t>
            </a:r>
            <a:endParaRPr lang="en-US" sz="2008" dirty="0">
              <a:latin typeface="Merriweather" panose="00000500000000000000" pitchFamily="2" charset="0"/>
            </a:endParaRPr>
          </a:p>
        </p:txBody>
      </p:sp>
      <p:pic>
        <p:nvPicPr>
          <p:cNvPr id="37" name="Image 17" descr="preencoded.png">
            <a:extLst>
              <a:ext uri="{FF2B5EF4-FFF2-40B4-BE49-F238E27FC236}">
                <a16:creationId xmlns:a16="http://schemas.microsoft.com/office/drawing/2014/main" id="{DE8DABF7-3495-C47B-40A1-84126188B0BC}"/>
              </a:ext>
            </a:extLst>
          </p:cNvPr>
          <p:cNvPicPr>
            <a:picLocks noChangeAspect="1"/>
          </p:cNvPicPr>
          <p:nvPr/>
        </p:nvPicPr>
        <p:blipFill>
          <a:blip r:embed="rId14"/>
          <a:stretch>
            <a:fillRect/>
          </a:stretch>
        </p:blipFill>
        <p:spPr>
          <a:xfrm>
            <a:off x="49221" y="8667808"/>
            <a:ext cx="255122" cy="255122"/>
          </a:xfrm>
          <a:prstGeom prst="rect">
            <a:avLst/>
          </a:prstGeom>
        </p:spPr>
      </p:pic>
      <p:pic>
        <p:nvPicPr>
          <p:cNvPr id="38" name="Image 19" descr="preencoded.png">
            <a:extLst>
              <a:ext uri="{FF2B5EF4-FFF2-40B4-BE49-F238E27FC236}">
                <a16:creationId xmlns:a16="http://schemas.microsoft.com/office/drawing/2014/main" id="{E5E95C44-2D3D-FC7F-924E-B3EE32434F44}"/>
              </a:ext>
            </a:extLst>
          </p:cNvPr>
          <p:cNvPicPr>
            <a:picLocks noChangeAspect="1"/>
          </p:cNvPicPr>
          <p:nvPr/>
        </p:nvPicPr>
        <p:blipFill>
          <a:blip r:embed="rId15"/>
          <a:stretch>
            <a:fillRect/>
          </a:stretch>
        </p:blipFill>
        <p:spPr>
          <a:xfrm>
            <a:off x="-1" y="8944429"/>
            <a:ext cx="14400213" cy="90001"/>
          </a:xfrm>
          <a:prstGeom prst="rect">
            <a:avLst/>
          </a:prstGeom>
        </p:spPr>
      </p:pic>
      <p:sp>
        <p:nvSpPr>
          <p:cNvPr id="39" name="Text 11">
            <a:extLst>
              <a:ext uri="{FF2B5EF4-FFF2-40B4-BE49-F238E27FC236}">
                <a16:creationId xmlns:a16="http://schemas.microsoft.com/office/drawing/2014/main" id="{6503CB71-DBCA-83B3-D01F-9D012B7CDA26}"/>
              </a:ext>
            </a:extLst>
          </p:cNvPr>
          <p:cNvSpPr/>
          <p:nvPr/>
        </p:nvSpPr>
        <p:spPr>
          <a:xfrm>
            <a:off x="304343" y="8671384"/>
            <a:ext cx="5380153" cy="372093"/>
          </a:xfrm>
          <a:prstGeom prst="rect">
            <a:avLst/>
          </a:prstGeom>
          <a:noFill/>
          <a:ln/>
        </p:spPr>
        <p:txBody>
          <a:bodyPr wrap="square" lIns="0" tIns="0" rIns="0" bIns="0" rtlCol="0" anchor="t"/>
          <a:lstStyle/>
          <a:p>
            <a:pPr algn="ctr"/>
            <a:r>
              <a:rPr lang="en-US" sz="1654" dirty="0">
                <a:latin typeface="Montserrat" pitchFamily="34" charset="0"/>
                <a:ea typeface="Montserrat" pitchFamily="34" charset="-122"/>
                <a:cs typeface="Montserrat" pitchFamily="34" charset="-120"/>
              </a:rPr>
              <a:t>Universidad de Los Andes | William A. Gutiérrez V.</a:t>
            </a:r>
            <a:endParaRPr lang="en-US" sz="1654" dirty="0"/>
          </a:p>
        </p:txBody>
      </p:sp>
      <p:pic>
        <p:nvPicPr>
          <p:cNvPr id="40" name="Image 18" descr="preencoded.png">
            <a:extLst>
              <a:ext uri="{FF2B5EF4-FFF2-40B4-BE49-F238E27FC236}">
                <a16:creationId xmlns:a16="http://schemas.microsoft.com/office/drawing/2014/main" id="{8D754AB4-6390-EF16-F0D2-04A891D92BAB}"/>
              </a:ext>
            </a:extLst>
          </p:cNvPr>
          <p:cNvPicPr>
            <a:picLocks noChangeAspect="1"/>
          </p:cNvPicPr>
          <p:nvPr/>
        </p:nvPicPr>
        <p:blipFill>
          <a:blip r:embed="rId16"/>
          <a:stretch>
            <a:fillRect/>
          </a:stretch>
        </p:blipFill>
        <p:spPr>
          <a:xfrm>
            <a:off x="-1" y="-22020"/>
            <a:ext cx="14400213" cy="90001"/>
          </a:xfrm>
          <a:prstGeom prst="rect">
            <a:avLst/>
          </a:prstGeom>
        </p:spPr>
      </p:pic>
      <p:pic>
        <p:nvPicPr>
          <p:cNvPr id="41" name="Image 2" descr="preencoded.png">
            <a:extLst>
              <a:ext uri="{FF2B5EF4-FFF2-40B4-BE49-F238E27FC236}">
                <a16:creationId xmlns:a16="http://schemas.microsoft.com/office/drawing/2014/main" id="{A814821C-6A6D-B905-774E-1C0547BBAAE4}"/>
              </a:ext>
            </a:extLst>
          </p:cNvPr>
          <p:cNvPicPr>
            <a:picLocks noChangeAspect="1"/>
          </p:cNvPicPr>
          <p:nvPr/>
        </p:nvPicPr>
        <p:blipFill>
          <a:blip r:embed="rId17"/>
          <a:stretch>
            <a:fillRect/>
          </a:stretch>
        </p:blipFill>
        <p:spPr>
          <a:xfrm>
            <a:off x="-20534" y="82981"/>
            <a:ext cx="3211586" cy="22500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flipV="1">
            <a:off x="773155" y="1357864"/>
            <a:ext cx="2366561" cy="98608"/>
          </a:xfrm>
          <a:prstGeom prst="rect">
            <a:avLst/>
          </a:prstGeom>
        </p:spPr>
      </p:pic>
      <p:pic>
        <p:nvPicPr>
          <p:cNvPr id="5" name="Image 3" descr="preencoded.png"/>
          <p:cNvPicPr>
            <a:picLocks noChangeAspect="1"/>
          </p:cNvPicPr>
          <p:nvPr/>
        </p:nvPicPr>
        <p:blipFill>
          <a:blip r:embed="rId4"/>
          <a:stretch>
            <a:fillRect/>
          </a:stretch>
        </p:blipFill>
        <p:spPr>
          <a:xfrm>
            <a:off x="720011" y="2654742"/>
            <a:ext cx="6390094" cy="1665025"/>
          </a:xfrm>
          <a:prstGeom prst="rect">
            <a:avLst/>
          </a:prstGeom>
        </p:spPr>
      </p:pic>
      <p:pic>
        <p:nvPicPr>
          <p:cNvPr id="6" name="Image 4" descr="preencoded.png"/>
          <p:cNvPicPr>
            <a:picLocks noChangeAspect="1"/>
          </p:cNvPicPr>
          <p:nvPr/>
        </p:nvPicPr>
        <p:blipFill>
          <a:blip r:embed="rId5"/>
          <a:stretch>
            <a:fillRect/>
          </a:stretch>
        </p:blipFill>
        <p:spPr>
          <a:xfrm>
            <a:off x="120141" y="1867226"/>
            <a:ext cx="337505" cy="337505"/>
          </a:xfrm>
          <a:prstGeom prst="rect">
            <a:avLst/>
          </a:prstGeom>
        </p:spPr>
      </p:pic>
      <p:pic>
        <p:nvPicPr>
          <p:cNvPr id="7" name="Image 5" descr="preencoded.png"/>
          <p:cNvPicPr>
            <a:picLocks noChangeAspect="1"/>
          </p:cNvPicPr>
          <p:nvPr/>
        </p:nvPicPr>
        <p:blipFill>
          <a:blip r:embed="rId6"/>
          <a:stretch>
            <a:fillRect/>
          </a:stretch>
        </p:blipFill>
        <p:spPr>
          <a:xfrm>
            <a:off x="137022" y="2294736"/>
            <a:ext cx="303754" cy="360006"/>
          </a:xfrm>
          <a:prstGeom prst="rect">
            <a:avLst/>
          </a:prstGeom>
        </p:spPr>
      </p:pic>
      <p:pic>
        <p:nvPicPr>
          <p:cNvPr id="9" name="Image 7" descr="preencoded.png"/>
          <p:cNvPicPr>
            <a:picLocks noChangeAspect="1"/>
          </p:cNvPicPr>
          <p:nvPr/>
        </p:nvPicPr>
        <p:blipFill>
          <a:blip r:embed="rId7"/>
          <a:stretch>
            <a:fillRect/>
          </a:stretch>
        </p:blipFill>
        <p:spPr>
          <a:xfrm>
            <a:off x="7229949" y="2210653"/>
            <a:ext cx="337505" cy="337505"/>
          </a:xfrm>
          <a:prstGeom prst="rect">
            <a:avLst/>
          </a:prstGeom>
        </p:spPr>
      </p:pic>
      <p:pic>
        <p:nvPicPr>
          <p:cNvPr id="10" name="Image 8" descr="preencoded.png"/>
          <p:cNvPicPr>
            <a:picLocks noChangeAspect="1"/>
          </p:cNvPicPr>
          <p:nvPr/>
        </p:nvPicPr>
        <p:blipFill>
          <a:blip r:embed="rId8"/>
          <a:stretch>
            <a:fillRect/>
          </a:stretch>
        </p:blipFill>
        <p:spPr>
          <a:xfrm>
            <a:off x="7246829" y="2638163"/>
            <a:ext cx="303754" cy="360006"/>
          </a:xfrm>
          <a:prstGeom prst="rect">
            <a:avLst/>
          </a:prstGeom>
        </p:spPr>
      </p:pic>
      <p:pic>
        <p:nvPicPr>
          <p:cNvPr id="11" name="Image 9" descr="preencoded.png"/>
          <p:cNvPicPr>
            <a:picLocks noChangeAspect="1"/>
          </p:cNvPicPr>
          <p:nvPr/>
        </p:nvPicPr>
        <p:blipFill>
          <a:blip r:embed="rId9"/>
          <a:stretch>
            <a:fillRect/>
          </a:stretch>
        </p:blipFill>
        <p:spPr>
          <a:xfrm>
            <a:off x="720010" y="4499769"/>
            <a:ext cx="4200003" cy="1980029"/>
          </a:xfrm>
          <a:prstGeom prst="rect">
            <a:avLst/>
          </a:prstGeom>
        </p:spPr>
      </p:pic>
      <p:pic>
        <p:nvPicPr>
          <p:cNvPr id="12" name="Image 10" descr="preencoded.png"/>
          <p:cNvPicPr>
            <a:picLocks noChangeAspect="1"/>
          </p:cNvPicPr>
          <p:nvPr/>
        </p:nvPicPr>
        <p:blipFill>
          <a:blip r:embed="rId10"/>
          <a:stretch>
            <a:fillRect/>
          </a:stretch>
        </p:blipFill>
        <p:spPr>
          <a:xfrm>
            <a:off x="135965" y="5809482"/>
            <a:ext cx="337505" cy="337505"/>
          </a:xfrm>
          <a:prstGeom prst="rect">
            <a:avLst/>
          </a:prstGeom>
        </p:spPr>
      </p:pic>
      <p:pic>
        <p:nvPicPr>
          <p:cNvPr id="13" name="Image 11" descr="preencoded.png"/>
          <p:cNvPicPr>
            <a:picLocks noChangeAspect="1"/>
          </p:cNvPicPr>
          <p:nvPr/>
        </p:nvPicPr>
        <p:blipFill>
          <a:blip r:embed="rId11"/>
          <a:stretch>
            <a:fillRect/>
          </a:stretch>
        </p:blipFill>
        <p:spPr>
          <a:xfrm>
            <a:off x="187119" y="6206568"/>
            <a:ext cx="270004" cy="360006"/>
          </a:xfrm>
          <a:prstGeom prst="rect">
            <a:avLst/>
          </a:prstGeom>
        </p:spPr>
      </p:pic>
      <p:pic>
        <p:nvPicPr>
          <p:cNvPr id="15" name="Image 13" descr="preencoded.png"/>
          <p:cNvPicPr>
            <a:picLocks noChangeAspect="1"/>
          </p:cNvPicPr>
          <p:nvPr/>
        </p:nvPicPr>
        <p:blipFill>
          <a:blip r:embed="rId12"/>
          <a:stretch>
            <a:fillRect/>
          </a:stretch>
        </p:blipFill>
        <p:spPr>
          <a:xfrm>
            <a:off x="5707349" y="5270610"/>
            <a:ext cx="337505" cy="337505"/>
          </a:xfrm>
          <a:prstGeom prst="rect">
            <a:avLst/>
          </a:prstGeom>
        </p:spPr>
      </p:pic>
      <p:pic>
        <p:nvPicPr>
          <p:cNvPr id="16" name="Image 14" descr="preencoded.png"/>
          <p:cNvPicPr>
            <a:picLocks noChangeAspect="1"/>
          </p:cNvPicPr>
          <p:nvPr/>
        </p:nvPicPr>
        <p:blipFill>
          <a:blip r:embed="rId13"/>
          <a:stretch>
            <a:fillRect/>
          </a:stretch>
        </p:blipFill>
        <p:spPr>
          <a:xfrm>
            <a:off x="5707349" y="5698120"/>
            <a:ext cx="337505" cy="360006"/>
          </a:xfrm>
          <a:prstGeom prst="rect">
            <a:avLst/>
          </a:prstGeom>
        </p:spPr>
      </p:pic>
      <p:pic>
        <p:nvPicPr>
          <p:cNvPr id="18" name="Image 16" descr="preencoded.png"/>
          <p:cNvPicPr>
            <a:picLocks noChangeAspect="1"/>
          </p:cNvPicPr>
          <p:nvPr/>
        </p:nvPicPr>
        <p:blipFill>
          <a:blip r:embed="rId14"/>
          <a:stretch>
            <a:fillRect/>
          </a:stretch>
        </p:blipFill>
        <p:spPr>
          <a:xfrm>
            <a:off x="10323564" y="5270611"/>
            <a:ext cx="337505" cy="337505"/>
          </a:xfrm>
          <a:prstGeom prst="rect">
            <a:avLst/>
          </a:prstGeom>
        </p:spPr>
      </p:pic>
      <p:pic>
        <p:nvPicPr>
          <p:cNvPr id="19" name="Image 17" descr="preencoded.png"/>
          <p:cNvPicPr>
            <a:picLocks noChangeAspect="1"/>
          </p:cNvPicPr>
          <p:nvPr/>
        </p:nvPicPr>
        <p:blipFill>
          <a:blip r:embed="rId15"/>
          <a:stretch>
            <a:fillRect/>
          </a:stretch>
        </p:blipFill>
        <p:spPr>
          <a:xfrm>
            <a:off x="10357315" y="5698120"/>
            <a:ext cx="270004" cy="360006"/>
          </a:xfrm>
          <a:prstGeom prst="rect">
            <a:avLst/>
          </a:prstGeom>
        </p:spPr>
      </p:pic>
      <p:sp>
        <p:nvSpPr>
          <p:cNvPr id="22" name="Text 0"/>
          <p:cNvSpPr/>
          <p:nvPr/>
        </p:nvSpPr>
        <p:spPr>
          <a:xfrm>
            <a:off x="736884" y="433040"/>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a:t>
            </a:r>
            <a:endParaRPr lang="en-US" sz="1594" dirty="0">
              <a:latin typeface="Montserrat" panose="00000500000000000000" pitchFamily="2" charset="0"/>
            </a:endParaRPr>
          </a:p>
        </p:txBody>
      </p:sp>
      <p:sp>
        <p:nvSpPr>
          <p:cNvPr id="23" name="Text 1"/>
          <p:cNvSpPr/>
          <p:nvPr/>
        </p:nvSpPr>
        <p:spPr>
          <a:xfrm>
            <a:off x="736884" y="909984"/>
            <a:ext cx="13680202" cy="586681"/>
          </a:xfrm>
          <a:prstGeom prst="rect">
            <a:avLst/>
          </a:prstGeom>
          <a:noFill/>
          <a:ln/>
        </p:spPr>
        <p:txBody>
          <a:bodyPr wrap="square" lIns="0" tIns="0" rIns="0" bIns="0" rtlCol="0" anchor="t"/>
          <a:lstStyle/>
          <a:p>
            <a:pPr>
              <a:lnSpc>
                <a:spcPts val="3543"/>
              </a:lnSpc>
            </a:pPr>
            <a:r>
              <a:rPr lang="es-VE" sz="3780" b="1" dirty="0">
                <a:latin typeface="Montserrat" panose="00000500000000000000" pitchFamily="2" charset="0"/>
                <a:ea typeface="EB Garamond" pitchFamily="34" charset="-122"/>
                <a:cs typeface="EB Garamond" pitchFamily="34" charset="-120"/>
              </a:rPr>
              <a:t>Objetivos Específicos</a:t>
            </a:r>
            <a:endParaRPr lang="es-VE" sz="3780" dirty="0">
              <a:latin typeface="Montserrat" panose="00000500000000000000" pitchFamily="2" charset="0"/>
            </a:endParaRPr>
          </a:p>
        </p:txBody>
      </p:sp>
      <p:sp>
        <p:nvSpPr>
          <p:cNvPr id="25" name="Text 3"/>
          <p:cNvSpPr/>
          <p:nvPr/>
        </p:nvSpPr>
        <p:spPr>
          <a:xfrm>
            <a:off x="238797" y="1867226"/>
            <a:ext cx="405006" cy="337505"/>
          </a:xfrm>
          <a:prstGeom prst="rect">
            <a:avLst/>
          </a:prstGeom>
          <a:noFill/>
          <a:ln/>
        </p:spPr>
        <p:txBody>
          <a:bodyPr wrap="square" lIns="0" tIns="0" rIns="0" bIns="0" rtlCol="0" anchor="t"/>
          <a:lstStyle/>
          <a:p>
            <a:pPr>
              <a:lnSpc>
                <a:spcPts val="2126"/>
              </a:lnSpc>
            </a:pPr>
            <a:r>
              <a:rPr lang="en-US" sz="1417" b="1" dirty="0">
                <a:solidFill>
                  <a:srgbClr val="FFFFFF"/>
                </a:solidFill>
                <a:latin typeface="Arial" pitchFamily="34" charset="0"/>
                <a:ea typeface="Arial" pitchFamily="34" charset="-122"/>
                <a:cs typeface="Arial" pitchFamily="34" charset="-120"/>
              </a:rPr>
              <a:t>1</a:t>
            </a:r>
            <a:endParaRPr lang="en-US" sz="1417" dirty="0"/>
          </a:p>
        </p:txBody>
      </p:sp>
      <p:sp>
        <p:nvSpPr>
          <p:cNvPr id="26" name="Text 4"/>
          <p:cNvSpPr/>
          <p:nvPr/>
        </p:nvSpPr>
        <p:spPr>
          <a:xfrm>
            <a:off x="718281" y="1891698"/>
            <a:ext cx="5293205" cy="557601"/>
          </a:xfrm>
          <a:prstGeom prst="rect">
            <a:avLst/>
          </a:prstGeom>
          <a:noFill/>
          <a:ln/>
        </p:spPr>
        <p:txBody>
          <a:bodyPr wrap="square" lIns="0" tIns="0" rIns="0" bIns="0" rtlCol="0" anchor="t"/>
          <a:lstStyle/>
          <a:p>
            <a:pPr>
              <a:lnSpc>
                <a:spcPts val="2480"/>
              </a:lnSpc>
            </a:pPr>
            <a:r>
              <a:rPr lang="en-US" sz="2400" b="1" dirty="0">
                <a:solidFill>
                  <a:srgbClr val="003366"/>
                </a:solidFill>
                <a:latin typeface="Montserrat" panose="00000500000000000000" pitchFamily="2" charset="0"/>
                <a:ea typeface="EB Garamond" pitchFamily="34" charset="-122"/>
                <a:cs typeface="EB Garamond" pitchFamily="34" charset="-120"/>
              </a:rPr>
              <a:t>Identificar y Clasificar Nudos Críticos</a:t>
            </a:r>
            <a:endParaRPr lang="en-US" sz="2400" dirty="0">
              <a:latin typeface="Montserrat" panose="00000500000000000000" pitchFamily="2" charset="0"/>
            </a:endParaRPr>
          </a:p>
        </p:txBody>
      </p:sp>
      <p:sp>
        <p:nvSpPr>
          <p:cNvPr id="27" name="Text 5"/>
          <p:cNvSpPr/>
          <p:nvPr/>
        </p:nvSpPr>
        <p:spPr>
          <a:xfrm>
            <a:off x="199297" y="2744310"/>
            <a:ext cx="5381945" cy="2359565"/>
          </a:xfrm>
          <a:prstGeom prst="rect">
            <a:avLst/>
          </a:prstGeom>
          <a:noFill/>
          <a:ln/>
        </p:spPr>
        <p:txBody>
          <a:bodyPr wrap="square" lIns="0" tIns="0" rIns="0" bIns="0" rtlCol="0" anchor="t"/>
          <a:lstStyle/>
          <a:p>
            <a:pPr algn="just"/>
            <a:r>
              <a:rPr lang="es-VE" sz="2200" noProof="0" dirty="0">
                <a:solidFill>
                  <a:srgbClr val="212529"/>
                </a:solidFill>
                <a:latin typeface="Merriweather" panose="00000500000000000000" pitchFamily="2" charset="0"/>
                <a:ea typeface="Arial" pitchFamily="34" charset="-122"/>
                <a:cs typeface="Arial" pitchFamily="34" charset="-120"/>
              </a:rPr>
              <a:t>Basándose en los datos de las consultas ACA entre 2022 y 2025, se identificarán y clasificarán los principales nudos críticos en las comunas del Estado Mérida utilizando tipologías predefinidas (agua, vialidad, servicios básicos) y herramientas estadísticas.</a:t>
            </a:r>
            <a:endParaRPr lang="es-VE" sz="2200" noProof="0" dirty="0">
              <a:latin typeface="Merriweather" panose="00000500000000000000" pitchFamily="2" charset="0"/>
            </a:endParaRPr>
          </a:p>
        </p:txBody>
      </p:sp>
      <p:sp>
        <p:nvSpPr>
          <p:cNvPr id="28" name="Text 6"/>
          <p:cNvSpPr/>
          <p:nvPr/>
        </p:nvSpPr>
        <p:spPr>
          <a:xfrm>
            <a:off x="7348603" y="2210653"/>
            <a:ext cx="405006" cy="337505"/>
          </a:xfrm>
          <a:prstGeom prst="rect">
            <a:avLst/>
          </a:prstGeom>
          <a:noFill/>
          <a:ln/>
        </p:spPr>
        <p:txBody>
          <a:bodyPr wrap="square" lIns="0" tIns="0" rIns="0" bIns="0" rtlCol="0" anchor="t"/>
          <a:lstStyle/>
          <a:p>
            <a:pPr>
              <a:lnSpc>
                <a:spcPts val="2126"/>
              </a:lnSpc>
            </a:pPr>
            <a:r>
              <a:rPr lang="en-US" sz="1417" b="1" dirty="0">
                <a:solidFill>
                  <a:srgbClr val="FFFFFF"/>
                </a:solidFill>
                <a:latin typeface="Arial" pitchFamily="34" charset="0"/>
                <a:ea typeface="Arial" pitchFamily="34" charset="-122"/>
                <a:cs typeface="Arial" pitchFamily="34" charset="-120"/>
              </a:rPr>
              <a:t>2</a:t>
            </a:r>
            <a:endParaRPr lang="en-US" sz="1417" dirty="0"/>
          </a:p>
        </p:txBody>
      </p:sp>
      <p:sp>
        <p:nvSpPr>
          <p:cNvPr id="29" name="Text 7"/>
          <p:cNvSpPr/>
          <p:nvPr/>
        </p:nvSpPr>
        <p:spPr>
          <a:xfrm>
            <a:off x="7716610" y="2204731"/>
            <a:ext cx="5635256" cy="360006"/>
          </a:xfrm>
          <a:prstGeom prst="rect">
            <a:avLst/>
          </a:prstGeom>
          <a:noFill/>
          <a:ln/>
        </p:spPr>
        <p:txBody>
          <a:bodyPr wrap="square" lIns="0" tIns="0" rIns="0" bIns="0" rtlCol="0" anchor="t"/>
          <a:lstStyle/>
          <a:p>
            <a:pPr>
              <a:lnSpc>
                <a:spcPts val="2480"/>
              </a:lnSpc>
            </a:pPr>
            <a:r>
              <a:rPr lang="en-US" sz="2400" b="1" dirty="0">
                <a:solidFill>
                  <a:srgbClr val="003366"/>
                </a:solidFill>
                <a:latin typeface="Montserrat" panose="00000500000000000000" pitchFamily="2" charset="0"/>
                <a:ea typeface="EB Garamond" pitchFamily="34" charset="-122"/>
                <a:cs typeface="EB Garamond" pitchFamily="34" charset="-120"/>
              </a:rPr>
              <a:t>Analizar Proyectos ACA Existentes</a:t>
            </a:r>
            <a:endParaRPr lang="en-US" sz="2400" dirty="0">
              <a:latin typeface="Montserrat" panose="00000500000000000000" pitchFamily="2" charset="0"/>
            </a:endParaRPr>
          </a:p>
        </p:txBody>
      </p:sp>
      <p:sp>
        <p:nvSpPr>
          <p:cNvPr id="30" name="Text 8"/>
          <p:cNvSpPr/>
          <p:nvPr/>
        </p:nvSpPr>
        <p:spPr>
          <a:xfrm>
            <a:off x="7224569" y="3028676"/>
            <a:ext cx="6435302" cy="1837627"/>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Arial" pitchFamily="34" charset="-122"/>
                <a:cs typeface="Arial" pitchFamily="34" charset="-120"/>
              </a:rPr>
              <a:t>Se analizará la situación actual de los 198 proyectos ACA implementados en las 64 comunas merideñas, identificando las limitaciones metodológicas en su evaluación y seguimiento.</a:t>
            </a:r>
            <a:endParaRPr lang="en-US" sz="2200" dirty="0">
              <a:latin typeface="Merriweather" panose="00000500000000000000" pitchFamily="2" charset="0"/>
            </a:endParaRPr>
          </a:p>
        </p:txBody>
      </p:sp>
      <p:sp>
        <p:nvSpPr>
          <p:cNvPr id="31" name="Text 9"/>
          <p:cNvSpPr/>
          <p:nvPr/>
        </p:nvSpPr>
        <p:spPr>
          <a:xfrm>
            <a:off x="254620" y="5809482"/>
            <a:ext cx="405006" cy="337505"/>
          </a:xfrm>
          <a:prstGeom prst="rect">
            <a:avLst/>
          </a:prstGeom>
          <a:noFill/>
          <a:ln/>
        </p:spPr>
        <p:txBody>
          <a:bodyPr wrap="square" lIns="0" tIns="0" rIns="0" bIns="0" rtlCol="0" anchor="t"/>
          <a:lstStyle/>
          <a:p>
            <a:pPr>
              <a:lnSpc>
                <a:spcPts val="2126"/>
              </a:lnSpc>
            </a:pPr>
            <a:r>
              <a:rPr lang="en-US" sz="1417" b="1" dirty="0">
                <a:solidFill>
                  <a:srgbClr val="FFFFFF"/>
                </a:solidFill>
                <a:latin typeface="Arial" pitchFamily="34" charset="0"/>
                <a:ea typeface="Arial" pitchFamily="34" charset="-122"/>
                <a:cs typeface="Arial" pitchFamily="34" charset="-120"/>
              </a:rPr>
              <a:t>3</a:t>
            </a:r>
            <a:endParaRPr lang="en-US" sz="1417" dirty="0"/>
          </a:p>
        </p:txBody>
      </p:sp>
      <p:sp>
        <p:nvSpPr>
          <p:cNvPr id="32" name="Text 10"/>
          <p:cNvSpPr/>
          <p:nvPr/>
        </p:nvSpPr>
        <p:spPr>
          <a:xfrm>
            <a:off x="703663" y="5837230"/>
            <a:ext cx="3988186" cy="631274"/>
          </a:xfrm>
          <a:prstGeom prst="rect">
            <a:avLst/>
          </a:prstGeom>
          <a:noFill/>
          <a:ln/>
        </p:spPr>
        <p:txBody>
          <a:bodyPr wrap="square" lIns="0" tIns="0" rIns="0" bIns="0" rtlCol="0" anchor="t"/>
          <a:lstStyle/>
          <a:p>
            <a:pPr>
              <a:lnSpc>
                <a:spcPts val="2480"/>
              </a:lnSpc>
            </a:pPr>
            <a:r>
              <a:rPr lang="en-US" sz="2400" b="1" dirty="0">
                <a:solidFill>
                  <a:srgbClr val="003366"/>
                </a:solidFill>
                <a:latin typeface="Montserrat" panose="00000500000000000000" pitchFamily="2" charset="0"/>
                <a:ea typeface="EB Garamond" pitchFamily="34" charset="-122"/>
                <a:cs typeface="EB Garamond" pitchFamily="34" charset="-120"/>
              </a:rPr>
              <a:t>Aplicar Correlación de Spearman</a:t>
            </a:r>
            <a:endParaRPr lang="en-US" sz="2400" dirty="0">
              <a:latin typeface="Montserrat" panose="00000500000000000000" pitchFamily="2" charset="0"/>
            </a:endParaRPr>
          </a:p>
        </p:txBody>
      </p:sp>
      <p:sp>
        <p:nvSpPr>
          <p:cNvPr id="33" name="Text 11"/>
          <p:cNvSpPr/>
          <p:nvPr/>
        </p:nvSpPr>
        <p:spPr>
          <a:xfrm>
            <a:off x="119618" y="6567601"/>
            <a:ext cx="5381945" cy="1693200"/>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Arial" pitchFamily="34" charset="-122"/>
                <a:cs typeface="Arial" pitchFamily="34" charset="-120"/>
              </a:rPr>
              <a:t>Se aplicará el modelo de </a:t>
            </a:r>
            <a:r>
              <a:rPr lang="en-US" sz="2200" dirty="0" err="1">
                <a:solidFill>
                  <a:srgbClr val="212529"/>
                </a:solidFill>
                <a:latin typeface="Merriweather" panose="00000500000000000000" pitchFamily="2" charset="0"/>
                <a:ea typeface="Arial" pitchFamily="34" charset="-122"/>
                <a:cs typeface="Arial" pitchFamily="34" charset="-120"/>
              </a:rPr>
              <a:t>correlación</a:t>
            </a:r>
            <a:r>
              <a:rPr lang="en-US" sz="2200" dirty="0">
                <a:solidFill>
                  <a:srgbClr val="212529"/>
                </a:solidFill>
                <a:latin typeface="Merriweather" panose="00000500000000000000" pitchFamily="2" charset="0"/>
                <a:ea typeface="Arial" pitchFamily="34" charset="-122"/>
                <a:cs typeface="Arial" pitchFamily="34" charset="-120"/>
              </a:rPr>
              <a:t> de Spearman para analizar la relación entre los proyectos realizados en las ACA y la resolución de los nudos críticos en las comunas.</a:t>
            </a:r>
            <a:endParaRPr lang="en-US" sz="2200" dirty="0">
              <a:latin typeface="Merriweather" panose="00000500000000000000" pitchFamily="2" charset="0"/>
            </a:endParaRPr>
          </a:p>
        </p:txBody>
      </p:sp>
      <p:sp>
        <p:nvSpPr>
          <p:cNvPr id="34" name="Text 12"/>
          <p:cNvSpPr/>
          <p:nvPr/>
        </p:nvSpPr>
        <p:spPr>
          <a:xfrm>
            <a:off x="5826005" y="5270610"/>
            <a:ext cx="405006" cy="337505"/>
          </a:xfrm>
          <a:prstGeom prst="rect">
            <a:avLst/>
          </a:prstGeom>
          <a:noFill/>
          <a:ln/>
        </p:spPr>
        <p:txBody>
          <a:bodyPr wrap="square" lIns="0" tIns="0" rIns="0" bIns="0" rtlCol="0" anchor="t"/>
          <a:lstStyle/>
          <a:p>
            <a:pPr>
              <a:lnSpc>
                <a:spcPts val="2126"/>
              </a:lnSpc>
            </a:pPr>
            <a:r>
              <a:rPr lang="en-US" sz="1417" b="1" dirty="0">
                <a:solidFill>
                  <a:srgbClr val="FFFFFF"/>
                </a:solidFill>
                <a:latin typeface="Arial" pitchFamily="34" charset="0"/>
                <a:ea typeface="Arial" pitchFamily="34" charset="-122"/>
                <a:cs typeface="Arial" pitchFamily="34" charset="-120"/>
              </a:rPr>
              <a:t>4</a:t>
            </a:r>
            <a:endParaRPr lang="en-US" sz="1417" dirty="0"/>
          </a:p>
        </p:txBody>
      </p:sp>
      <p:sp>
        <p:nvSpPr>
          <p:cNvPr id="35" name="Text 13"/>
          <p:cNvSpPr/>
          <p:nvPr/>
        </p:nvSpPr>
        <p:spPr>
          <a:xfrm>
            <a:off x="6127562" y="5412839"/>
            <a:ext cx="4094970" cy="700980"/>
          </a:xfrm>
          <a:prstGeom prst="rect">
            <a:avLst/>
          </a:prstGeom>
          <a:noFill/>
          <a:ln/>
        </p:spPr>
        <p:txBody>
          <a:bodyPr wrap="square" lIns="0" tIns="0" rIns="0" bIns="0" rtlCol="0" anchor="t"/>
          <a:lstStyle/>
          <a:p>
            <a:r>
              <a:rPr lang="en-US" sz="2400" b="1" dirty="0">
                <a:solidFill>
                  <a:srgbClr val="003366"/>
                </a:solidFill>
                <a:latin typeface="Montserrat" panose="00000500000000000000" pitchFamily="2" charset="0"/>
                <a:ea typeface="EB Garamond" pitchFamily="34" charset="-122"/>
                <a:cs typeface="EB Garamond" pitchFamily="34" charset="-120"/>
              </a:rPr>
              <a:t>Determinar Complejidad Institucional</a:t>
            </a:r>
            <a:endParaRPr lang="en-US" sz="2400" dirty="0">
              <a:latin typeface="Montserrat" panose="00000500000000000000" pitchFamily="2" charset="0"/>
            </a:endParaRPr>
          </a:p>
        </p:txBody>
      </p:sp>
      <p:sp>
        <p:nvSpPr>
          <p:cNvPr id="36" name="Text 14"/>
          <p:cNvSpPr/>
          <p:nvPr/>
        </p:nvSpPr>
        <p:spPr>
          <a:xfrm>
            <a:off x="5860476" y="6122917"/>
            <a:ext cx="4136485" cy="2284893"/>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Arial" pitchFamily="34" charset="-122"/>
                <a:cs typeface="Arial" pitchFamily="34" charset="-120"/>
              </a:rPr>
              <a:t>Se determinará el grado de complejidad de las redes institucionales (ministerios, gobernaciones, consejos comunales) mediante la aplicación del índice de Shannon.</a:t>
            </a:r>
            <a:endParaRPr lang="en-US" sz="2200" dirty="0">
              <a:latin typeface="Merriweather" panose="00000500000000000000" pitchFamily="2" charset="0"/>
            </a:endParaRPr>
          </a:p>
        </p:txBody>
      </p:sp>
      <p:sp>
        <p:nvSpPr>
          <p:cNvPr id="37" name="Text 15"/>
          <p:cNvSpPr/>
          <p:nvPr/>
        </p:nvSpPr>
        <p:spPr>
          <a:xfrm>
            <a:off x="10442220" y="5270611"/>
            <a:ext cx="405006" cy="337505"/>
          </a:xfrm>
          <a:prstGeom prst="rect">
            <a:avLst/>
          </a:prstGeom>
          <a:noFill/>
          <a:ln/>
        </p:spPr>
        <p:txBody>
          <a:bodyPr wrap="square" lIns="0" tIns="0" rIns="0" bIns="0" rtlCol="0" anchor="t"/>
          <a:lstStyle/>
          <a:p>
            <a:pPr>
              <a:lnSpc>
                <a:spcPts val="2126"/>
              </a:lnSpc>
            </a:pPr>
            <a:r>
              <a:rPr lang="en-US" sz="1417" b="1" dirty="0">
                <a:solidFill>
                  <a:srgbClr val="FFFFFF"/>
                </a:solidFill>
                <a:latin typeface="Arial" pitchFamily="34" charset="0"/>
                <a:ea typeface="Arial" pitchFamily="34" charset="-122"/>
                <a:cs typeface="Arial" pitchFamily="34" charset="-120"/>
              </a:rPr>
              <a:t>5</a:t>
            </a:r>
            <a:endParaRPr lang="en-US" sz="1417" dirty="0"/>
          </a:p>
        </p:txBody>
      </p:sp>
      <p:sp>
        <p:nvSpPr>
          <p:cNvPr id="38" name="Text 16"/>
          <p:cNvSpPr/>
          <p:nvPr/>
        </p:nvSpPr>
        <p:spPr>
          <a:xfrm>
            <a:off x="10861827" y="5398463"/>
            <a:ext cx="3402421" cy="692893"/>
          </a:xfrm>
          <a:prstGeom prst="rect">
            <a:avLst/>
          </a:prstGeom>
          <a:noFill/>
          <a:ln/>
        </p:spPr>
        <p:txBody>
          <a:bodyPr wrap="square" lIns="0" tIns="0" rIns="0" bIns="0" rtlCol="0" anchor="t"/>
          <a:lstStyle/>
          <a:p>
            <a:pPr>
              <a:lnSpc>
                <a:spcPts val="2480"/>
              </a:lnSpc>
            </a:pPr>
            <a:r>
              <a:rPr lang="en-US" sz="2400" b="1" dirty="0">
                <a:solidFill>
                  <a:srgbClr val="003366"/>
                </a:solidFill>
                <a:latin typeface="Montserrat" panose="00000500000000000000" pitchFamily="2" charset="0"/>
                <a:ea typeface="EB Garamond" pitchFamily="34" charset="-122"/>
                <a:cs typeface="EB Garamond" pitchFamily="34" charset="-120"/>
              </a:rPr>
              <a:t>Proponer Sistema de Indicadores</a:t>
            </a:r>
            <a:endParaRPr lang="en-US" sz="2400" dirty="0">
              <a:latin typeface="Montserrat" panose="00000500000000000000" pitchFamily="2" charset="0"/>
            </a:endParaRPr>
          </a:p>
        </p:txBody>
      </p:sp>
      <p:sp>
        <p:nvSpPr>
          <p:cNvPr id="39" name="Text 17"/>
          <p:cNvSpPr/>
          <p:nvPr/>
        </p:nvSpPr>
        <p:spPr>
          <a:xfrm>
            <a:off x="10305241" y="6058126"/>
            <a:ext cx="4094971" cy="2037116"/>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Arial" pitchFamily="34" charset="-122"/>
                <a:cs typeface="Arial" pitchFamily="34" charset="-120"/>
              </a:rPr>
              <a:t>Se propondrá un sistema de indicadores cuantitativos de seguimiento con validación descentralizada para garantizar la transparencia en la rendición de cuentas.</a:t>
            </a:r>
            <a:endParaRPr lang="en-US" sz="2200" dirty="0">
              <a:latin typeface="Merriweather" panose="00000500000000000000" pitchFamily="2" charset="0"/>
            </a:endParaRPr>
          </a:p>
        </p:txBody>
      </p:sp>
      <p:pic>
        <p:nvPicPr>
          <p:cNvPr id="44" name="Image 17" descr="preencoded.png">
            <a:extLst>
              <a:ext uri="{FF2B5EF4-FFF2-40B4-BE49-F238E27FC236}">
                <a16:creationId xmlns:a16="http://schemas.microsoft.com/office/drawing/2014/main" id="{294E8E42-4389-53DF-A546-0B260D20182C}"/>
              </a:ext>
            </a:extLst>
          </p:cNvPr>
          <p:cNvPicPr>
            <a:picLocks noChangeAspect="1"/>
          </p:cNvPicPr>
          <p:nvPr/>
        </p:nvPicPr>
        <p:blipFill>
          <a:blip r:embed="rId16"/>
          <a:stretch>
            <a:fillRect/>
          </a:stretch>
        </p:blipFill>
        <p:spPr>
          <a:xfrm>
            <a:off x="3808" y="8593270"/>
            <a:ext cx="288000" cy="288000"/>
          </a:xfrm>
          <a:prstGeom prst="rect">
            <a:avLst/>
          </a:prstGeom>
        </p:spPr>
      </p:pic>
      <p:pic>
        <p:nvPicPr>
          <p:cNvPr id="45" name="Image 19" descr="preencoded.png">
            <a:extLst>
              <a:ext uri="{FF2B5EF4-FFF2-40B4-BE49-F238E27FC236}">
                <a16:creationId xmlns:a16="http://schemas.microsoft.com/office/drawing/2014/main" id="{5BE5741C-8D7F-56A1-B092-80A5AC29CF45}"/>
              </a:ext>
            </a:extLst>
          </p:cNvPr>
          <p:cNvPicPr>
            <a:picLocks noChangeAspect="1"/>
          </p:cNvPicPr>
          <p:nvPr/>
        </p:nvPicPr>
        <p:blipFill>
          <a:blip r:embed="rId17"/>
          <a:stretch>
            <a:fillRect/>
          </a:stretch>
        </p:blipFill>
        <p:spPr>
          <a:xfrm>
            <a:off x="-3" y="8910746"/>
            <a:ext cx="14400213" cy="90001"/>
          </a:xfrm>
          <a:prstGeom prst="rect">
            <a:avLst/>
          </a:prstGeom>
        </p:spPr>
      </p:pic>
      <p:sp>
        <p:nvSpPr>
          <p:cNvPr id="46" name="Text 11">
            <a:extLst>
              <a:ext uri="{FF2B5EF4-FFF2-40B4-BE49-F238E27FC236}">
                <a16:creationId xmlns:a16="http://schemas.microsoft.com/office/drawing/2014/main" id="{FEC7DF4B-6DEB-A3A4-19D2-8BBA25A4DDDE}"/>
              </a:ext>
            </a:extLst>
          </p:cNvPr>
          <p:cNvSpPr/>
          <p:nvPr/>
        </p:nvSpPr>
        <p:spPr>
          <a:xfrm>
            <a:off x="199297" y="8675535"/>
            <a:ext cx="4976878" cy="372093"/>
          </a:xfrm>
          <a:prstGeom prst="rect">
            <a:avLst/>
          </a:prstGeom>
          <a:noFill/>
          <a:ln/>
        </p:spPr>
        <p:txBody>
          <a:bodyPr wrap="square" lIns="0" tIns="0" rIns="0" bIns="0" rtlCol="0" anchor="t"/>
          <a:lstStyle/>
          <a:p>
            <a:pPr algn="ctr"/>
            <a:r>
              <a:rPr lang="en-US" sz="1654" dirty="0">
                <a:latin typeface="Montserrat" pitchFamily="34" charset="0"/>
                <a:ea typeface="Montserrat" pitchFamily="34" charset="-122"/>
                <a:cs typeface="Montserrat" pitchFamily="34" charset="-120"/>
              </a:rPr>
              <a:t>Universidad de Los Andes | William Gutiérrez</a:t>
            </a:r>
            <a:endParaRPr lang="en-US" sz="1654" dirty="0"/>
          </a:p>
        </p:txBody>
      </p:sp>
      <p:pic>
        <p:nvPicPr>
          <p:cNvPr id="47" name="Image 18" descr="preencoded.png">
            <a:extLst>
              <a:ext uri="{FF2B5EF4-FFF2-40B4-BE49-F238E27FC236}">
                <a16:creationId xmlns:a16="http://schemas.microsoft.com/office/drawing/2014/main" id="{3D6EBE3D-7EF7-CBEB-7320-B17FC4C17117}"/>
              </a:ext>
            </a:extLst>
          </p:cNvPr>
          <p:cNvPicPr>
            <a:picLocks noChangeAspect="1"/>
          </p:cNvPicPr>
          <p:nvPr/>
        </p:nvPicPr>
        <p:blipFill>
          <a:blip r:embed="rId18"/>
          <a:stretch>
            <a:fillRect/>
          </a:stretch>
        </p:blipFill>
        <p:spPr>
          <a:xfrm>
            <a:off x="-2" y="0"/>
            <a:ext cx="14400213" cy="90001"/>
          </a:xfrm>
          <a:prstGeom prst="rect">
            <a:avLst/>
          </a:prstGeom>
        </p:spPr>
      </p:pic>
      <p:pic>
        <p:nvPicPr>
          <p:cNvPr id="48" name="Image 3" descr="preencoded.png">
            <a:extLst>
              <a:ext uri="{FF2B5EF4-FFF2-40B4-BE49-F238E27FC236}">
                <a16:creationId xmlns:a16="http://schemas.microsoft.com/office/drawing/2014/main" id="{49001491-3197-C8AF-70EF-15FE7B815609}"/>
              </a:ext>
            </a:extLst>
          </p:cNvPr>
          <p:cNvPicPr>
            <a:picLocks noChangeAspect="1"/>
          </p:cNvPicPr>
          <p:nvPr/>
        </p:nvPicPr>
        <p:blipFill>
          <a:blip r:embed="rId19"/>
          <a:stretch>
            <a:fillRect/>
          </a:stretch>
        </p:blipFill>
        <p:spPr>
          <a:xfrm>
            <a:off x="11745173" y="5894789"/>
            <a:ext cx="2655039" cy="2880043"/>
          </a:xfrm>
          <a:prstGeom prst="rect">
            <a:avLst/>
          </a:prstGeom>
        </p:spPr>
      </p:pic>
      <p:pic>
        <p:nvPicPr>
          <p:cNvPr id="49" name="Image 2" descr="preencoded.png">
            <a:extLst>
              <a:ext uri="{FF2B5EF4-FFF2-40B4-BE49-F238E27FC236}">
                <a16:creationId xmlns:a16="http://schemas.microsoft.com/office/drawing/2014/main" id="{01ADA4F5-86AB-D230-47B1-0A3427778074}"/>
              </a:ext>
            </a:extLst>
          </p:cNvPr>
          <p:cNvPicPr>
            <a:picLocks noChangeAspect="1"/>
          </p:cNvPicPr>
          <p:nvPr/>
        </p:nvPicPr>
        <p:blipFill>
          <a:blip r:embed="rId20"/>
          <a:stretch>
            <a:fillRect/>
          </a:stretch>
        </p:blipFill>
        <p:spPr>
          <a:xfrm>
            <a:off x="10627319" y="76808"/>
            <a:ext cx="3757555" cy="26325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1" y="1416506"/>
            <a:ext cx="14400213" cy="6070183"/>
          </a:xfrm>
          <a:prstGeom prst="rect">
            <a:avLst/>
          </a:prstGeom>
        </p:spPr>
      </p:pic>
      <p:pic>
        <p:nvPicPr>
          <p:cNvPr id="5" name="Image 3" descr="preencoded.png"/>
          <p:cNvPicPr>
            <a:picLocks noChangeAspect="1"/>
          </p:cNvPicPr>
          <p:nvPr/>
        </p:nvPicPr>
        <p:blipFill>
          <a:blip r:embed="rId4"/>
          <a:stretch>
            <a:fillRect/>
          </a:stretch>
        </p:blipFill>
        <p:spPr>
          <a:xfrm>
            <a:off x="209737" y="1637581"/>
            <a:ext cx="5026737" cy="3243004"/>
          </a:xfrm>
          <a:prstGeom prst="rect">
            <a:avLst/>
          </a:prstGeom>
        </p:spPr>
      </p:pic>
      <p:pic>
        <p:nvPicPr>
          <p:cNvPr id="6" name="Image 4" descr="preencoded.png"/>
          <p:cNvPicPr>
            <a:picLocks noChangeAspect="1"/>
          </p:cNvPicPr>
          <p:nvPr/>
        </p:nvPicPr>
        <p:blipFill>
          <a:blip r:embed="rId5"/>
          <a:stretch>
            <a:fillRect/>
          </a:stretch>
        </p:blipFill>
        <p:spPr>
          <a:xfrm>
            <a:off x="481125" y="1867864"/>
            <a:ext cx="281254" cy="450007"/>
          </a:xfrm>
          <a:prstGeom prst="rect">
            <a:avLst/>
          </a:prstGeom>
        </p:spPr>
      </p:pic>
      <p:pic>
        <p:nvPicPr>
          <p:cNvPr id="7" name="Image 5" descr="preencoded.png"/>
          <p:cNvPicPr>
            <a:picLocks noChangeAspect="1"/>
          </p:cNvPicPr>
          <p:nvPr/>
        </p:nvPicPr>
        <p:blipFill>
          <a:blip r:embed="rId6"/>
          <a:stretch>
            <a:fillRect/>
          </a:stretch>
        </p:blipFill>
        <p:spPr>
          <a:xfrm>
            <a:off x="481126" y="1903246"/>
            <a:ext cx="281254" cy="315005"/>
          </a:xfrm>
          <a:prstGeom prst="rect">
            <a:avLst/>
          </a:prstGeom>
        </p:spPr>
      </p:pic>
      <p:pic>
        <p:nvPicPr>
          <p:cNvPr id="8" name="Image 6" descr="preencoded.png"/>
          <p:cNvPicPr>
            <a:picLocks noChangeAspect="1"/>
          </p:cNvPicPr>
          <p:nvPr/>
        </p:nvPicPr>
        <p:blipFill>
          <a:blip r:embed="rId7"/>
          <a:stretch>
            <a:fillRect/>
          </a:stretch>
        </p:blipFill>
        <p:spPr>
          <a:xfrm>
            <a:off x="9072326" y="1502573"/>
            <a:ext cx="5138371" cy="3415318"/>
          </a:xfrm>
          <a:prstGeom prst="rect">
            <a:avLst/>
          </a:prstGeom>
        </p:spPr>
      </p:pic>
      <p:pic>
        <p:nvPicPr>
          <p:cNvPr id="9" name="Image 7" descr="preencoded.png"/>
          <p:cNvPicPr>
            <a:picLocks noChangeAspect="1"/>
          </p:cNvPicPr>
          <p:nvPr/>
        </p:nvPicPr>
        <p:blipFill>
          <a:blip r:embed="rId8"/>
          <a:stretch>
            <a:fillRect/>
          </a:stretch>
        </p:blipFill>
        <p:spPr>
          <a:xfrm>
            <a:off x="9379841" y="1704974"/>
            <a:ext cx="450007" cy="450007"/>
          </a:xfrm>
          <a:prstGeom prst="rect">
            <a:avLst/>
          </a:prstGeom>
        </p:spPr>
      </p:pic>
      <p:pic>
        <p:nvPicPr>
          <p:cNvPr id="10" name="Image 8" descr="preencoded.png"/>
          <p:cNvPicPr>
            <a:picLocks noChangeAspect="1"/>
          </p:cNvPicPr>
          <p:nvPr/>
        </p:nvPicPr>
        <p:blipFill>
          <a:blip r:embed="rId9"/>
          <a:stretch>
            <a:fillRect/>
          </a:stretch>
        </p:blipFill>
        <p:spPr>
          <a:xfrm>
            <a:off x="9492343" y="1772475"/>
            <a:ext cx="225003" cy="315005"/>
          </a:xfrm>
          <a:prstGeom prst="rect">
            <a:avLst/>
          </a:prstGeom>
        </p:spPr>
      </p:pic>
      <p:pic>
        <p:nvPicPr>
          <p:cNvPr id="11" name="Image 9" descr="preencoded.png"/>
          <p:cNvPicPr>
            <a:picLocks noChangeAspect="1"/>
          </p:cNvPicPr>
          <p:nvPr/>
        </p:nvPicPr>
        <p:blipFill>
          <a:blip r:embed="rId10"/>
          <a:stretch>
            <a:fillRect/>
          </a:stretch>
        </p:blipFill>
        <p:spPr>
          <a:xfrm>
            <a:off x="209733" y="5101654"/>
            <a:ext cx="5161678" cy="3326614"/>
          </a:xfrm>
          <a:prstGeom prst="rect">
            <a:avLst/>
          </a:prstGeom>
        </p:spPr>
      </p:pic>
      <p:pic>
        <p:nvPicPr>
          <p:cNvPr id="14" name="Image 12" descr="preencoded.png"/>
          <p:cNvPicPr>
            <a:picLocks noChangeAspect="1"/>
          </p:cNvPicPr>
          <p:nvPr/>
        </p:nvPicPr>
        <p:blipFill>
          <a:blip r:embed="rId10"/>
          <a:stretch>
            <a:fillRect/>
          </a:stretch>
        </p:blipFill>
        <p:spPr>
          <a:xfrm>
            <a:off x="9109290" y="5107682"/>
            <a:ext cx="5170321" cy="3320586"/>
          </a:xfrm>
          <a:prstGeom prst="rect">
            <a:avLst/>
          </a:prstGeom>
        </p:spPr>
      </p:pic>
      <p:pic>
        <p:nvPicPr>
          <p:cNvPr id="15" name="Image 13" descr="preencoded.png"/>
          <p:cNvPicPr>
            <a:picLocks noChangeAspect="1"/>
          </p:cNvPicPr>
          <p:nvPr/>
        </p:nvPicPr>
        <p:blipFill>
          <a:blip r:embed="rId11"/>
          <a:stretch>
            <a:fillRect/>
          </a:stretch>
        </p:blipFill>
        <p:spPr>
          <a:xfrm>
            <a:off x="9943666" y="5204073"/>
            <a:ext cx="422057" cy="450007"/>
          </a:xfrm>
          <a:prstGeom prst="rect">
            <a:avLst/>
          </a:prstGeom>
        </p:spPr>
      </p:pic>
      <p:pic>
        <p:nvPicPr>
          <p:cNvPr id="16" name="Image 14" descr="preencoded.png"/>
          <p:cNvPicPr>
            <a:picLocks noChangeAspect="1"/>
          </p:cNvPicPr>
          <p:nvPr/>
        </p:nvPicPr>
        <p:blipFill>
          <a:blip r:embed="rId12"/>
          <a:stretch>
            <a:fillRect/>
          </a:stretch>
        </p:blipFill>
        <p:spPr>
          <a:xfrm>
            <a:off x="10070234" y="5271574"/>
            <a:ext cx="168752" cy="315005"/>
          </a:xfrm>
          <a:prstGeom prst="rect">
            <a:avLst/>
          </a:prstGeom>
        </p:spPr>
      </p:pic>
      <p:sp>
        <p:nvSpPr>
          <p:cNvPr id="18" name="Text 0"/>
          <p:cNvSpPr/>
          <p:nvPr/>
        </p:nvSpPr>
        <p:spPr>
          <a:xfrm>
            <a:off x="2413538" y="939293"/>
            <a:ext cx="10679483" cy="454612"/>
          </a:xfrm>
          <a:prstGeom prst="rect">
            <a:avLst/>
          </a:prstGeom>
          <a:noFill/>
          <a:ln/>
        </p:spPr>
        <p:txBody>
          <a:bodyPr wrap="square" lIns="0" tIns="0" rIns="0" bIns="0" rtlCol="0" anchor="t"/>
          <a:lstStyle/>
          <a:p>
            <a:pPr algn="ctr">
              <a:lnSpc>
                <a:spcPts val="3189"/>
              </a:lnSpc>
            </a:pPr>
            <a:r>
              <a:rPr lang="es-VE" sz="3543" b="1" dirty="0">
                <a:latin typeface="Montserrat" panose="00000500000000000000" pitchFamily="2" charset="0"/>
                <a:ea typeface="EB Garamond" pitchFamily="34" charset="-122"/>
                <a:cs typeface="EB Garamond" pitchFamily="34" charset="-120"/>
              </a:rPr>
              <a:t>Capitulo II: Antecedentes de la investigación</a:t>
            </a:r>
            <a:endParaRPr lang="es-VE" sz="3543" dirty="0">
              <a:latin typeface="Montserrat" panose="00000500000000000000" pitchFamily="2" charset="0"/>
            </a:endParaRPr>
          </a:p>
        </p:txBody>
      </p:sp>
      <p:sp>
        <p:nvSpPr>
          <p:cNvPr id="19" name="Text 1"/>
          <p:cNvSpPr/>
          <p:nvPr/>
        </p:nvSpPr>
        <p:spPr>
          <a:xfrm>
            <a:off x="720010" y="1812017"/>
            <a:ext cx="4082364" cy="911263"/>
          </a:xfrm>
          <a:prstGeom prst="rect">
            <a:avLst/>
          </a:prstGeom>
          <a:noFill/>
          <a:ln/>
        </p:spPr>
        <p:txBody>
          <a:bodyPr wrap="square" lIns="0" tIns="0" rIns="0" bIns="0" rtlCol="0" anchor="t"/>
          <a:lstStyle/>
          <a:p>
            <a:pPr algn="ctr">
              <a:lnSpc>
                <a:spcPts val="2392"/>
              </a:lnSpc>
            </a:pPr>
            <a:r>
              <a:rPr lang="en-US" sz="2611" b="1" dirty="0">
                <a:latin typeface="Montserrat" panose="00000500000000000000" pitchFamily="2" charset="0"/>
                <a:ea typeface="EB Garamond" pitchFamily="34" charset="-122"/>
                <a:cs typeface="EB Garamond" pitchFamily="34" charset="-120"/>
              </a:rPr>
              <a:t>El Problema de la Centralización y Opacidad</a:t>
            </a:r>
            <a:endParaRPr lang="en-US" sz="2611" dirty="0">
              <a:latin typeface="Montserrat" panose="00000500000000000000" pitchFamily="2" charset="0"/>
            </a:endParaRPr>
          </a:p>
        </p:txBody>
      </p:sp>
      <p:sp>
        <p:nvSpPr>
          <p:cNvPr id="20" name="Text 2"/>
          <p:cNvSpPr/>
          <p:nvPr/>
        </p:nvSpPr>
        <p:spPr>
          <a:xfrm>
            <a:off x="336171" y="2748773"/>
            <a:ext cx="4758343" cy="1693437"/>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Calibri" pitchFamily="34" charset="-122"/>
                <a:cs typeface="Calibri" pitchFamily="34" charset="-120"/>
              </a:rPr>
              <a:t>La planificación en Venezuela y en la región ha sido históricamente centralizada y opaca, generando desconfianza ciudadana.</a:t>
            </a:r>
            <a:endParaRPr lang="en-US" sz="2200" dirty="0">
              <a:latin typeface="Merriweather" panose="00000500000000000000" pitchFamily="2" charset="0"/>
            </a:endParaRPr>
          </a:p>
        </p:txBody>
      </p:sp>
      <p:sp>
        <p:nvSpPr>
          <p:cNvPr id="21" name="Text 3"/>
          <p:cNvSpPr/>
          <p:nvPr/>
        </p:nvSpPr>
        <p:spPr>
          <a:xfrm>
            <a:off x="359441" y="4572128"/>
            <a:ext cx="3024045" cy="236253"/>
          </a:xfrm>
          <a:prstGeom prst="rect">
            <a:avLst/>
          </a:prstGeom>
          <a:noFill/>
          <a:ln/>
        </p:spPr>
        <p:txBody>
          <a:bodyPr wrap="square" lIns="0" tIns="0" rIns="0" bIns="0" rtlCol="0" anchor="t"/>
          <a:lstStyle/>
          <a:p>
            <a:pPr>
              <a:lnSpc>
                <a:spcPts val="1860"/>
              </a:lnSpc>
            </a:pPr>
            <a:r>
              <a:rPr lang="en-US" sz="2100" dirty="0">
                <a:solidFill>
                  <a:srgbClr val="212529"/>
                </a:solidFill>
                <a:latin typeface="Merriweather" panose="00000500000000000000" pitchFamily="2" charset="0"/>
                <a:ea typeface="Calibri" pitchFamily="34" charset="-122"/>
                <a:cs typeface="Calibri" pitchFamily="34" charset="-120"/>
              </a:rPr>
              <a:t>Ochoa (2004)</a:t>
            </a:r>
            <a:endParaRPr lang="en-US" sz="2100" dirty="0">
              <a:latin typeface="Merriweather" panose="00000500000000000000" pitchFamily="2" charset="0"/>
            </a:endParaRPr>
          </a:p>
        </p:txBody>
      </p:sp>
      <p:sp>
        <p:nvSpPr>
          <p:cNvPr id="22" name="Text 4"/>
          <p:cNvSpPr/>
          <p:nvPr/>
        </p:nvSpPr>
        <p:spPr>
          <a:xfrm>
            <a:off x="9976473" y="1756327"/>
            <a:ext cx="3750093" cy="617469"/>
          </a:xfrm>
          <a:prstGeom prst="rect">
            <a:avLst/>
          </a:prstGeom>
          <a:noFill/>
          <a:ln/>
        </p:spPr>
        <p:txBody>
          <a:bodyPr wrap="square" lIns="0" tIns="0" rIns="0" bIns="0" rtlCol="0" anchor="t"/>
          <a:lstStyle/>
          <a:p>
            <a:pPr algn="ctr">
              <a:lnSpc>
                <a:spcPts val="2392"/>
              </a:lnSpc>
            </a:pPr>
            <a:r>
              <a:rPr lang="en-US" sz="2611" b="1" dirty="0">
                <a:latin typeface="Montserrat" panose="00000500000000000000" pitchFamily="2" charset="0"/>
                <a:ea typeface="EB Garamond" pitchFamily="34" charset="-122"/>
                <a:cs typeface="EB Garamond" pitchFamily="34" charset="-120"/>
              </a:rPr>
              <a:t>Brecha Metodológica</a:t>
            </a:r>
            <a:endParaRPr lang="en-US" sz="2611" dirty="0">
              <a:latin typeface="Montserrat" panose="00000500000000000000" pitchFamily="2" charset="0"/>
            </a:endParaRPr>
          </a:p>
        </p:txBody>
      </p:sp>
      <p:sp>
        <p:nvSpPr>
          <p:cNvPr id="23" name="Text 5"/>
          <p:cNvSpPr/>
          <p:nvPr/>
        </p:nvSpPr>
        <p:spPr>
          <a:xfrm>
            <a:off x="9244227" y="2517403"/>
            <a:ext cx="4907652" cy="1389552"/>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Calibri" pitchFamily="34" charset="-122"/>
                <a:cs typeface="Calibri" pitchFamily="34" charset="-120"/>
              </a:rPr>
              <a:t>Existe una brecha metodológica en la evaluación de las ACA, ya que los registros cualitativos no logran cuantificar sistemáticamente.</a:t>
            </a:r>
            <a:endParaRPr lang="en-US" sz="2200" dirty="0">
              <a:latin typeface="Merriweather" panose="00000500000000000000" pitchFamily="2" charset="0"/>
            </a:endParaRPr>
          </a:p>
        </p:txBody>
      </p:sp>
      <p:sp>
        <p:nvSpPr>
          <p:cNvPr id="24" name="Text 6"/>
          <p:cNvSpPr/>
          <p:nvPr/>
        </p:nvSpPr>
        <p:spPr>
          <a:xfrm>
            <a:off x="9223223" y="4426587"/>
            <a:ext cx="4844983" cy="399652"/>
          </a:xfrm>
          <a:prstGeom prst="rect">
            <a:avLst/>
          </a:prstGeom>
          <a:noFill/>
          <a:ln/>
        </p:spPr>
        <p:txBody>
          <a:bodyPr wrap="square" lIns="0" tIns="0" rIns="0" bIns="0" rtlCol="0" anchor="t"/>
          <a:lstStyle/>
          <a:p>
            <a:pPr algn="just">
              <a:lnSpc>
                <a:spcPts val="1860"/>
              </a:lnSpc>
            </a:pPr>
            <a:r>
              <a:rPr lang="en-US" sz="2100" dirty="0">
                <a:solidFill>
                  <a:srgbClr val="212529"/>
                </a:solidFill>
                <a:latin typeface="Merriweather" panose="00000500000000000000" pitchFamily="2" charset="0"/>
                <a:ea typeface="Calibri" pitchFamily="34" charset="-122"/>
                <a:cs typeface="Calibri" pitchFamily="34" charset="-120"/>
              </a:rPr>
              <a:t>Peña Cedillo &amp; Flores Urbáez (2006)</a:t>
            </a:r>
            <a:endParaRPr lang="en-US" sz="2100" dirty="0">
              <a:latin typeface="Merriweather" panose="00000500000000000000" pitchFamily="2" charset="0"/>
            </a:endParaRPr>
          </a:p>
        </p:txBody>
      </p:sp>
      <p:sp>
        <p:nvSpPr>
          <p:cNvPr id="25" name="Text 7"/>
          <p:cNvSpPr/>
          <p:nvPr/>
        </p:nvSpPr>
        <p:spPr>
          <a:xfrm>
            <a:off x="287486" y="5246617"/>
            <a:ext cx="4807028" cy="562938"/>
          </a:xfrm>
          <a:prstGeom prst="rect">
            <a:avLst/>
          </a:prstGeom>
          <a:noFill/>
          <a:ln/>
        </p:spPr>
        <p:txBody>
          <a:bodyPr wrap="square" lIns="0" tIns="0" rIns="0" bIns="0" rtlCol="0" anchor="t"/>
          <a:lstStyle/>
          <a:p>
            <a:pPr algn="ctr">
              <a:lnSpc>
                <a:spcPts val="2392"/>
              </a:lnSpc>
            </a:pPr>
            <a:r>
              <a:rPr lang="en-US" sz="2611" b="1" dirty="0">
                <a:latin typeface="Montserrat" panose="00000500000000000000" pitchFamily="2" charset="0"/>
                <a:ea typeface="EB Garamond" pitchFamily="34" charset="-122"/>
                <a:cs typeface="EB Garamond" pitchFamily="34" charset="-120"/>
              </a:rPr>
              <a:t>La Complejidad de la Gobernanza</a:t>
            </a:r>
            <a:endParaRPr lang="en-US" sz="2611" dirty="0">
              <a:latin typeface="Montserrat" panose="00000500000000000000" pitchFamily="2" charset="0"/>
            </a:endParaRPr>
          </a:p>
        </p:txBody>
      </p:sp>
      <p:sp>
        <p:nvSpPr>
          <p:cNvPr id="26" name="Text 8"/>
          <p:cNvSpPr/>
          <p:nvPr/>
        </p:nvSpPr>
        <p:spPr>
          <a:xfrm>
            <a:off x="287486" y="5903400"/>
            <a:ext cx="4807028" cy="1723642"/>
          </a:xfrm>
          <a:prstGeom prst="rect">
            <a:avLst/>
          </a:prstGeom>
          <a:noFill/>
          <a:ln/>
        </p:spPr>
        <p:txBody>
          <a:bodyPr wrap="square" lIns="0" tIns="0" rIns="0" bIns="0" rtlCol="0" anchor="t"/>
          <a:lstStyle/>
          <a:p>
            <a:pPr algn="just"/>
            <a:r>
              <a:rPr lang="en-US" sz="2200" dirty="0">
                <a:solidFill>
                  <a:srgbClr val="212529"/>
                </a:solidFill>
                <a:latin typeface="Merriweather" panose="00000500000000000000" pitchFamily="2" charset="0"/>
                <a:ea typeface="Calibri" pitchFamily="34" charset="-122"/>
                <a:cs typeface="Calibri" pitchFamily="34" charset="-120"/>
              </a:rPr>
              <a:t>La gestión de proyectos comunitarios es inherentemente policéntrica y compleja, involucrando múltiples actores con reglas formales e informales.</a:t>
            </a:r>
            <a:endParaRPr lang="en-US" sz="2200" dirty="0">
              <a:latin typeface="Merriweather" panose="00000500000000000000" pitchFamily="2" charset="0"/>
            </a:endParaRPr>
          </a:p>
        </p:txBody>
      </p:sp>
      <p:sp>
        <p:nvSpPr>
          <p:cNvPr id="27" name="Text 9"/>
          <p:cNvSpPr/>
          <p:nvPr/>
        </p:nvSpPr>
        <p:spPr>
          <a:xfrm>
            <a:off x="369175" y="8074749"/>
            <a:ext cx="3024045" cy="236253"/>
          </a:xfrm>
          <a:prstGeom prst="rect">
            <a:avLst/>
          </a:prstGeom>
          <a:noFill/>
          <a:ln/>
        </p:spPr>
        <p:txBody>
          <a:bodyPr wrap="square" lIns="0" tIns="0" rIns="0" bIns="0" rtlCol="0" anchor="t"/>
          <a:lstStyle/>
          <a:p>
            <a:pPr>
              <a:lnSpc>
                <a:spcPts val="1860"/>
              </a:lnSpc>
            </a:pPr>
            <a:r>
              <a:rPr lang="en-US" sz="2100" dirty="0">
                <a:solidFill>
                  <a:srgbClr val="212529"/>
                </a:solidFill>
                <a:latin typeface="Merriweather" panose="00000500000000000000" pitchFamily="2" charset="0"/>
                <a:ea typeface="Calibri" pitchFamily="34" charset="-122"/>
                <a:cs typeface="Calibri" pitchFamily="34" charset="-120"/>
              </a:rPr>
              <a:t>Alva-Rivera (2024)</a:t>
            </a:r>
            <a:endParaRPr lang="en-US" sz="2100" dirty="0">
              <a:latin typeface="Merriweather" panose="00000500000000000000" pitchFamily="2" charset="0"/>
            </a:endParaRPr>
          </a:p>
        </p:txBody>
      </p:sp>
      <p:sp>
        <p:nvSpPr>
          <p:cNvPr id="28" name="Text 10"/>
          <p:cNvSpPr/>
          <p:nvPr/>
        </p:nvSpPr>
        <p:spPr>
          <a:xfrm>
            <a:off x="10152889" y="5210984"/>
            <a:ext cx="3915317" cy="403068"/>
          </a:xfrm>
          <a:prstGeom prst="rect">
            <a:avLst/>
          </a:prstGeom>
          <a:noFill/>
          <a:ln/>
        </p:spPr>
        <p:txBody>
          <a:bodyPr wrap="square" lIns="0" tIns="0" rIns="0" bIns="0" rtlCol="0" anchor="t"/>
          <a:lstStyle/>
          <a:p>
            <a:pPr algn="ctr">
              <a:lnSpc>
                <a:spcPts val="2392"/>
              </a:lnSpc>
            </a:pPr>
            <a:r>
              <a:rPr lang="en-US" sz="2611" b="1" dirty="0">
                <a:latin typeface="Montserrat" panose="00000500000000000000" pitchFamily="2" charset="0"/>
                <a:ea typeface="EB Garamond" pitchFamily="34" charset="-122"/>
                <a:cs typeface="EB Garamond" pitchFamily="34" charset="-120"/>
              </a:rPr>
              <a:t>Innovación Metodológica</a:t>
            </a:r>
            <a:endParaRPr lang="en-US" sz="2611" dirty="0">
              <a:latin typeface="Montserrat" panose="00000500000000000000" pitchFamily="2" charset="0"/>
            </a:endParaRPr>
          </a:p>
        </p:txBody>
      </p:sp>
      <p:sp>
        <p:nvSpPr>
          <p:cNvPr id="29" name="Text 11"/>
          <p:cNvSpPr/>
          <p:nvPr/>
        </p:nvSpPr>
        <p:spPr>
          <a:xfrm>
            <a:off x="9392789" y="5984116"/>
            <a:ext cx="4886822" cy="1816302"/>
          </a:xfrm>
          <a:prstGeom prst="rect">
            <a:avLst/>
          </a:prstGeom>
          <a:noFill/>
          <a:ln/>
        </p:spPr>
        <p:txBody>
          <a:bodyPr wrap="square" lIns="0" tIns="0" rIns="0" bIns="0" rtlCol="0" anchor="t"/>
          <a:lstStyle/>
          <a:p>
            <a:r>
              <a:rPr lang="en-US" sz="2200" dirty="0">
                <a:solidFill>
                  <a:srgbClr val="212529"/>
                </a:solidFill>
                <a:latin typeface="Merriweather" panose="00000500000000000000" pitchFamily="2" charset="0"/>
                <a:ea typeface="Calibri" pitchFamily="34" charset="-122"/>
                <a:cs typeface="Calibri" pitchFamily="34" charset="-120"/>
              </a:rPr>
              <a:t>Esta tesis innova al ser la primera en aplicar el Índice de Shannon para medir la diversidad de problemas y la complejidad de las redes de gobernanza.</a:t>
            </a:r>
            <a:endParaRPr lang="en-US" sz="2200" dirty="0">
              <a:latin typeface="Merriweather" panose="00000500000000000000" pitchFamily="2" charset="0"/>
            </a:endParaRPr>
          </a:p>
        </p:txBody>
      </p:sp>
      <p:sp>
        <p:nvSpPr>
          <p:cNvPr id="30" name="Text 12"/>
          <p:cNvSpPr/>
          <p:nvPr/>
        </p:nvSpPr>
        <p:spPr>
          <a:xfrm>
            <a:off x="9492343" y="8008503"/>
            <a:ext cx="4718355" cy="426675"/>
          </a:xfrm>
          <a:prstGeom prst="rect">
            <a:avLst/>
          </a:prstGeom>
          <a:noFill/>
          <a:ln/>
        </p:spPr>
        <p:txBody>
          <a:bodyPr wrap="square" lIns="0" tIns="0" rIns="0" bIns="0" rtlCol="0" anchor="t"/>
          <a:lstStyle/>
          <a:p>
            <a:pPr>
              <a:lnSpc>
                <a:spcPts val="1860"/>
              </a:lnSpc>
            </a:pPr>
            <a:r>
              <a:rPr lang="en-US" sz="2100" dirty="0">
                <a:solidFill>
                  <a:srgbClr val="212529"/>
                </a:solidFill>
                <a:latin typeface="Merriweather" panose="00000500000000000000" pitchFamily="2" charset="0"/>
                <a:ea typeface="Calibri" pitchFamily="34" charset="-122"/>
                <a:cs typeface="Calibri" pitchFamily="34" charset="-120"/>
              </a:rPr>
              <a:t>Bardach (2000); Pomeroy (2021)</a:t>
            </a:r>
            <a:endParaRPr lang="en-US" sz="2100" dirty="0">
              <a:latin typeface="Merriweather" panose="00000500000000000000" pitchFamily="2" charset="0"/>
            </a:endParaRPr>
          </a:p>
        </p:txBody>
      </p:sp>
      <p:pic>
        <p:nvPicPr>
          <p:cNvPr id="32" name="Image 4" descr="preencoded.png">
            <a:extLst>
              <a:ext uri="{FF2B5EF4-FFF2-40B4-BE49-F238E27FC236}">
                <a16:creationId xmlns:a16="http://schemas.microsoft.com/office/drawing/2014/main" id="{DDB8DFDC-A218-3DF9-193B-12956F1EDA5B}"/>
              </a:ext>
            </a:extLst>
          </p:cNvPr>
          <p:cNvPicPr>
            <a:picLocks noChangeAspect="1"/>
          </p:cNvPicPr>
          <p:nvPr/>
        </p:nvPicPr>
        <p:blipFill>
          <a:blip r:embed="rId13"/>
          <a:stretch>
            <a:fillRect/>
          </a:stretch>
        </p:blipFill>
        <p:spPr>
          <a:xfrm>
            <a:off x="2599469" y="1322939"/>
            <a:ext cx="2016620" cy="100831"/>
          </a:xfrm>
          <a:prstGeom prst="rect">
            <a:avLst/>
          </a:prstGeom>
        </p:spPr>
      </p:pic>
      <p:pic>
        <p:nvPicPr>
          <p:cNvPr id="33" name="Image 2" descr="preencoded.png">
            <a:extLst>
              <a:ext uri="{FF2B5EF4-FFF2-40B4-BE49-F238E27FC236}">
                <a16:creationId xmlns:a16="http://schemas.microsoft.com/office/drawing/2014/main" id="{0E827084-6D23-A403-0900-BD61435C69FD}"/>
              </a:ext>
            </a:extLst>
          </p:cNvPr>
          <p:cNvPicPr>
            <a:picLocks noChangeAspect="1"/>
          </p:cNvPicPr>
          <p:nvPr/>
        </p:nvPicPr>
        <p:blipFill>
          <a:blip r:embed="rId14"/>
          <a:stretch>
            <a:fillRect/>
          </a:stretch>
        </p:blipFill>
        <p:spPr>
          <a:xfrm>
            <a:off x="12005985" y="87131"/>
            <a:ext cx="2363587" cy="1655926"/>
          </a:xfrm>
          <a:prstGeom prst="rect">
            <a:avLst/>
          </a:prstGeom>
        </p:spPr>
      </p:pic>
      <p:pic>
        <p:nvPicPr>
          <p:cNvPr id="35" name="Image 4" descr="preencoded.png">
            <a:extLst>
              <a:ext uri="{FF2B5EF4-FFF2-40B4-BE49-F238E27FC236}">
                <a16:creationId xmlns:a16="http://schemas.microsoft.com/office/drawing/2014/main" id="{B558ADEE-2F90-6782-711E-DC2F6FE0B778}"/>
              </a:ext>
            </a:extLst>
          </p:cNvPr>
          <p:cNvPicPr>
            <a:picLocks noChangeAspect="1"/>
          </p:cNvPicPr>
          <p:nvPr/>
        </p:nvPicPr>
        <p:blipFill>
          <a:blip r:embed="rId15"/>
          <a:stretch>
            <a:fillRect/>
          </a:stretch>
        </p:blipFill>
        <p:spPr>
          <a:xfrm>
            <a:off x="5440324" y="2692831"/>
            <a:ext cx="3600053" cy="3600053"/>
          </a:xfrm>
          <a:prstGeom prst="rect">
            <a:avLst/>
          </a:prstGeom>
        </p:spPr>
      </p:pic>
      <p:sp>
        <p:nvSpPr>
          <p:cNvPr id="36" name="Text 0">
            <a:extLst>
              <a:ext uri="{FF2B5EF4-FFF2-40B4-BE49-F238E27FC236}">
                <a16:creationId xmlns:a16="http://schemas.microsoft.com/office/drawing/2014/main" id="{2248086B-2C83-FF04-546D-58055A4AA2AD}"/>
              </a:ext>
            </a:extLst>
          </p:cNvPr>
          <p:cNvSpPr/>
          <p:nvPr/>
        </p:nvSpPr>
        <p:spPr>
          <a:xfrm>
            <a:off x="720010" y="809714"/>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II</a:t>
            </a:r>
            <a:endParaRPr lang="en-US" sz="1594" dirty="0">
              <a:latin typeface="Montserrat" panose="00000500000000000000" pitchFamily="2" charset="0"/>
            </a:endParaRPr>
          </a:p>
        </p:txBody>
      </p:sp>
      <p:pic>
        <p:nvPicPr>
          <p:cNvPr id="37" name="Image 2" descr="preencoded.png">
            <a:extLst>
              <a:ext uri="{FF2B5EF4-FFF2-40B4-BE49-F238E27FC236}">
                <a16:creationId xmlns:a16="http://schemas.microsoft.com/office/drawing/2014/main" id="{9BFEE093-9C4E-D476-7663-000187BB78CE}"/>
              </a:ext>
            </a:extLst>
          </p:cNvPr>
          <p:cNvPicPr>
            <a:picLocks noChangeAspect="1"/>
          </p:cNvPicPr>
          <p:nvPr/>
        </p:nvPicPr>
        <p:blipFill>
          <a:blip r:embed="rId16"/>
          <a:stretch>
            <a:fillRect/>
          </a:stretch>
        </p:blipFill>
        <p:spPr>
          <a:xfrm>
            <a:off x="-31950" y="31177"/>
            <a:ext cx="3211586" cy="2250034"/>
          </a:xfrm>
          <a:prstGeom prst="rect">
            <a:avLst/>
          </a:prstGeom>
        </p:spPr>
      </p:pic>
      <p:pic>
        <p:nvPicPr>
          <p:cNvPr id="38" name="Image 18" descr="preencoded.png">
            <a:extLst>
              <a:ext uri="{FF2B5EF4-FFF2-40B4-BE49-F238E27FC236}">
                <a16:creationId xmlns:a16="http://schemas.microsoft.com/office/drawing/2014/main" id="{3B876412-C643-7B05-FA64-8B839849C0CB}"/>
              </a:ext>
            </a:extLst>
          </p:cNvPr>
          <p:cNvPicPr>
            <a:picLocks noChangeAspect="1"/>
          </p:cNvPicPr>
          <p:nvPr/>
        </p:nvPicPr>
        <p:blipFill>
          <a:blip r:embed="rId17"/>
          <a:stretch>
            <a:fillRect/>
          </a:stretch>
        </p:blipFill>
        <p:spPr>
          <a:xfrm>
            <a:off x="0" y="-13823"/>
            <a:ext cx="14400213" cy="90001"/>
          </a:xfrm>
          <a:prstGeom prst="rect">
            <a:avLst/>
          </a:prstGeom>
        </p:spPr>
      </p:pic>
      <p:pic>
        <p:nvPicPr>
          <p:cNvPr id="39" name="Image 19" descr="preencoded.png">
            <a:extLst>
              <a:ext uri="{FF2B5EF4-FFF2-40B4-BE49-F238E27FC236}">
                <a16:creationId xmlns:a16="http://schemas.microsoft.com/office/drawing/2014/main" id="{5B8C2FDC-EA5B-2852-AAAF-BE82AB079810}"/>
              </a:ext>
            </a:extLst>
          </p:cNvPr>
          <p:cNvPicPr>
            <a:picLocks noChangeAspect="1"/>
          </p:cNvPicPr>
          <p:nvPr/>
        </p:nvPicPr>
        <p:blipFill>
          <a:blip r:embed="rId18"/>
          <a:stretch>
            <a:fillRect/>
          </a:stretch>
        </p:blipFill>
        <p:spPr>
          <a:xfrm>
            <a:off x="0" y="8909537"/>
            <a:ext cx="14400213" cy="90001"/>
          </a:xfrm>
          <a:prstGeom prst="rect">
            <a:avLst/>
          </a:prstGeom>
        </p:spPr>
      </p:pic>
      <p:pic>
        <p:nvPicPr>
          <p:cNvPr id="40" name="Image 21" descr="preencoded.png">
            <a:extLst>
              <a:ext uri="{FF2B5EF4-FFF2-40B4-BE49-F238E27FC236}">
                <a16:creationId xmlns:a16="http://schemas.microsoft.com/office/drawing/2014/main" id="{3977FE47-1E9E-25AC-9EA6-48685C8593AD}"/>
              </a:ext>
            </a:extLst>
          </p:cNvPr>
          <p:cNvPicPr>
            <a:picLocks noChangeAspect="1"/>
          </p:cNvPicPr>
          <p:nvPr/>
        </p:nvPicPr>
        <p:blipFill>
          <a:blip r:embed="rId19"/>
          <a:stretch>
            <a:fillRect/>
          </a:stretch>
        </p:blipFill>
        <p:spPr>
          <a:xfrm>
            <a:off x="21792" y="8661572"/>
            <a:ext cx="216000" cy="216000"/>
          </a:xfrm>
          <a:prstGeom prst="rect">
            <a:avLst/>
          </a:prstGeom>
        </p:spPr>
      </p:pic>
      <p:sp>
        <p:nvSpPr>
          <p:cNvPr id="41" name="Text 16">
            <a:extLst>
              <a:ext uri="{FF2B5EF4-FFF2-40B4-BE49-F238E27FC236}">
                <a16:creationId xmlns:a16="http://schemas.microsoft.com/office/drawing/2014/main" id="{27E3D338-4039-4D4A-2C43-C9A9E53F9A40}"/>
              </a:ext>
            </a:extLst>
          </p:cNvPr>
          <p:cNvSpPr/>
          <p:nvPr/>
        </p:nvSpPr>
        <p:spPr>
          <a:xfrm>
            <a:off x="275581" y="8713551"/>
            <a:ext cx="6546580" cy="180004"/>
          </a:xfrm>
          <a:prstGeom prst="rect">
            <a:avLst/>
          </a:prstGeom>
          <a:noFill/>
          <a:ln/>
        </p:spPr>
        <p:txBody>
          <a:bodyPr wrap="square" lIns="0" tIns="0" rIns="0" bIns="0" rtlCol="0" anchor="t"/>
          <a:lstStyle/>
          <a:p>
            <a:pPr>
              <a:lnSpc>
                <a:spcPts val="1772"/>
              </a:lnSpc>
            </a:pPr>
            <a:r>
              <a:rPr lang="en-US" dirty="0">
                <a:solidFill>
                  <a:srgbClr val="4B5563"/>
                </a:solidFill>
                <a:latin typeface="Montserrat" pitchFamily="34" charset="0"/>
                <a:ea typeface="Montserrat" pitchFamily="34" charset="-122"/>
                <a:cs typeface="Montserrat" pitchFamily="34" charset="-120"/>
              </a:rPr>
              <a:t>Universidad de Los Andes | William A. Gutiérrez V.</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6">
    <p:bg>
      <p:bgPr>
        <a:solidFill>
          <a:schemeClr val="bg1"/>
        </a:solidFill>
        <a:effectLst/>
      </p:bgPr>
    </p:bg>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50207" y="45000"/>
            <a:ext cx="3622928" cy="2538219"/>
          </a:xfrm>
          <a:prstGeom prst="rect">
            <a:avLst/>
          </a:prstGeom>
        </p:spPr>
      </p:pic>
      <p:pic>
        <p:nvPicPr>
          <p:cNvPr id="7" name="Image 5" descr="preencoded.png"/>
          <p:cNvPicPr>
            <a:picLocks noChangeAspect="1"/>
          </p:cNvPicPr>
          <p:nvPr/>
        </p:nvPicPr>
        <p:blipFill>
          <a:blip r:embed="rId4"/>
          <a:stretch>
            <a:fillRect/>
          </a:stretch>
        </p:blipFill>
        <p:spPr>
          <a:xfrm>
            <a:off x="5134991" y="859641"/>
            <a:ext cx="5788211" cy="2070031"/>
          </a:xfrm>
          <a:prstGeom prst="rect">
            <a:avLst/>
          </a:prstGeom>
        </p:spPr>
      </p:pic>
      <p:pic>
        <p:nvPicPr>
          <p:cNvPr id="9" name="Image 7" descr="preencoded.png"/>
          <p:cNvPicPr>
            <a:picLocks noChangeAspect="1"/>
          </p:cNvPicPr>
          <p:nvPr/>
        </p:nvPicPr>
        <p:blipFill>
          <a:blip r:embed="rId5"/>
          <a:stretch>
            <a:fillRect/>
          </a:stretch>
        </p:blipFill>
        <p:spPr>
          <a:xfrm>
            <a:off x="133347" y="2962294"/>
            <a:ext cx="3418924" cy="4442408"/>
          </a:xfrm>
          <a:prstGeom prst="rect">
            <a:avLst/>
          </a:prstGeom>
        </p:spPr>
      </p:pic>
      <p:pic>
        <p:nvPicPr>
          <p:cNvPr id="10" name="Image 8" descr="preencoded.png"/>
          <p:cNvPicPr>
            <a:picLocks noChangeAspect="1"/>
          </p:cNvPicPr>
          <p:nvPr/>
        </p:nvPicPr>
        <p:blipFill>
          <a:blip r:embed="rId6"/>
          <a:stretch>
            <a:fillRect/>
          </a:stretch>
        </p:blipFill>
        <p:spPr>
          <a:xfrm>
            <a:off x="313350" y="3232297"/>
            <a:ext cx="337505" cy="360005"/>
          </a:xfrm>
          <a:prstGeom prst="rect">
            <a:avLst/>
          </a:prstGeom>
        </p:spPr>
      </p:pic>
      <p:pic>
        <p:nvPicPr>
          <p:cNvPr id="11" name="Image 9" descr="preencoded.png"/>
          <p:cNvPicPr>
            <a:picLocks noChangeAspect="1"/>
          </p:cNvPicPr>
          <p:nvPr/>
        </p:nvPicPr>
        <p:blipFill>
          <a:blip r:embed="rId7"/>
          <a:stretch>
            <a:fillRect/>
          </a:stretch>
        </p:blipFill>
        <p:spPr>
          <a:xfrm>
            <a:off x="158038" y="7133366"/>
            <a:ext cx="127561" cy="170081"/>
          </a:xfrm>
          <a:prstGeom prst="rect">
            <a:avLst/>
          </a:prstGeom>
        </p:spPr>
      </p:pic>
      <p:pic>
        <p:nvPicPr>
          <p:cNvPr id="12" name="Image 10" descr="preencoded.png"/>
          <p:cNvPicPr>
            <a:picLocks noChangeAspect="1"/>
          </p:cNvPicPr>
          <p:nvPr/>
        </p:nvPicPr>
        <p:blipFill>
          <a:blip r:embed="rId8"/>
          <a:stretch>
            <a:fillRect/>
          </a:stretch>
        </p:blipFill>
        <p:spPr>
          <a:xfrm>
            <a:off x="3791991" y="2980810"/>
            <a:ext cx="3352549" cy="4627569"/>
          </a:xfrm>
          <a:prstGeom prst="rect">
            <a:avLst/>
          </a:prstGeom>
        </p:spPr>
      </p:pic>
      <p:pic>
        <p:nvPicPr>
          <p:cNvPr id="13" name="Image 11" descr="preencoded.png"/>
          <p:cNvPicPr>
            <a:picLocks noChangeAspect="1"/>
          </p:cNvPicPr>
          <p:nvPr/>
        </p:nvPicPr>
        <p:blipFill>
          <a:blip r:embed="rId9"/>
          <a:stretch>
            <a:fillRect/>
          </a:stretch>
        </p:blipFill>
        <p:spPr>
          <a:xfrm>
            <a:off x="3984034" y="3141867"/>
            <a:ext cx="337505" cy="360005"/>
          </a:xfrm>
          <a:prstGeom prst="rect">
            <a:avLst/>
          </a:prstGeom>
        </p:spPr>
      </p:pic>
      <p:pic>
        <p:nvPicPr>
          <p:cNvPr id="14" name="Image 12" descr="preencoded.png"/>
          <p:cNvPicPr>
            <a:picLocks noChangeAspect="1"/>
          </p:cNvPicPr>
          <p:nvPr/>
        </p:nvPicPr>
        <p:blipFill>
          <a:blip r:embed="rId7"/>
          <a:stretch>
            <a:fillRect/>
          </a:stretch>
        </p:blipFill>
        <p:spPr>
          <a:xfrm>
            <a:off x="3939422" y="7190873"/>
            <a:ext cx="140520" cy="170081"/>
          </a:xfrm>
          <a:prstGeom prst="rect">
            <a:avLst/>
          </a:prstGeom>
        </p:spPr>
      </p:pic>
      <p:pic>
        <p:nvPicPr>
          <p:cNvPr id="15" name="Image 13" descr="preencoded.png"/>
          <p:cNvPicPr>
            <a:picLocks noChangeAspect="1"/>
          </p:cNvPicPr>
          <p:nvPr/>
        </p:nvPicPr>
        <p:blipFill>
          <a:blip r:embed="rId8"/>
          <a:stretch>
            <a:fillRect/>
          </a:stretch>
        </p:blipFill>
        <p:spPr>
          <a:xfrm>
            <a:off x="7380383" y="2987916"/>
            <a:ext cx="3571816" cy="4151847"/>
          </a:xfrm>
          <a:prstGeom prst="rect">
            <a:avLst/>
          </a:prstGeom>
        </p:spPr>
      </p:pic>
      <p:pic>
        <p:nvPicPr>
          <p:cNvPr id="16" name="Image 14" descr="preencoded.png"/>
          <p:cNvPicPr>
            <a:picLocks noChangeAspect="1"/>
          </p:cNvPicPr>
          <p:nvPr/>
        </p:nvPicPr>
        <p:blipFill>
          <a:blip r:embed="rId10"/>
          <a:stretch>
            <a:fillRect/>
          </a:stretch>
        </p:blipFill>
        <p:spPr>
          <a:xfrm>
            <a:off x="7484072" y="3195577"/>
            <a:ext cx="303754" cy="360005"/>
          </a:xfrm>
          <a:prstGeom prst="rect">
            <a:avLst/>
          </a:prstGeom>
        </p:spPr>
      </p:pic>
      <p:pic>
        <p:nvPicPr>
          <p:cNvPr id="17" name="Image 15" descr="preencoded.png"/>
          <p:cNvPicPr>
            <a:picLocks noChangeAspect="1"/>
          </p:cNvPicPr>
          <p:nvPr/>
        </p:nvPicPr>
        <p:blipFill>
          <a:blip r:embed="rId7"/>
          <a:stretch>
            <a:fillRect/>
          </a:stretch>
        </p:blipFill>
        <p:spPr>
          <a:xfrm>
            <a:off x="7514769" y="7308050"/>
            <a:ext cx="127561" cy="170081"/>
          </a:xfrm>
          <a:prstGeom prst="rect">
            <a:avLst/>
          </a:prstGeom>
        </p:spPr>
      </p:pic>
      <p:pic>
        <p:nvPicPr>
          <p:cNvPr id="18" name="Image 16" descr="preencoded.png"/>
          <p:cNvPicPr>
            <a:picLocks noChangeAspect="1"/>
          </p:cNvPicPr>
          <p:nvPr/>
        </p:nvPicPr>
        <p:blipFill>
          <a:blip r:embed="rId8"/>
          <a:stretch>
            <a:fillRect/>
          </a:stretch>
        </p:blipFill>
        <p:spPr>
          <a:xfrm>
            <a:off x="11024549" y="2986937"/>
            <a:ext cx="3376113" cy="4310453"/>
          </a:xfrm>
          <a:prstGeom prst="rect">
            <a:avLst/>
          </a:prstGeom>
        </p:spPr>
      </p:pic>
      <p:pic>
        <p:nvPicPr>
          <p:cNvPr id="19" name="Image 17" descr="preencoded.png"/>
          <p:cNvPicPr>
            <a:picLocks noChangeAspect="1"/>
          </p:cNvPicPr>
          <p:nvPr/>
        </p:nvPicPr>
        <p:blipFill>
          <a:blip r:embed="rId11"/>
          <a:stretch>
            <a:fillRect/>
          </a:stretch>
        </p:blipFill>
        <p:spPr>
          <a:xfrm>
            <a:off x="11220724" y="3181578"/>
            <a:ext cx="270004" cy="360005"/>
          </a:xfrm>
          <a:prstGeom prst="rect">
            <a:avLst/>
          </a:prstGeom>
        </p:spPr>
      </p:pic>
      <p:pic>
        <p:nvPicPr>
          <p:cNvPr id="20" name="Image 18" descr="preencoded.png"/>
          <p:cNvPicPr>
            <a:picLocks noChangeAspect="1"/>
          </p:cNvPicPr>
          <p:nvPr/>
        </p:nvPicPr>
        <p:blipFill>
          <a:blip r:embed="rId7"/>
          <a:stretch>
            <a:fillRect/>
          </a:stretch>
        </p:blipFill>
        <p:spPr>
          <a:xfrm>
            <a:off x="11225894" y="6758629"/>
            <a:ext cx="127561" cy="170081"/>
          </a:xfrm>
          <a:prstGeom prst="rect">
            <a:avLst/>
          </a:prstGeom>
        </p:spPr>
      </p:pic>
      <p:pic>
        <p:nvPicPr>
          <p:cNvPr id="21" name="Image 19" descr="preencoded.png"/>
          <p:cNvPicPr>
            <a:picLocks noChangeAspect="1"/>
          </p:cNvPicPr>
          <p:nvPr/>
        </p:nvPicPr>
        <p:blipFill>
          <a:blip r:embed="rId12"/>
          <a:stretch>
            <a:fillRect/>
          </a:stretch>
        </p:blipFill>
        <p:spPr>
          <a:xfrm>
            <a:off x="283813" y="7776602"/>
            <a:ext cx="13721454" cy="742843"/>
          </a:xfrm>
          <a:prstGeom prst="rect">
            <a:avLst/>
          </a:prstGeom>
        </p:spPr>
      </p:pic>
      <p:pic>
        <p:nvPicPr>
          <p:cNvPr id="22" name="Image 20" descr="preencoded.png"/>
          <p:cNvPicPr>
            <a:picLocks noChangeAspect="1"/>
          </p:cNvPicPr>
          <p:nvPr/>
        </p:nvPicPr>
        <p:blipFill>
          <a:blip r:embed="rId13"/>
          <a:stretch>
            <a:fillRect/>
          </a:stretch>
        </p:blipFill>
        <p:spPr>
          <a:xfrm>
            <a:off x="450838" y="7890387"/>
            <a:ext cx="135002" cy="180003"/>
          </a:xfrm>
          <a:prstGeom prst="rect">
            <a:avLst/>
          </a:prstGeom>
        </p:spPr>
      </p:pic>
      <p:pic>
        <p:nvPicPr>
          <p:cNvPr id="24" name="Image 22" descr="preencoded.png"/>
          <p:cNvPicPr>
            <a:picLocks noChangeAspect="1"/>
          </p:cNvPicPr>
          <p:nvPr/>
        </p:nvPicPr>
        <p:blipFill>
          <a:blip r:embed="rId14"/>
          <a:stretch>
            <a:fillRect/>
          </a:stretch>
        </p:blipFill>
        <p:spPr>
          <a:xfrm>
            <a:off x="-25104" y="-45001"/>
            <a:ext cx="14400213" cy="90001"/>
          </a:xfrm>
          <a:prstGeom prst="rect">
            <a:avLst/>
          </a:prstGeom>
        </p:spPr>
      </p:pic>
      <p:pic>
        <p:nvPicPr>
          <p:cNvPr id="23" name="Image 21" descr="preencoded.png"/>
          <p:cNvPicPr>
            <a:picLocks noChangeAspect="1"/>
          </p:cNvPicPr>
          <p:nvPr/>
        </p:nvPicPr>
        <p:blipFill>
          <a:blip r:embed="rId15"/>
          <a:stretch>
            <a:fillRect/>
          </a:stretch>
        </p:blipFill>
        <p:spPr>
          <a:xfrm>
            <a:off x="21793" y="8661573"/>
            <a:ext cx="180003" cy="180003"/>
          </a:xfrm>
          <a:prstGeom prst="rect">
            <a:avLst/>
          </a:prstGeom>
        </p:spPr>
      </p:pic>
      <p:pic>
        <p:nvPicPr>
          <p:cNvPr id="25" name="Image 23" descr="preencoded.png"/>
          <p:cNvPicPr>
            <a:picLocks noChangeAspect="1"/>
          </p:cNvPicPr>
          <p:nvPr/>
        </p:nvPicPr>
        <p:blipFill>
          <a:blip r:embed="rId16"/>
          <a:stretch>
            <a:fillRect/>
          </a:stretch>
        </p:blipFill>
        <p:spPr>
          <a:xfrm>
            <a:off x="-1" y="8904186"/>
            <a:ext cx="14400213" cy="90001"/>
          </a:xfrm>
          <a:prstGeom prst="rect">
            <a:avLst/>
          </a:prstGeom>
        </p:spPr>
      </p:pic>
      <p:sp>
        <p:nvSpPr>
          <p:cNvPr id="27" name="Text 0"/>
          <p:cNvSpPr/>
          <p:nvPr/>
        </p:nvSpPr>
        <p:spPr>
          <a:xfrm>
            <a:off x="5953251" y="409634"/>
            <a:ext cx="3757555" cy="450007"/>
          </a:xfrm>
          <a:prstGeom prst="rect">
            <a:avLst/>
          </a:prstGeom>
          <a:noFill/>
          <a:ln/>
        </p:spPr>
        <p:txBody>
          <a:bodyPr wrap="square" lIns="0" tIns="0" rIns="0" bIns="0" rtlCol="0" anchor="t"/>
          <a:lstStyle/>
          <a:p>
            <a:pPr>
              <a:lnSpc>
                <a:spcPts val="3543"/>
              </a:lnSpc>
            </a:pPr>
            <a:r>
              <a:rPr lang="es-VE" sz="3780" b="1" dirty="0">
                <a:solidFill>
                  <a:srgbClr val="343A40"/>
                </a:solidFill>
                <a:latin typeface="Montserrat" panose="00000500000000000000" pitchFamily="2" charset="0"/>
                <a:ea typeface="Montserrat" pitchFamily="34" charset="-122"/>
                <a:cs typeface="Montserrat" pitchFamily="34" charset="-120"/>
              </a:rPr>
              <a:t>Marco Teórico</a:t>
            </a:r>
            <a:endParaRPr lang="es-VE" sz="3780" dirty="0">
              <a:latin typeface="Montserrat" panose="00000500000000000000" pitchFamily="2" charset="0"/>
            </a:endParaRPr>
          </a:p>
        </p:txBody>
      </p:sp>
      <p:sp>
        <p:nvSpPr>
          <p:cNvPr id="28" name="Text 1"/>
          <p:cNvSpPr/>
          <p:nvPr/>
        </p:nvSpPr>
        <p:spPr>
          <a:xfrm>
            <a:off x="5023362" y="937889"/>
            <a:ext cx="5928837" cy="573758"/>
          </a:xfrm>
          <a:prstGeom prst="rect">
            <a:avLst/>
          </a:prstGeom>
          <a:noFill/>
          <a:ln/>
        </p:spPr>
        <p:txBody>
          <a:bodyPr wrap="square" lIns="0" tIns="0" rIns="0" bIns="0" rtlCol="0" anchor="t"/>
          <a:lstStyle/>
          <a:p>
            <a:pPr algn="ctr"/>
            <a:r>
              <a:rPr lang="es-VE" sz="3307" b="1" dirty="0">
                <a:solidFill>
                  <a:srgbClr val="343A40"/>
                </a:solidFill>
                <a:latin typeface="Montserrat" pitchFamily="34" charset="0"/>
                <a:ea typeface="Montserrat" pitchFamily="34" charset="-122"/>
                <a:cs typeface="Montserrat" pitchFamily="34" charset="-120"/>
              </a:rPr>
              <a:t>Fundamentos Teóricos</a:t>
            </a:r>
            <a:endParaRPr lang="es-VE" sz="3307" dirty="0"/>
          </a:p>
        </p:txBody>
      </p:sp>
      <p:sp>
        <p:nvSpPr>
          <p:cNvPr id="29" name="Text 2"/>
          <p:cNvSpPr/>
          <p:nvPr/>
        </p:nvSpPr>
        <p:spPr>
          <a:xfrm>
            <a:off x="4591751" y="1445004"/>
            <a:ext cx="6966966" cy="1260020"/>
          </a:xfrm>
          <a:prstGeom prst="rect">
            <a:avLst/>
          </a:prstGeom>
          <a:noFill/>
          <a:ln/>
        </p:spPr>
        <p:txBody>
          <a:bodyPr wrap="square" lIns="0" tIns="0" rIns="0" bIns="0" rtlCol="0" anchor="t"/>
          <a:lstStyle/>
          <a:p>
            <a:pPr algn="ctr"/>
            <a:r>
              <a:rPr lang="en-US" sz="2362" dirty="0">
                <a:solidFill>
                  <a:srgbClr val="343A40"/>
                </a:solidFill>
                <a:latin typeface="Merriweather" pitchFamily="34" charset="0"/>
                <a:ea typeface="Merriweather" pitchFamily="34" charset="-122"/>
                <a:cs typeface="Merriweather" pitchFamily="34" charset="-120"/>
              </a:rPr>
              <a:t>Un enfoque innovador que conecta múltiples disciplinas para abordar la evaluación de la efectividad de las ACA</a:t>
            </a:r>
            <a:endParaRPr lang="en-US" sz="2362" dirty="0"/>
          </a:p>
        </p:txBody>
      </p:sp>
      <p:sp>
        <p:nvSpPr>
          <p:cNvPr id="30" name="Text 3"/>
          <p:cNvSpPr/>
          <p:nvPr/>
        </p:nvSpPr>
        <p:spPr>
          <a:xfrm>
            <a:off x="688125" y="3196194"/>
            <a:ext cx="2927384" cy="804154"/>
          </a:xfrm>
          <a:prstGeom prst="rect">
            <a:avLst/>
          </a:prstGeom>
          <a:noFill/>
          <a:ln/>
        </p:spPr>
        <p:txBody>
          <a:bodyPr wrap="square" lIns="0" tIns="0" rIns="0" bIns="0" rtlCol="0" anchor="t"/>
          <a:lstStyle/>
          <a:p>
            <a:r>
              <a:rPr lang="en-US" sz="2100" b="1" dirty="0">
                <a:solidFill>
                  <a:srgbClr val="343A40"/>
                </a:solidFill>
                <a:latin typeface="Montserrat" pitchFamily="34" charset="0"/>
                <a:ea typeface="Montserrat" pitchFamily="34" charset="-122"/>
                <a:cs typeface="Montserrat" pitchFamily="34" charset="-120"/>
              </a:rPr>
              <a:t>Planificación Pública Participativa</a:t>
            </a:r>
            <a:endParaRPr lang="en-US" sz="2100" dirty="0"/>
          </a:p>
        </p:txBody>
      </p:sp>
      <p:sp>
        <p:nvSpPr>
          <p:cNvPr id="31" name="Text 4"/>
          <p:cNvSpPr/>
          <p:nvPr/>
        </p:nvSpPr>
        <p:spPr>
          <a:xfrm>
            <a:off x="250697" y="3977655"/>
            <a:ext cx="3373924" cy="2858129"/>
          </a:xfrm>
          <a:prstGeom prst="rect">
            <a:avLst/>
          </a:prstGeom>
          <a:noFill/>
          <a:ln/>
        </p:spPr>
        <p:txBody>
          <a:bodyPr wrap="square" lIns="0" tIns="0" rIns="0" bIns="0" rtlCol="0" anchor="t"/>
          <a:lstStyle/>
          <a:p>
            <a:pPr algn="just"/>
            <a:r>
              <a:rPr lang="en-US" sz="2010" dirty="0">
                <a:solidFill>
                  <a:srgbClr val="343A40"/>
                </a:solidFill>
                <a:latin typeface="Merriweather" pitchFamily="34" charset="0"/>
                <a:ea typeface="Merriweather" pitchFamily="34" charset="-122"/>
                <a:cs typeface="Merriweather" pitchFamily="34" charset="-120"/>
              </a:rPr>
              <a:t>Fundamento conceptual que sostiene que la eficacia de la planificación territorial depende de la articulación entre las necesidades comunitarias y las capacidades institucionales.</a:t>
            </a:r>
            <a:endParaRPr lang="en-US" sz="2010" dirty="0"/>
          </a:p>
        </p:txBody>
      </p:sp>
      <p:sp>
        <p:nvSpPr>
          <p:cNvPr id="32" name="Text 5"/>
          <p:cNvSpPr/>
          <p:nvPr/>
        </p:nvSpPr>
        <p:spPr>
          <a:xfrm>
            <a:off x="298536" y="7202196"/>
            <a:ext cx="3105046" cy="202503"/>
          </a:xfrm>
          <a:prstGeom prst="rect">
            <a:avLst/>
          </a:prstGeom>
          <a:noFill/>
          <a:ln/>
        </p:spPr>
        <p:txBody>
          <a:bodyPr wrap="square" lIns="0" tIns="0" rIns="0" bIns="0" rtlCol="0" anchor="t"/>
          <a:lstStyle/>
          <a:p>
            <a:pPr>
              <a:lnSpc>
                <a:spcPts val="1417"/>
              </a:lnSpc>
            </a:pPr>
            <a:r>
              <a:rPr lang="en-US" sz="1890" dirty="0">
                <a:latin typeface="Montserrat" pitchFamily="34" charset="0"/>
                <a:ea typeface="Montserrat" pitchFamily="34" charset="-122"/>
                <a:cs typeface="Montserrat" pitchFamily="34" charset="-120"/>
              </a:rPr>
              <a:t> Origen: Bardach, 2000</a:t>
            </a:r>
            <a:endParaRPr lang="en-US" sz="1890" dirty="0"/>
          </a:p>
        </p:txBody>
      </p:sp>
      <p:sp>
        <p:nvSpPr>
          <p:cNvPr id="33" name="Text 6"/>
          <p:cNvSpPr/>
          <p:nvPr/>
        </p:nvSpPr>
        <p:spPr>
          <a:xfrm>
            <a:off x="4475842" y="3141867"/>
            <a:ext cx="2272534" cy="540008"/>
          </a:xfrm>
          <a:prstGeom prst="rect">
            <a:avLst/>
          </a:prstGeom>
          <a:noFill/>
          <a:ln/>
        </p:spPr>
        <p:txBody>
          <a:bodyPr wrap="square" lIns="0" tIns="0" rIns="0" bIns="0" rtlCol="0" anchor="t"/>
          <a:lstStyle/>
          <a:p>
            <a:r>
              <a:rPr lang="en-US" sz="2100" b="1" dirty="0">
                <a:solidFill>
                  <a:srgbClr val="343A40"/>
                </a:solidFill>
                <a:latin typeface="Montserrat" pitchFamily="34" charset="0"/>
                <a:ea typeface="Montserrat" pitchFamily="34" charset="-122"/>
                <a:cs typeface="Montserrat" pitchFamily="34" charset="-120"/>
              </a:rPr>
              <a:t>Gobernanza Policéntrica</a:t>
            </a:r>
            <a:endParaRPr lang="en-US" sz="2100" dirty="0"/>
          </a:p>
        </p:txBody>
      </p:sp>
      <p:sp>
        <p:nvSpPr>
          <p:cNvPr id="34" name="Text 7"/>
          <p:cNvSpPr/>
          <p:nvPr/>
        </p:nvSpPr>
        <p:spPr>
          <a:xfrm>
            <a:off x="3918935" y="3846451"/>
            <a:ext cx="3297955" cy="3191297"/>
          </a:xfrm>
          <a:prstGeom prst="rect">
            <a:avLst/>
          </a:prstGeom>
          <a:noFill/>
          <a:ln/>
        </p:spPr>
        <p:txBody>
          <a:bodyPr wrap="square" lIns="0" tIns="0" rIns="0" bIns="0" rtlCol="0" anchor="t"/>
          <a:lstStyle/>
          <a:p>
            <a:pPr algn="just"/>
            <a:r>
              <a:rPr lang="en-US" sz="2008" dirty="0">
                <a:solidFill>
                  <a:srgbClr val="343A40"/>
                </a:solidFill>
                <a:latin typeface="Merriweather" pitchFamily="34" charset="0"/>
                <a:ea typeface="Merriweather" pitchFamily="34" charset="-122"/>
                <a:cs typeface="Merriweather" pitchFamily="34" charset="-120"/>
              </a:rPr>
              <a:t>Complementa el marco IAD al establecer que los sistemas de gobierno efectivos se caracterizan por múltiples centros de autoridad coordinados pero autónomos, permitiendo soluciones adaptadas a contextos específicos.</a:t>
            </a:r>
            <a:endParaRPr lang="en-US" sz="2008" dirty="0"/>
          </a:p>
        </p:txBody>
      </p:sp>
      <p:sp>
        <p:nvSpPr>
          <p:cNvPr id="35" name="Text 8"/>
          <p:cNvSpPr/>
          <p:nvPr/>
        </p:nvSpPr>
        <p:spPr>
          <a:xfrm>
            <a:off x="4076219" y="7112787"/>
            <a:ext cx="3212326" cy="606570"/>
          </a:xfrm>
          <a:prstGeom prst="rect">
            <a:avLst/>
          </a:prstGeom>
          <a:noFill/>
          <a:ln/>
        </p:spPr>
        <p:txBody>
          <a:bodyPr wrap="square" lIns="0" tIns="0" rIns="0" bIns="0" rtlCol="0" anchor="t"/>
          <a:lstStyle/>
          <a:p>
            <a:r>
              <a:rPr lang="en-US" sz="1890" dirty="0">
                <a:latin typeface="Montserrat" pitchFamily="34" charset="0"/>
                <a:ea typeface="Montserrat" pitchFamily="34" charset="-122"/>
                <a:cs typeface="Montserrat" pitchFamily="34" charset="-120"/>
              </a:rPr>
              <a:t> Origen: Ostrom; Alva-Rivera, 2024</a:t>
            </a:r>
            <a:endParaRPr lang="en-US" sz="1890" dirty="0"/>
          </a:p>
        </p:txBody>
      </p:sp>
      <p:sp>
        <p:nvSpPr>
          <p:cNvPr id="36" name="Text 9"/>
          <p:cNvSpPr/>
          <p:nvPr/>
        </p:nvSpPr>
        <p:spPr>
          <a:xfrm>
            <a:off x="7986901" y="3195579"/>
            <a:ext cx="2900325" cy="500161"/>
          </a:xfrm>
          <a:prstGeom prst="rect">
            <a:avLst/>
          </a:prstGeom>
          <a:noFill/>
          <a:ln/>
        </p:spPr>
        <p:txBody>
          <a:bodyPr wrap="square" lIns="0" tIns="0" rIns="0" bIns="0" rtlCol="0" anchor="t"/>
          <a:lstStyle/>
          <a:p>
            <a:pPr algn="ctr">
              <a:lnSpc>
                <a:spcPts val="2126"/>
              </a:lnSpc>
            </a:pPr>
            <a:r>
              <a:rPr lang="en-US" sz="2100" b="1" dirty="0">
                <a:solidFill>
                  <a:srgbClr val="343A40"/>
                </a:solidFill>
                <a:latin typeface="Montserrat" pitchFamily="34" charset="0"/>
                <a:ea typeface="Montserrat" pitchFamily="34" charset="-122"/>
                <a:cs typeface="Montserrat" pitchFamily="34" charset="-120"/>
              </a:rPr>
              <a:t>Teoría de la Información</a:t>
            </a:r>
            <a:endParaRPr lang="en-US" sz="2100" dirty="0"/>
          </a:p>
        </p:txBody>
      </p:sp>
      <p:sp>
        <p:nvSpPr>
          <p:cNvPr id="37" name="Text 10"/>
          <p:cNvSpPr/>
          <p:nvPr/>
        </p:nvSpPr>
        <p:spPr>
          <a:xfrm>
            <a:off x="7552039" y="3748709"/>
            <a:ext cx="3373464" cy="3364078"/>
          </a:xfrm>
          <a:prstGeom prst="rect">
            <a:avLst/>
          </a:prstGeom>
          <a:noFill/>
          <a:ln/>
        </p:spPr>
        <p:txBody>
          <a:bodyPr wrap="square" lIns="0" tIns="0" rIns="0" bIns="0" rtlCol="0" anchor="t"/>
          <a:lstStyle/>
          <a:p>
            <a:pPr algn="just"/>
            <a:r>
              <a:rPr lang="en-US" sz="2008" dirty="0">
                <a:solidFill>
                  <a:srgbClr val="343A40"/>
                </a:solidFill>
                <a:latin typeface="Merriweather" pitchFamily="34" charset="0"/>
                <a:ea typeface="Merriweather" pitchFamily="34" charset="-122"/>
                <a:cs typeface="Merriweather" pitchFamily="34" charset="-120"/>
              </a:rPr>
              <a:t>Proporciona las herramientas matemáticas para cuantificar la diversidad y complejidad en sistemas organizacionales, adaptada para medir la heterogeneidad de nudos críticos y la diversidad de actores institucionales en las ACA.</a:t>
            </a:r>
            <a:endParaRPr lang="en-US" sz="2008" dirty="0"/>
          </a:p>
        </p:txBody>
      </p:sp>
      <p:sp>
        <p:nvSpPr>
          <p:cNvPr id="38" name="Text 11"/>
          <p:cNvSpPr/>
          <p:nvPr/>
        </p:nvSpPr>
        <p:spPr>
          <a:xfrm>
            <a:off x="7673636" y="7344663"/>
            <a:ext cx="2943498" cy="420827"/>
          </a:xfrm>
          <a:prstGeom prst="rect">
            <a:avLst/>
          </a:prstGeom>
          <a:noFill/>
          <a:ln/>
        </p:spPr>
        <p:txBody>
          <a:bodyPr wrap="square" lIns="0" tIns="0" rIns="0" bIns="0" rtlCol="0" anchor="t"/>
          <a:lstStyle/>
          <a:p>
            <a:pPr>
              <a:lnSpc>
                <a:spcPts val="1417"/>
              </a:lnSpc>
            </a:pPr>
            <a:r>
              <a:rPr lang="en-US" sz="1890" dirty="0">
                <a:latin typeface="Montserrat" pitchFamily="34" charset="0"/>
                <a:ea typeface="Montserrat" pitchFamily="34" charset="-122"/>
                <a:cs typeface="Montserrat" pitchFamily="34" charset="-120"/>
              </a:rPr>
              <a:t> Origen: Shannon, 1948</a:t>
            </a:r>
            <a:endParaRPr lang="en-US" sz="1890" dirty="0"/>
          </a:p>
        </p:txBody>
      </p:sp>
      <p:sp>
        <p:nvSpPr>
          <p:cNvPr id="39" name="Text 12"/>
          <p:cNvSpPr/>
          <p:nvPr/>
        </p:nvSpPr>
        <p:spPr>
          <a:xfrm>
            <a:off x="11558717" y="3093341"/>
            <a:ext cx="2708149" cy="907007"/>
          </a:xfrm>
          <a:prstGeom prst="rect">
            <a:avLst/>
          </a:prstGeom>
          <a:noFill/>
          <a:ln/>
        </p:spPr>
        <p:txBody>
          <a:bodyPr wrap="square" lIns="0" tIns="0" rIns="0" bIns="0" rtlCol="0" anchor="t"/>
          <a:lstStyle/>
          <a:p>
            <a:pPr algn="ctr"/>
            <a:r>
              <a:rPr lang="en-US" sz="2100" b="1" dirty="0">
                <a:solidFill>
                  <a:srgbClr val="343A40"/>
                </a:solidFill>
                <a:latin typeface="Montserrat" pitchFamily="34" charset="0"/>
                <a:ea typeface="Montserrat" pitchFamily="34" charset="-122"/>
                <a:cs typeface="Montserrat" pitchFamily="34" charset="-120"/>
              </a:rPr>
              <a:t>Transparencia y Rendición de Cuentas</a:t>
            </a:r>
            <a:endParaRPr lang="en-US" sz="2100" dirty="0"/>
          </a:p>
        </p:txBody>
      </p:sp>
      <p:sp>
        <p:nvSpPr>
          <p:cNvPr id="40" name="Text 13"/>
          <p:cNvSpPr/>
          <p:nvPr/>
        </p:nvSpPr>
        <p:spPr>
          <a:xfrm>
            <a:off x="11225894" y="4032775"/>
            <a:ext cx="3054859" cy="2803009"/>
          </a:xfrm>
          <a:prstGeom prst="rect">
            <a:avLst/>
          </a:prstGeom>
          <a:noFill/>
          <a:ln/>
        </p:spPr>
        <p:txBody>
          <a:bodyPr wrap="square" lIns="0" tIns="0" rIns="0" bIns="0" rtlCol="0" anchor="t"/>
          <a:lstStyle/>
          <a:p>
            <a:pPr algn="just"/>
            <a:r>
              <a:rPr lang="en-US" sz="2010" dirty="0">
                <a:solidFill>
                  <a:srgbClr val="343A40"/>
                </a:solidFill>
                <a:latin typeface="Merriweather" pitchFamily="34" charset="0"/>
                <a:ea typeface="Merriweather" pitchFamily="34" charset="-122"/>
                <a:cs typeface="Merriweather" pitchFamily="34" charset="-120"/>
              </a:rPr>
              <a:t>Destaca la importancia de la información accesible, verificable y oportuna para la efectividad de las políticas públicas y la mejora continua de la gestión.</a:t>
            </a:r>
            <a:endParaRPr lang="en-US" sz="2010" dirty="0"/>
          </a:p>
        </p:txBody>
      </p:sp>
      <p:sp>
        <p:nvSpPr>
          <p:cNvPr id="41" name="Text 14"/>
          <p:cNvSpPr/>
          <p:nvPr/>
        </p:nvSpPr>
        <p:spPr>
          <a:xfrm>
            <a:off x="11377715" y="6690383"/>
            <a:ext cx="2917079" cy="591076"/>
          </a:xfrm>
          <a:prstGeom prst="rect">
            <a:avLst/>
          </a:prstGeom>
          <a:noFill/>
          <a:ln/>
        </p:spPr>
        <p:txBody>
          <a:bodyPr wrap="square" lIns="0" tIns="0" rIns="0" bIns="0" rtlCol="0" anchor="t"/>
          <a:lstStyle/>
          <a:p>
            <a:r>
              <a:rPr lang="en-US" sz="1890" dirty="0">
                <a:latin typeface="Montserrat" pitchFamily="34" charset="0"/>
                <a:ea typeface="Montserrat" pitchFamily="34" charset="-122"/>
                <a:cs typeface="Montserrat" pitchFamily="34" charset="-120"/>
              </a:rPr>
              <a:t> Origen: Viloria, 2021; Ochoa, 2004</a:t>
            </a:r>
            <a:endParaRPr lang="en-US" sz="1890" dirty="0"/>
          </a:p>
        </p:txBody>
      </p:sp>
      <p:sp>
        <p:nvSpPr>
          <p:cNvPr id="42" name="Text 15"/>
          <p:cNvSpPr/>
          <p:nvPr/>
        </p:nvSpPr>
        <p:spPr>
          <a:xfrm>
            <a:off x="609657" y="7848083"/>
            <a:ext cx="13541451" cy="788344"/>
          </a:xfrm>
          <a:prstGeom prst="rect">
            <a:avLst/>
          </a:prstGeom>
          <a:noFill/>
          <a:ln/>
        </p:spPr>
        <p:txBody>
          <a:bodyPr wrap="square" lIns="0" tIns="0" rIns="0" bIns="0" rtlCol="0" anchor="t"/>
          <a:lstStyle/>
          <a:p>
            <a:pPr>
              <a:lnSpc>
                <a:spcPts val="2126"/>
              </a:lnSpc>
            </a:pPr>
            <a:r>
              <a:rPr lang="en-US" sz="1600" dirty="0">
                <a:solidFill>
                  <a:srgbClr val="374151"/>
                </a:solidFill>
                <a:latin typeface="Montserrat" pitchFamily="34" charset="0"/>
                <a:ea typeface="Montserrat" pitchFamily="34" charset="-122"/>
                <a:cs typeface="Montserrat" pitchFamily="34" charset="-120"/>
              </a:rPr>
              <a:t> La investigación introduce un enfoque metodológico pionero en el contexto venezolano al aplicar la Teoría de la Información de Shannon para analizar las ACA, transformando descripciones cualitativas de complejidad en medidas cuantitativas comparables.</a:t>
            </a:r>
            <a:endParaRPr lang="en-US" sz="1600" dirty="0"/>
          </a:p>
        </p:txBody>
      </p:sp>
      <p:sp>
        <p:nvSpPr>
          <p:cNvPr id="43" name="Text 16"/>
          <p:cNvSpPr/>
          <p:nvPr/>
        </p:nvSpPr>
        <p:spPr>
          <a:xfrm>
            <a:off x="201796" y="8653813"/>
            <a:ext cx="6546580" cy="180004"/>
          </a:xfrm>
          <a:prstGeom prst="rect">
            <a:avLst/>
          </a:prstGeom>
          <a:noFill/>
          <a:ln/>
        </p:spPr>
        <p:txBody>
          <a:bodyPr wrap="square" lIns="0" tIns="0" rIns="0" bIns="0" rtlCol="0" anchor="t"/>
          <a:lstStyle/>
          <a:p>
            <a:pPr>
              <a:lnSpc>
                <a:spcPts val="1772"/>
              </a:lnSpc>
            </a:pPr>
            <a:r>
              <a:rPr lang="en-US" dirty="0">
                <a:solidFill>
                  <a:srgbClr val="4B5563"/>
                </a:solidFill>
                <a:latin typeface="Montserrat" pitchFamily="34" charset="0"/>
                <a:ea typeface="Montserrat" pitchFamily="34" charset="-122"/>
                <a:cs typeface="Montserrat" pitchFamily="34" charset="-120"/>
              </a:rPr>
              <a:t>Universidad de Los Andes | William A. Gutiérrez V.</a:t>
            </a:r>
            <a:endParaRPr lang="en-US" dirty="0"/>
          </a:p>
        </p:txBody>
      </p:sp>
      <p:sp>
        <p:nvSpPr>
          <p:cNvPr id="44" name="Text 0">
            <a:extLst>
              <a:ext uri="{FF2B5EF4-FFF2-40B4-BE49-F238E27FC236}">
                <a16:creationId xmlns:a16="http://schemas.microsoft.com/office/drawing/2014/main" id="{1BF2F5D8-150F-F4B6-3B16-ACE0621F5619}"/>
              </a:ext>
            </a:extLst>
          </p:cNvPr>
          <p:cNvSpPr/>
          <p:nvPr/>
        </p:nvSpPr>
        <p:spPr>
          <a:xfrm>
            <a:off x="720010" y="809714"/>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II</a:t>
            </a:r>
            <a:endParaRPr lang="en-US" sz="1594" dirty="0">
              <a:latin typeface="Montserrat" panose="00000500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15996" y="28758"/>
            <a:ext cx="3757555" cy="2632539"/>
          </a:xfrm>
          <a:prstGeom prst="rect">
            <a:avLst/>
          </a:prstGeom>
        </p:spPr>
      </p:pic>
      <p:pic>
        <p:nvPicPr>
          <p:cNvPr id="6" name="Image 4" descr="preencoded.png"/>
          <p:cNvPicPr>
            <a:picLocks noChangeAspect="1"/>
          </p:cNvPicPr>
          <p:nvPr/>
        </p:nvPicPr>
        <p:blipFill>
          <a:blip r:embed="rId4"/>
          <a:stretch>
            <a:fillRect/>
          </a:stretch>
        </p:blipFill>
        <p:spPr>
          <a:xfrm>
            <a:off x="3525052" y="1563479"/>
            <a:ext cx="675010" cy="33750"/>
          </a:xfrm>
          <a:prstGeom prst="rect">
            <a:avLst/>
          </a:prstGeom>
        </p:spPr>
      </p:pic>
      <p:pic>
        <p:nvPicPr>
          <p:cNvPr id="7" name="Image 5" descr="preencoded.png"/>
          <p:cNvPicPr>
            <a:picLocks noChangeAspect="1"/>
          </p:cNvPicPr>
          <p:nvPr/>
        </p:nvPicPr>
        <p:blipFill>
          <a:blip r:embed="rId5"/>
          <a:stretch>
            <a:fillRect/>
          </a:stretch>
        </p:blipFill>
        <p:spPr>
          <a:xfrm>
            <a:off x="720011" y="1878482"/>
            <a:ext cx="12960191" cy="1491583"/>
          </a:xfrm>
          <a:prstGeom prst="rect">
            <a:avLst/>
          </a:prstGeom>
        </p:spPr>
      </p:pic>
      <p:pic>
        <p:nvPicPr>
          <p:cNvPr id="8" name="Image 6" descr="preencoded.png"/>
          <p:cNvPicPr>
            <a:picLocks noChangeAspect="1"/>
          </p:cNvPicPr>
          <p:nvPr/>
        </p:nvPicPr>
        <p:blipFill>
          <a:blip r:embed="rId6"/>
          <a:stretch>
            <a:fillRect/>
          </a:stretch>
        </p:blipFill>
        <p:spPr>
          <a:xfrm>
            <a:off x="945017" y="2283486"/>
            <a:ext cx="400084" cy="540008"/>
          </a:xfrm>
          <a:prstGeom prst="rect">
            <a:avLst/>
          </a:prstGeom>
        </p:spPr>
      </p:pic>
      <p:pic>
        <p:nvPicPr>
          <p:cNvPr id="9" name="Image 7" descr="preencoded.png"/>
          <p:cNvPicPr>
            <a:picLocks noChangeAspect="1"/>
          </p:cNvPicPr>
          <p:nvPr/>
        </p:nvPicPr>
        <p:blipFill>
          <a:blip r:embed="rId7"/>
          <a:stretch>
            <a:fillRect/>
          </a:stretch>
        </p:blipFill>
        <p:spPr>
          <a:xfrm>
            <a:off x="1032554" y="2395988"/>
            <a:ext cx="225003" cy="315005"/>
          </a:xfrm>
          <a:prstGeom prst="rect">
            <a:avLst/>
          </a:prstGeom>
        </p:spPr>
      </p:pic>
      <p:pic>
        <p:nvPicPr>
          <p:cNvPr id="10" name="Image 8" descr="preencoded.png"/>
          <p:cNvPicPr>
            <a:picLocks noChangeAspect="1"/>
          </p:cNvPicPr>
          <p:nvPr/>
        </p:nvPicPr>
        <p:blipFill>
          <a:blip r:embed="rId8"/>
          <a:stretch>
            <a:fillRect/>
          </a:stretch>
        </p:blipFill>
        <p:spPr>
          <a:xfrm>
            <a:off x="7229755" y="3243497"/>
            <a:ext cx="236253" cy="270004"/>
          </a:xfrm>
          <a:prstGeom prst="rect">
            <a:avLst/>
          </a:prstGeom>
        </p:spPr>
      </p:pic>
      <p:pic>
        <p:nvPicPr>
          <p:cNvPr id="11" name="Image 9" descr="preencoded.png"/>
          <p:cNvPicPr>
            <a:picLocks noChangeAspect="1"/>
          </p:cNvPicPr>
          <p:nvPr/>
        </p:nvPicPr>
        <p:blipFill>
          <a:blip r:embed="rId5"/>
          <a:stretch>
            <a:fillRect/>
          </a:stretch>
        </p:blipFill>
        <p:spPr>
          <a:xfrm>
            <a:off x="720011" y="3948513"/>
            <a:ext cx="12960191" cy="1777527"/>
          </a:xfrm>
          <a:prstGeom prst="rect">
            <a:avLst/>
          </a:prstGeom>
        </p:spPr>
      </p:pic>
      <p:pic>
        <p:nvPicPr>
          <p:cNvPr id="12" name="Image 10" descr="preencoded.png"/>
          <p:cNvPicPr>
            <a:picLocks noChangeAspect="1"/>
          </p:cNvPicPr>
          <p:nvPr/>
        </p:nvPicPr>
        <p:blipFill>
          <a:blip r:embed="rId9"/>
          <a:stretch>
            <a:fillRect/>
          </a:stretch>
        </p:blipFill>
        <p:spPr>
          <a:xfrm>
            <a:off x="839365" y="4439774"/>
            <a:ext cx="540008" cy="540008"/>
          </a:xfrm>
          <a:prstGeom prst="rect">
            <a:avLst/>
          </a:prstGeom>
        </p:spPr>
      </p:pic>
      <p:pic>
        <p:nvPicPr>
          <p:cNvPr id="13" name="Image 11" descr="preencoded.png"/>
          <p:cNvPicPr>
            <a:picLocks noChangeAspect="1"/>
          </p:cNvPicPr>
          <p:nvPr/>
        </p:nvPicPr>
        <p:blipFill>
          <a:blip r:embed="rId10"/>
          <a:stretch>
            <a:fillRect/>
          </a:stretch>
        </p:blipFill>
        <p:spPr>
          <a:xfrm>
            <a:off x="1024996" y="4552276"/>
            <a:ext cx="168752" cy="315005"/>
          </a:xfrm>
          <a:prstGeom prst="rect">
            <a:avLst/>
          </a:prstGeom>
        </p:spPr>
      </p:pic>
      <p:pic>
        <p:nvPicPr>
          <p:cNvPr id="14" name="Image 12" descr="preencoded.png"/>
          <p:cNvPicPr>
            <a:picLocks noChangeAspect="1"/>
          </p:cNvPicPr>
          <p:nvPr/>
        </p:nvPicPr>
        <p:blipFill>
          <a:blip r:embed="rId8"/>
          <a:stretch>
            <a:fillRect/>
          </a:stretch>
        </p:blipFill>
        <p:spPr>
          <a:xfrm>
            <a:off x="7254479" y="5521660"/>
            <a:ext cx="236253" cy="270004"/>
          </a:xfrm>
          <a:prstGeom prst="rect">
            <a:avLst/>
          </a:prstGeom>
        </p:spPr>
      </p:pic>
      <p:pic>
        <p:nvPicPr>
          <p:cNvPr id="15" name="Image 13" descr="preencoded.png"/>
          <p:cNvPicPr>
            <a:picLocks noChangeAspect="1"/>
          </p:cNvPicPr>
          <p:nvPr/>
        </p:nvPicPr>
        <p:blipFill>
          <a:blip r:embed="rId11"/>
          <a:stretch>
            <a:fillRect/>
          </a:stretch>
        </p:blipFill>
        <p:spPr>
          <a:xfrm>
            <a:off x="726570" y="6257612"/>
            <a:ext cx="13292073" cy="2209723"/>
          </a:xfrm>
          <a:prstGeom prst="rect">
            <a:avLst/>
          </a:prstGeom>
        </p:spPr>
      </p:pic>
      <p:pic>
        <p:nvPicPr>
          <p:cNvPr id="16" name="Image 14" descr="preencoded.png"/>
          <p:cNvPicPr>
            <a:picLocks noChangeAspect="1"/>
          </p:cNvPicPr>
          <p:nvPr/>
        </p:nvPicPr>
        <p:blipFill>
          <a:blip r:embed="rId12"/>
          <a:stretch>
            <a:fillRect/>
          </a:stretch>
        </p:blipFill>
        <p:spPr>
          <a:xfrm>
            <a:off x="833449" y="6876367"/>
            <a:ext cx="500281" cy="540008"/>
          </a:xfrm>
          <a:prstGeom prst="rect">
            <a:avLst/>
          </a:prstGeom>
        </p:spPr>
      </p:pic>
      <p:pic>
        <p:nvPicPr>
          <p:cNvPr id="17" name="Image 15" descr="preencoded.png"/>
          <p:cNvPicPr>
            <a:picLocks noChangeAspect="1"/>
          </p:cNvPicPr>
          <p:nvPr/>
        </p:nvPicPr>
        <p:blipFill>
          <a:blip r:embed="rId13"/>
          <a:stretch>
            <a:fillRect/>
          </a:stretch>
        </p:blipFill>
        <p:spPr>
          <a:xfrm>
            <a:off x="971085" y="6988869"/>
            <a:ext cx="225003" cy="315005"/>
          </a:xfrm>
          <a:prstGeom prst="rect">
            <a:avLst/>
          </a:prstGeom>
        </p:spPr>
      </p:pic>
      <p:pic>
        <p:nvPicPr>
          <p:cNvPr id="18" name="Image 16" descr="preencoded.png"/>
          <p:cNvPicPr>
            <a:picLocks noChangeAspect="1"/>
          </p:cNvPicPr>
          <p:nvPr/>
        </p:nvPicPr>
        <p:blipFill>
          <a:blip r:embed="rId14"/>
          <a:stretch>
            <a:fillRect/>
          </a:stretch>
        </p:blipFill>
        <p:spPr>
          <a:xfrm>
            <a:off x="60218" y="8604364"/>
            <a:ext cx="258067" cy="258067"/>
          </a:xfrm>
          <a:prstGeom prst="rect">
            <a:avLst/>
          </a:prstGeom>
        </p:spPr>
      </p:pic>
      <p:pic>
        <p:nvPicPr>
          <p:cNvPr id="19" name="Image 17" descr="preencoded.png"/>
          <p:cNvPicPr>
            <a:picLocks noChangeAspect="1"/>
          </p:cNvPicPr>
          <p:nvPr/>
        </p:nvPicPr>
        <p:blipFill>
          <a:blip r:embed="rId15"/>
          <a:stretch>
            <a:fillRect/>
          </a:stretch>
        </p:blipFill>
        <p:spPr>
          <a:xfrm>
            <a:off x="-15996" y="-7645"/>
            <a:ext cx="14400213" cy="90001"/>
          </a:xfrm>
          <a:prstGeom prst="rect">
            <a:avLst/>
          </a:prstGeom>
        </p:spPr>
      </p:pic>
      <p:pic>
        <p:nvPicPr>
          <p:cNvPr id="20" name="Image 18" descr="preencoded.png"/>
          <p:cNvPicPr>
            <a:picLocks noChangeAspect="1"/>
          </p:cNvPicPr>
          <p:nvPr/>
        </p:nvPicPr>
        <p:blipFill>
          <a:blip r:embed="rId16"/>
          <a:stretch>
            <a:fillRect/>
          </a:stretch>
        </p:blipFill>
        <p:spPr>
          <a:xfrm>
            <a:off x="-1" y="8902813"/>
            <a:ext cx="14400213" cy="90001"/>
          </a:xfrm>
          <a:prstGeom prst="rect">
            <a:avLst/>
          </a:prstGeom>
        </p:spPr>
      </p:pic>
      <p:sp>
        <p:nvSpPr>
          <p:cNvPr id="21" name="Text 0"/>
          <p:cNvSpPr/>
          <p:nvPr/>
        </p:nvSpPr>
        <p:spPr>
          <a:xfrm>
            <a:off x="3525052" y="1000967"/>
            <a:ext cx="8220121" cy="450007"/>
          </a:xfrm>
          <a:prstGeom prst="rect">
            <a:avLst/>
          </a:prstGeom>
          <a:noFill/>
          <a:ln/>
        </p:spPr>
        <p:txBody>
          <a:bodyPr wrap="square" lIns="0" tIns="0" rIns="0" bIns="0" rtlCol="0" anchor="t"/>
          <a:lstStyle/>
          <a:p>
            <a:pPr>
              <a:lnSpc>
                <a:spcPts val="3543"/>
              </a:lnSpc>
            </a:pPr>
            <a:r>
              <a:rPr lang="es-VE" sz="3543" b="1" dirty="0">
                <a:solidFill>
                  <a:srgbClr val="343A40"/>
                </a:solidFill>
                <a:latin typeface="Montserrat" pitchFamily="34" charset="0"/>
                <a:ea typeface="Montserrat" pitchFamily="34" charset="-122"/>
                <a:cs typeface="Montserrat" pitchFamily="34" charset="-120"/>
              </a:rPr>
              <a:t>Capitulo III: Marco Metodológico</a:t>
            </a:r>
            <a:endParaRPr lang="es-VE" sz="3543" dirty="0"/>
          </a:p>
        </p:txBody>
      </p:sp>
      <p:sp>
        <p:nvSpPr>
          <p:cNvPr id="22" name="Text 1"/>
          <p:cNvSpPr/>
          <p:nvPr/>
        </p:nvSpPr>
        <p:spPr>
          <a:xfrm>
            <a:off x="3827868" y="1842860"/>
            <a:ext cx="7040026" cy="281254"/>
          </a:xfrm>
          <a:prstGeom prst="rect">
            <a:avLst/>
          </a:prstGeom>
          <a:noFill/>
          <a:ln/>
        </p:spPr>
        <p:txBody>
          <a:bodyPr wrap="square" lIns="0" tIns="0" rIns="0" bIns="0" rtlCol="0" anchor="t"/>
          <a:lstStyle/>
          <a:p>
            <a:pPr algn="ctr">
              <a:lnSpc>
                <a:spcPts val="2480"/>
              </a:lnSpc>
            </a:pPr>
            <a:r>
              <a:rPr lang="en-US" sz="2598" b="1" dirty="0">
                <a:solidFill>
                  <a:srgbClr val="343A40"/>
                </a:solidFill>
                <a:latin typeface="Montserrat" pitchFamily="34" charset="0"/>
                <a:ea typeface="Montserrat" pitchFamily="34" charset="-122"/>
                <a:cs typeface="Montserrat" pitchFamily="34" charset="-120"/>
              </a:rPr>
              <a:t>Diseño de Investigación</a:t>
            </a:r>
            <a:endParaRPr lang="en-US" sz="2598" dirty="0"/>
          </a:p>
        </p:txBody>
      </p:sp>
      <p:sp>
        <p:nvSpPr>
          <p:cNvPr id="23" name="Text 2"/>
          <p:cNvSpPr/>
          <p:nvPr/>
        </p:nvSpPr>
        <p:spPr>
          <a:xfrm>
            <a:off x="1469272" y="2214110"/>
            <a:ext cx="11824275" cy="1080950"/>
          </a:xfrm>
          <a:prstGeom prst="rect">
            <a:avLst/>
          </a:prstGeom>
          <a:noFill/>
          <a:ln/>
        </p:spPr>
        <p:txBody>
          <a:bodyPr wrap="square" lIns="0" tIns="0" rIns="0" bIns="0" rtlCol="0" anchor="t"/>
          <a:lstStyle/>
          <a:p>
            <a:pPr algn="just"/>
            <a:r>
              <a:rPr lang="es-VE" sz="2362" b="1" dirty="0">
                <a:latin typeface="Merriweather" pitchFamily="34" charset="0"/>
                <a:ea typeface="Merriweather" pitchFamily="34" charset="-122"/>
                <a:cs typeface="Merriweather" pitchFamily="34" charset="-120"/>
              </a:rPr>
              <a:t>No Experimental, Transeccional-Correlacional,</a:t>
            </a:r>
            <a:r>
              <a:rPr lang="es-VE" sz="2362" dirty="0">
                <a:latin typeface="Merriweather" pitchFamily="34" charset="0"/>
                <a:ea typeface="Merriweather" pitchFamily="34" charset="-122"/>
                <a:cs typeface="Merriweather" pitchFamily="34" charset="-120"/>
              </a:rPr>
              <a:t> Busca establecer correlaciones estadísticamente significativas entre proyectos ejecutados y nudos críticos sin manipulación de variables.</a:t>
            </a:r>
            <a:endParaRPr lang="es-VE" sz="2362" dirty="0"/>
          </a:p>
        </p:txBody>
      </p:sp>
      <p:sp>
        <p:nvSpPr>
          <p:cNvPr id="24" name="Text 3"/>
          <p:cNvSpPr/>
          <p:nvPr/>
        </p:nvSpPr>
        <p:spPr>
          <a:xfrm>
            <a:off x="4975388" y="3607255"/>
            <a:ext cx="5666334" cy="408757"/>
          </a:xfrm>
          <a:prstGeom prst="rect">
            <a:avLst/>
          </a:prstGeom>
          <a:noFill/>
          <a:ln/>
        </p:spPr>
        <p:txBody>
          <a:bodyPr wrap="square" lIns="0" tIns="0" rIns="0" bIns="0" rtlCol="0" anchor="t"/>
          <a:lstStyle/>
          <a:p>
            <a:pPr algn="ctr">
              <a:lnSpc>
                <a:spcPts val="2480"/>
              </a:lnSpc>
            </a:pPr>
            <a:r>
              <a:rPr lang="en-US" sz="2598" b="1" dirty="0">
                <a:solidFill>
                  <a:srgbClr val="343A40"/>
                </a:solidFill>
                <a:latin typeface="Montserrat" pitchFamily="34" charset="0"/>
                <a:ea typeface="Montserrat" pitchFamily="34" charset="-122"/>
                <a:cs typeface="Montserrat" pitchFamily="34" charset="-120"/>
              </a:rPr>
              <a:t>Tipo y Nivel de Investigación</a:t>
            </a:r>
            <a:endParaRPr lang="en-US" sz="2598" dirty="0"/>
          </a:p>
        </p:txBody>
      </p:sp>
      <p:sp>
        <p:nvSpPr>
          <p:cNvPr id="25" name="Text 4"/>
          <p:cNvSpPr/>
          <p:nvPr/>
        </p:nvSpPr>
        <p:spPr>
          <a:xfrm>
            <a:off x="1435628" y="4116328"/>
            <a:ext cx="11833945" cy="1609712"/>
          </a:xfrm>
          <a:prstGeom prst="rect">
            <a:avLst/>
          </a:prstGeom>
          <a:noFill/>
          <a:ln/>
        </p:spPr>
        <p:txBody>
          <a:bodyPr wrap="square" lIns="0" tIns="0" rIns="0" bIns="0" rtlCol="0" anchor="t"/>
          <a:lstStyle/>
          <a:p>
            <a:pPr algn="just"/>
            <a:r>
              <a:rPr lang="es-VE" sz="2362" b="1" dirty="0">
                <a:latin typeface="Merriweather" pitchFamily="34" charset="0"/>
                <a:ea typeface="Merriweather" pitchFamily="34" charset="-122"/>
                <a:cs typeface="Merriweather" pitchFamily="34" charset="-120"/>
              </a:rPr>
              <a:t>Documental,</a:t>
            </a:r>
            <a:r>
              <a:rPr lang="es-VE" sz="2362" dirty="0">
                <a:latin typeface="Merriweather" pitchFamily="34" charset="0"/>
                <a:ea typeface="Merriweather" pitchFamily="34" charset="-122"/>
                <a:cs typeface="Merriweather" pitchFamily="34" charset="-120"/>
              </a:rPr>
              <a:t> Se basa en el análisis sistemático y transformación de registros institucionales preexistentes. </a:t>
            </a:r>
            <a:r>
              <a:rPr lang="es-VE" sz="2362" b="1" dirty="0">
                <a:latin typeface="Merriweather" pitchFamily="34" charset="0"/>
                <a:ea typeface="Merriweather" pitchFamily="34" charset="-122"/>
                <a:cs typeface="Merriweather" pitchFamily="34" charset="-120"/>
              </a:rPr>
              <a:t>Nivel Correlacional-Explicativo, </a:t>
            </a:r>
            <a:r>
              <a:rPr lang="es-VE" sz="2362" dirty="0">
                <a:latin typeface="Merriweather" pitchFamily="34" charset="0"/>
                <a:ea typeface="Merriweather" pitchFamily="34" charset="-122"/>
                <a:cs typeface="Merriweather" pitchFamily="34" charset="-120"/>
              </a:rPr>
              <a:t>Busca comprender las relaciones y asociaciones estadísticas entre las variables clave del sistema ACA.</a:t>
            </a:r>
            <a:endParaRPr lang="es-VE" sz="2362" dirty="0"/>
          </a:p>
        </p:txBody>
      </p:sp>
      <p:sp>
        <p:nvSpPr>
          <p:cNvPr id="26" name="Text 5"/>
          <p:cNvSpPr/>
          <p:nvPr/>
        </p:nvSpPr>
        <p:spPr>
          <a:xfrm>
            <a:off x="1505417" y="6012917"/>
            <a:ext cx="11829901" cy="315005"/>
          </a:xfrm>
          <a:prstGeom prst="rect">
            <a:avLst/>
          </a:prstGeom>
          <a:noFill/>
          <a:ln/>
        </p:spPr>
        <p:txBody>
          <a:bodyPr wrap="square" lIns="0" tIns="0" rIns="0" bIns="0" rtlCol="0" anchor="t"/>
          <a:lstStyle/>
          <a:p>
            <a:pPr algn="ctr">
              <a:lnSpc>
                <a:spcPts val="2480"/>
              </a:lnSpc>
            </a:pPr>
            <a:r>
              <a:rPr lang="en-US" sz="2598" b="1" dirty="0">
                <a:solidFill>
                  <a:srgbClr val="343A40"/>
                </a:solidFill>
                <a:latin typeface="Montserrat" pitchFamily="34" charset="0"/>
                <a:ea typeface="Montserrat" pitchFamily="34" charset="-122"/>
                <a:cs typeface="Montserrat" pitchFamily="34" charset="-120"/>
              </a:rPr>
              <a:t>Población y Muestra</a:t>
            </a:r>
            <a:endParaRPr lang="en-US" sz="2598" dirty="0"/>
          </a:p>
        </p:txBody>
      </p:sp>
      <p:sp>
        <p:nvSpPr>
          <p:cNvPr id="27" name="Text 6"/>
          <p:cNvSpPr/>
          <p:nvPr/>
        </p:nvSpPr>
        <p:spPr>
          <a:xfrm>
            <a:off x="1426193" y="6381363"/>
            <a:ext cx="11843380" cy="2168469"/>
          </a:xfrm>
          <a:prstGeom prst="rect">
            <a:avLst/>
          </a:prstGeom>
          <a:noFill/>
          <a:ln/>
        </p:spPr>
        <p:txBody>
          <a:bodyPr wrap="square" lIns="0" tIns="0" rIns="0" bIns="0" rtlCol="0" anchor="t"/>
          <a:lstStyle/>
          <a:p>
            <a:pPr algn="just"/>
            <a:r>
              <a:rPr lang="es-VE" sz="2362" b="1" dirty="0">
                <a:latin typeface="Merriweather" pitchFamily="34" charset="0"/>
                <a:ea typeface="Merriweather" pitchFamily="34" charset="-122"/>
                <a:cs typeface="Merriweather" pitchFamily="34" charset="-120"/>
              </a:rPr>
              <a:t>Población:</a:t>
            </a:r>
            <a:r>
              <a:rPr lang="es-VE" sz="2362" dirty="0">
                <a:latin typeface="Merriweather" pitchFamily="34" charset="0"/>
                <a:ea typeface="Merriweather" pitchFamily="34" charset="-122"/>
                <a:cs typeface="Merriweather" pitchFamily="34" charset="-120"/>
              </a:rPr>
              <a:t> Totalidad de comunas del Estado Mérida que participaron en los procesos de consulta de las ACA (2022-2025).</a:t>
            </a:r>
            <a:r>
              <a:rPr lang="es-VE" sz="2362" b="1" dirty="0">
                <a:latin typeface="Merriweather" pitchFamily="34" charset="0"/>
                <a:ea typeface="Merriweather" pitchFamily="34" charset="-122"/>
                <a:cs typeface="Merriweather" pitchFamily="34" charset="-120"/>
              </a:rPr>
              <a:t>Muestra: 198 proyectos</a:t>
            </a:r>
            <a:r>
              <a:rPr lang="es-VE" sz="2362" dirty="0">
                <a:latin typeface="Merriweather" pitchFamily="34" charset="0"/>
                <a:ea typeface="Merriweather" pitchFamily="34" charset="-122"/>
                <a:cs typeface="Merriweather" pitchFamily="34" charset="-120"/>
              </a:rPr>
              <a:t> correspondientes a </a:t>
            </a:r>
            <a:r>
              <a:rPr lang="es-VE" sz="2362" b="1" dirty="0">
                <a:latin typeface="Merriweather" pitchFamily="34" charset="0"/>
                <a:ea typeface="Merriweather" pitchFamily="34" charset="-122"/>
                <a:cs typeface="Merriweather" pitchFamily="34" charset="-120"/>
              </a:rPr>
              <a:t>64 comunas</a:t>
            </a:r>
            <a:r>
              <a:rPr lang="es-VE" sz="2362" dirty="0">
                <a:latin typeface="Merriweather" pitchFamily="34" charset="0"/>
                <a:ea typeface="Merriweather" pitchFamily="34" charset="-122"/>
                <a:cs typeface="Merriweather" pitchFamily="34" charset="-120"/>
              </a:rPr>
              <a:t> de las 78 existentes (cobertura del </a:t>
            </a:r>
            <a:r>
              <a:rPr lang="es-VE" sz="2362" b="1" dirty="0">
                <a:latin typeface="Merriweather" pitchFamily="34" charset="0"/>
                <a:ea typeface="Merriweather" pitchFamily="34" charset="-122"/>
                <a:cs typeface="Merriweather" pitchFamily="34" charset="-120"/>
              </a:rPr>
              <a:t>82,05%</a:t>
            </a:r>
            <a:r>
              <a:rPr lang="es-VE" sz="2362" dirty="0">
                <a:latin typeface="Merriweather" pitchFamily="34" charset="0"/>
                <a:ea typeface="Merriweather" pitchFamily="34" charset="-122"/>
                <a:cs typeface="Merriweather" pitchFamily="34" charset="-120"/>
              </a:rPr>
              <a:t>).</a:t>
            </a:r>
            <a:r>
              <a:rPr lang="es-VE" sz="2362" b="1" dirty="0">
                <a:latin typeface="Merriweather" pitchFamily="34" charset="0"/>
                <a:ea typeface="Merriweather" pitchFamily="34" charset="-122"/>
                <a:cs typeface="Merriweather" pitchFamily="34" charset="-120"/>
              </a:rPr>
              <a:t>Muestreo:</a:t>
            </a:r>
            <a:r>
              <a:rPr lang="es-VE" sz="2362" dirty="0">
                <a:latin typeface="Merriweather" pitchFamily="34" charset="0"/>
                <a:ea typeface="Merriweather" pitchFamily="34" charset="-122"/>
                <a:cs typeface="Merriweather" pitchFamily="34" charset="-120"/>
              </a:rPr>
              <a:t> No probabilístico por conveniencia, determinado por la disponibilidad y accesibilidad de registros institucionales completos y confiables.</a:t>
            </a:r>
            <a:endParaRPr lang="es-VE" sz="2362" dirty="0"/>
          </a:p>
        </p:txBody>
      </p:sp>
      <p:sp>
        <p:nvSpPr>
          <p:cNvPr id="28" name="Text 7"/>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Varela</a:t>
            </a:r>
            <a:endParaRPr lang="en-US" sz="1890" dirty="0"/>
          </a:p>
        </p:txBody>
      </p:sp>
      <p:sp>
        <p:nvSpPr>
          <p:cNvPr id="31" name="Text 0">
            <a:extLst>
              <a:ext uri="{FF2B5EF4-FFF2-40B4-BE49-F238E27FC236}">
                <a16:creationId xmlns:a16="http://schemas.microsoft.com/office/drawing/2014/main" id="{6438ED73-119C-D838-22D8-021FC628D478}"/>
              </a:ext>
            </a:extLst>
          </p:cNvPr>
          <p:cNvSpPr/>
          <p:nvPr/>
        </p:nvSpPr>
        <p:spPr>
          <a:xfrm>
            <a:off x="720010" y="809714"/>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III</a:t>
            </a:r>
            <a:endParaRPr lang="en-US" sz="1594" dirty="0">
              <a:latin typeface="Montserrat" panose="00000500000000000000" pitchFamily="2" charset="0"/>
            </a:endParaRPr>
          </a:p>
        </p:txBody>
      </p:sp>
      <p:pic>
        <p:nvPicPr>
          <p:cNvPr id="32" name="Image 3" descr="preencoded.png">
            <a:extLst>
              <a:ext uri="{FF2B5EF4-FFF2-40B4-BE49-F238E27FC236}">
                <a16:creationId xmlns:a16="http://schemas.microsoft.com/office/drawing/2014/main" id="{7E8C9327-36F2-996D-CCEC-058D1E041EE9}"/>
              </a:ext>
            </a:extLst>
          </p:cNvPr>
          <p:cNvPicPr>
            <a:picLocks noChangeAspect="1"/>
          </p:cNvPicPr>
          <p:nvPr/>
        </p:nvPicPr>
        <p:blipFill>
          <a:blip r:embed="rId17"/>
          <a:stretch>
            <a:fillRect/>
          </a:stretch>
        </p:blipFill>
        <p:spPr>
          <a:xfrm>
            <a:off x="11755238" y="6170419"/>
            <a:ext cx="2655039" cy="2880043"/>
          </a:xfrm>
          <a:prstGeom prst="rect">
            <a:avLst/>
          </a:prstGeom>
        </p:spPr>
      </p:pic>
      <p:pic>
        <p:nvPicPr>
          <p:cNvPr id="33" name="Image 4" descr="preencoded.png">
            <a:extLst>
              <a:ext uri="{FF2B5EF4-FFF2-40B4-BE49-F238E27FC236}">
                <a16:creationId xmlns:a16="http://schemas.microsoft.com/office/drawing/2014/main" id="{50F72114-1B10-776A-5E5F-154BF6553112}"/>
              </a:ext>
            </a:extLst>
          </p:cNvPr>
          <p:cNvPicPr>
            <a:picLocks noChangeAspect="1"/>
          </p:cNvPicPr>
          <p:nvPr/>
        </p:nvPicPr>
        <p:blipFill>
          <a:blip r:embed="rId18"/>
          <a:stretch>
            <a:fillRect/>
          </a:stretch>
        </p:blipFill>
        <p:spPr>
          <a:xfrm>
            <a:off x="5454449" y="3297879"/>
            <a:ext cx="3600053" cy="36000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620937" y="1251362"/>
            <a:ext cx="2160032" cy="45001"/>
          </a:xfrm>
          <a:prstGeom prst="rect">
            <a:avLst/>
          </a:prstGeom>
        </p:spPr>
      </p:pic>
      <p:pic>
        <p:nvPicPr>
          <p:cNvPr id="4" name="Image 2" descr="preencoded.png"/>
          <p:cNvPicPr>
            <a:picLocks noChangeAspect="1"/>
          </p:cNvPicPr>
          <p:nvPr/>
        </p:nvPicPr>
        <p:blipFill>
          <a:blip r:embed="rId4">
            <a:duotone>
              <a:prstClr val="black"/>
              <a:srgbClr val="1BA24D">
                <a:tint val="45000"/>
                <a:satMod val="400000"/>
              </a:srgbClr>
            </a:duotone>
            <a:extLst>
              <a:ext uri="{BEBA8EAE-BF5A-486C-A8C5-ECC9F3942E4B}">
                <a14:imgProps xmlns:a14="http://schemas.microsoft.com/office/drawing/2010/main">
                  <a14:imgLayer r:embed="rId5">
                    <a14:imgEffect>
                      <a14:backgroundRemoval t="10000" b="90000" l="10000" r="90000"/>
                    </a14:imgEffect>
                    <a14:imgEffect>
                      <a14:brightnessContrast bright="3000"/>
                    </a14:imgEffect>
                  </a14:imgLayer>
                </a14:imgProps>
              </a:ext>
            </a:extLst>
          </a:blip>
          <a:stretch>
            <a:fillRect/>
          </a:stretch>
        </p:blipFill>
        <p:spPr>
          <a:xfrm>
            <a:off x="239129" y="1462351"/>
            <a:ext cx="7220105" cy="3645637"/>
          </a:xfrm>
          <a:prstGeom prst="rect">
            <a:avLst/>
          </a:prstGeom>
          <a:ln>
            <a:solidFill>
              <a:srgbClr val="188E43"/>
            </a:solidFill>
          </a:ln>
        </p:spPr>
        <p:style>
          <a:lnRef idx="2">
            <a:schemeClr val="accent2"/>
          </a:lnRef>
          <a:fillRef idx="1">
            <a:schemeClr val="lt1"/>
          </a:fillRef>
          <a:effectRef idx="0">
            <a:schemeClr val="accent2"/>
          </a:effectRef>
          <a:fontRef idx="minor">
            <a:schemeClr val="dk1"/>
          </a:fontRef>
        </p:style>
      </p:pic>
      <p:pic>
        <p:nvPicPr>
          <p:cNvPr id="5" name="Image 3" descr="preencoded.png"/>
          <p:cNvPicPr>
            <a:picLocks noChangeAspect="1"/>
          </p:cNvPicPr>
          <p:nvPr/>
        </p:nvPicPr>
        <p:blipFill>
          <a:blip r:embed="rId6"/>
          <a:stretch>
            <a:fillRect/>
          </a:stretch>
        </p:blipFill>
        <p:spPr>
          <a:xfrm>
            <a:off x="1472954" y="1529379"/>
            <a:ext cx="319040" cy="396000"/>
          </a:xfrm>
          <a:prstGeom prst="rect">
            <a:avLst/>
          </a:prstGeom>
        </p:spPr>
      </p:pic>
      <p:pic>
        <p:nvPicPr>
          <p:cNvPr id="6" name="Image 4" descr="preencoded.png"/>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237704" y="5365016"/>
            <a:ext cx="7221529" cy="3034650"/>
          </a:xfrm>
          <a:prstGeom prst="rect">
            <a:avLst/>
          </a:prstGeom>
          <a:ln>
            <a:solidFill>
              <a:srgbClr val="1BA24D"/>
            </a:solidFill>
          </a:ln>
        </p:spPr>
      </p:pic>
      <p:pic>
        <p:nvPicPr>
          <p:cNvPr id="8" name="Image 6" descr="preencoded.png"/>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675010" y="7155390"/>
            <a:ext cx="2925043" cy="900013"/>
          </a:xfrm>
          <a:prstGeom prst="rect">
            <a:avLst/>
          </a:prstGeom>
          <a:ln>
            <a:solidFill>
              <a:srgbClr val="1BA24D"/>
            </a:solidFill>
          </a:ln>
        </p:spPr>
      </p:pic>
      <p:pic>
        <p:nvPicPr>
          <p:cNvPr id="9" name="Image 7" descr="preencoded.png"/>
          <p:cNvPicPr>
            <a:picLocks noChangeAspect="1"/>
          </p:cNvPicPr>
          <p:nvPr/>
        </p:nvPicPr>
        <p:blipFill>
          <a:blip r:embed="rId9">
            <a:extLst>
              <a:ext uri="{BEBA8EAE-BF5A-486C-A8C5-ECC9F3942E4B}">
                <a14:imgProps xmlns:a14="http://schemas.microsoft.com/office/drawing/2010/main">
                  <a14:imgLayer r:embed="rId11">
                    <a14:imgEffect>
                      <a14:backgroundRemoval t="10000" b="90000" l="10000" r="90000"/>
                    </a14:imgEffect>
                  </a14:imgLayer>
                </a14:imgProps>
              </a:ext>
            </a:extLst>
          </a:blip>
          <a:stretch>
            <a:fillRect/>
          </a:stretch>
        </p:blipFill>
        <p:spPr>
          <a:xfrm>
            <a:off x="3780056" y="7155390"/>
            <a:ext cx="2925043" cy="900013"/>
          </a:xfrm>
          <a:prstGeom prst="rect">
            <a:avLst/>
          </a:prstGeom>
          <a:ln>
            <a:solidFill>
              <a:srgbClr val="1BA24D"/>
            </a:solidFill>
          </a:ln>
        </p:spPr>
      </p:pic>
      <p:pic>
        <p:nvPicPr>
          <p:cNvPr id="10" name="Image 8" descr="preencoded.png"/>
          <p:cNvPicPr>
            <a:picLocks noChangeAspect="1"/>
          </p:cNvPicPr>
          <p:nvPr/>
        </p:nvPicPr>
        <p:blipFill>
          <a:blip r:embed="rId12">
            <a:extLst>
              <a:ext uri="{BEBA8EAE-BF5A-486C-A8C5-ECC9F3942E4B}">
                <a14:imgProps xmlns:a14="http://schemas.microsoft.com/office/drawing/2010/main">
                  <a14:imgLayer r:embed="rId13">
                    <a14:imgEffect>
                      <a14:backgroundRemoval t="10000" b="90000" l="10000" r="90000"/>
                    </a14:imgEffect>
                  </a14:imgLayer>
                </a14:imgProps>
              </a:ext>
            </a:extLst>
          </a:blip>
          <a:stretch>
            <a:fillRect/>
          </a:stretch>
        </p:blipFill>
        <p:spPr>
          <a:xfrm>
            <a:off x="490507" y="7087307"/>
            <a:ext cx="6480096" cy="1095847"/>
          </a:xfrm>
          <a:prstGeom prst="rect">
            <a:avLst/>
          </a:prstGeom>
        </p:spPr>
      </p:pic>
      <p:pic>
        <p:nvPicPr>
          <p:cNvPr id="12" name="Image 10" descr="preencoded.png"/>
          <p:cNvPicPr>
            <a:picLocks noChangeAspect="1"/>
          </p:cNvPicPr>
          <p:nvPr/>
        </p:nvPicPr>
        <p:blipFill>
          <a:blip r:embed="rId14">
            <a:extLst>
              <a:ext uri="{BEBA8EAE-BF5A-486C-A8C5-ECC9F3942E4B}">
                <a14:imgProps xmlns:a14="http://schemas.microsoft.com/office/drawing/2010/main">
                  <a14:imgLayer r:embed="rId15">
                    <a14:imgEffect>
                      <a14:backgroundRemoval t="10000" b="90000" l="10000" r="90000"/>
                    </a14:imgEffect>
                  </a14:imgLayer>
                </a14:imgProps>
              </a:ext>
            </a:extLst>
          </a:blip>
          <a:stretch>
            <a:fillRect/>
          </a:stretch>
        </p:blipFill>
        <p:spPr>
          <a:xfrm>
            <a:off x="7821883" y="1694444"/>
            <a:ext cx="6480096" cy="7155105"/>
          </a:xfrm>
          <a:prstGeom prst="rect">
            <a:avLst/>
          </a:prstGeom>
          <a:ln>
            <a:solidFill>
              <a:srgbClr val="1BA24D"/>
            </a:solidFill>
          </a:ln>
        </p:spPr>
      </p:pic>
      <p:sp>
        <p:nvSpPr>
          <p:cNvPr id="14" name="Text 0"/>
          <p:cNvSpPr/>
          <p:nvPr/>
        </p:nvSpPr>
        <p:spPr>
          <a:xfrm>
            <a:off x="2610038" y="771077"/>
            <a:ext cx="4590068" cy="450007"/>
          </a:xfrm>
          <a:prstGeom prst="rect">
            <a:avLst/>
          </a:prstGeom>
          <a:noFill/>
          <a:ln/>
        </p:spPr>
        <p:txBody>
          <a:bodyPr wrap="square" lIns="0" tIns="0" rIns="0" bIns="0" rtlCol="0" anchor="t"/>
          <a:lstStyle/>
          <a:p>
            <a:pPr>
              <a:lnSpc>
                <a:spcPts val="3543"/>
              </a:lnSpc>
            </a:pPr>
            <a:r>
              <a:rPr lang="en-US" sz="3189" b="1" dirty="0">
                <a:latin typeface="Montserrat" panose="00000500000000000000" pitchFamily="2" charset="0"/>
                <a:ea typeface="ui-sans-serif" pitchFamily="34" charset="-122"/>
                <a:cs typeface="ui-sans-serif" pitchFamily="34" charset="-120"/>
              </a:rPr>
              <a:t>Población y Muestra</a:t>
            </a:r>
            <a:endParaRPr lang="en-US" sz="3189" dirty="0">
              <a:latin typeface="Montserrat" panose="00000500000000000000" pitchFamily="2" charset="0"/>
            </a:endParaRPr>
          </a:p>
        </p:txBody>
      </p:sp>
      <p:sp>
        <p:nvSpPr>
          <p:cNvPr id="15" name="Text 1"/>
          <p:cNvSpPr/>
          <p:nvPr/>
        </p:nvSpPr>
        <p:spPr>
          <a:xfrm>
            <a:off x="1758041" y="1587874"/>
            <a:ext cx="4044029" cy="360005"/>
          </a:xfrm>
          <a:prstGeom prst="rect">
            <a:avLst/>
          </a:prstGeom>
          <a:noFill/>
          <a:ln/>
        </p:spPr>
        <p:txBody>
          <a:bodyPr wrap="square" lIns="0" tIns="0" rIns="0" bIns="0" rtlCol="0" anchor="t"/>
          <a:lstStyle/>
          <a:p>
            <a:pPr algn="ctr">
              <a:lnSpc>
                <a:spcPts val="2835"/>
              </a:lnSpc>
            </a:pPr>
            <a:r>
              <a:rPr lang="en-US" sz="2600" b="1" dirty="0">
                <a:latin typeface="Montserrat" panose="00000500000000000000" pitchFamily="2" charset="0"/>
                <a:ea typeface="ui-sans-serif" pitchFamily="34" charset="-122"/>
                <a:cs typeface="ui-sans-serif" pitchFamily="34" charset="-120"/>
              </a:rPr>
              <a:t>Universo del Estudio</a:t>
            </a:r>
            <a:endParaRPr lang="en-US" sz="2600" dirty="0">
              <a:latin typeface="Montserrat" panose="00000500000000000000" pitchFamily="2" charset="0"/>
            </a:endParaRPr>
          </a:p>
        </p:txBody>
      </p:sp>
      <p:sp>
        <p:nvSpPr>
          <p:cNvPr id="16" name="Text 2"/>
          <p:cNvSpPr/>
          <p:nvPr/>
        </p:nvSpPr>
        <p:spPr>
          <a:xfrm>
            <a:off x="450006" y="2021985"/>
            <a:ext cx="6938726" cy="1328683"/>
          </a:xfrm>
          <a:prstGeom prst="rect">
            <a:avLst/>
          </a:prstGeom>
          <a:noFill/>
          <a:ln/>
        </p:spPr>
        <p:txBody>
          <a:bodyPr wrap="square" lIns="0" tIns="0" rIns="0" bIns="0" rtlCol="0" anchor="t"/>
          <a:lstStyle/>
          <a:p>
            <a:pPr algn="just"/>
            <a:r>
              <a:rPr lang="en-US" sz="2200" dirty="0">
                <a:latin typeface="Merriweather" panose="00000500000000000000" pitchFamily="2" charset="0"/>
                <a:ea typeface="ui-sans-serif" pitchFamily="34" charset="-122"/>
                <a:cs typeface="ui-sans-serif" pitchFamily="34" charset="-120"/>
              </a:rPr>
              <a:t>Totalidad de las </a:t>
            </a:r>
            <a:r>
              <a:rPr lang="en-US" sz="2200" b="1" dirty="0">
                <a:latin typeface="Merriweather" panose="00000500000000000000" pitchFamily="2" charset="0"/>
                <a:ea typeface="ui-sans-serif" pitchFamily="34" charset="-122"/>
                <a:cs typeface="ui-sans-serif" pitchFamily="34" charset="-120"/>
              </a:rPr>
              <a:t>78 comunas</a:t>
            </a:r>
            <a:r>
              <a:rPr lang="en-US" sz="2200" dirty="0">
                <a:latin typeface="Merriweather" panose="00000500000000000000" pitchFamily="2" charset="0"/>
                <a:ea typeface="ui-sans-serif" pitchFamily="34" charset="-122"/>
                <a:cs typeface="ui-sans-serif" pitchFamily="34" charset="-120"/>
              </a:rPr>
              <a:t> del Estado Mérida que participaron activamente en los procesos de consulta de las Agendas Concretas de Acción (ACA) entre 2022 y 2025.</a:t>
            </a:r>
            <a:endParaRPr lang="en-US" sz="2200" dirty="0">
              <a:latin typeface="Merriweather" panose="00000500000000000000" pitchFamily="2" charset="0"/>
            </a:endParaRPr>
          </a:p>
        </p:txBody>
      </p:sp>
      <p:sp>
        <p:nvSpPr>
          <p:cNvPr id="17" name="Text 3"/>
          <p:cNvSpPr/>
          <p:nvPr/>
        </p:nvSpPr>
        <p:spPr>
          <a:xfrm>
            <a:off x="372157" y="3551463"/>
            <a:ext cx="7016575" cy="1313075"/>
          </a:xfrm>
          <a:prstGeom prst="rect">
            <a:avLst/>
          </a:prstGeom>
          <a:noFill/>
          <a:ln/>
        </p:spPr>
        <p:txBody>
          <a:bodyPr wrap="square" lIns="0" tIns="0" rIns="0" bIns="0" rtlCol="0" anchor="t"/>
          <a:lstStyle/>
          <a:p>
            <a:pPr algn="just"/>
            <a:r>
              <a:rPr lang="en-US" sz="2200" dirty="0">
                <a:latin typeface="Merriweather" panose="00000500000000000000" pitchFamily="2" charset="0"/>
                <a:ea typeface="ui-sans-serif" pitchFamily="34" charset="-122"/>
                <a:cs typeface="ui-sans-serif" pitchFamily="34" charset="-120"/>
              </a:rPr>
              <a:t>Incluye todas las unidades territoriales comunales que implementaron mecanismos de identificación de nudos críticos y formulación de proyectos mediante metodologías participativas.</a:t>
            </a:r>
            <a:endParaRPr lang="en-US" sz="2200" dirty="0">
              <a:latin typeface="Merriweather" panose="00000500000000000000" pitchFamily="2" charset="0"/>
            </a:endParaRPr>
          </a:p>
        </p:txBody>
      </p:sp>
      <p:sp>
        <p:nvSpPr>
          <p:cNvPr id="18" name="Text 4"/>
          <p:cNvSpPr/>
          <p:nvPr/>
        </p:nvSpPr>
        <p:spPr>
          <a:xfrm>
            <a:off x="2437013" y="5488672"/>
            <a:ext cx="3081843" cy="360005"/>
          </a:xfrm>
          <a:prstGeom prst="rect">
            <a:avLst/>
          </a:prstGeom>
          <a:noFill/>
          <a:ln/>
        </p:spPr>
        <p:txBody>
          <a:bodyPr wrap="square" lIns="0" tIns="0" rIns="0" bIns="0" rtlCol="0" anchor="t"/>
          <a:lstStyle/>
          <a:p>
            <a:pPr>
              <a:lnSpc>
                <a:spcPts val="2835"/>
              </a:lnSpc>
            </a:pPr>
            <a:r>
              <a:rPr lang="en-US" sz="2600" b="1" dirty="0">
                <a:latin typeface="Montserrat" panose="00000500000000000000" pitchFamily="2" charset="0"/>
                <a:ea typeface="ui-sans-serif" pitchFamily="34" charset="-122"/>
                <a:cs typeface="ui-sans-serif" pitchFamily="34" charset="-120"/>
              </a:rPr>
              <a:t>Muestra Efectiva</a:t>
            </a:r>
            <a:endParaRPr lang="en-US" sz="2600" dirty="0">
              <a:latin typeface="Montserrat" panose="00000500000000000000" pitchFamily="2" charset="0"/>
            </a:endParaRPr>
          </a:p>
        </p:txBody>
      </p:sp>
      <p:sp>
        <p:nvSpPr>
          <p:cNvPr id="19" name="Text 5"/>
          <p:cNvSpPr/>
          <p:nvPr/>
        </p:nvSpPr>
        <p:spPr>
          <a:xfrm>
            <a:off x="378503" y="5966132"/>
            <a:ext cx="6938725" cy="916209"/>
          </a:xfrm>
          <a:prstGeom prst="rect">
            <a:avLst/>
          </a:prstGeom>
          <a:noFill/>
          <a:ln/>
        </p:spPr>
        <p:txBody>
          <a:bodyPr wrap="square" lIns="0" tIns="0" rIns="0" bIns="0" rtlCol="0" anchor="t"/>
          <a:lstStyle/>
          <a:p>
            <a:pPr algn="just"/>
            <a:r>
              <a:rPr lang="en-US" sz="2200" dirty="0">
                <a:latin typeface="Merriweather" panose="00000500000000000000" pitchFamily="2" charset="0"/>
                <a:ea typeface="ui-sans-serif" pitchFamily="34" charset="-122"/>
                <a:cs typeface="ui-sans-serif" pitchFamily="34" charset="-120"/>
              </a:rPr>
              <a:t>La muestra está conformada por </a:t>
            </a:r>
            <a:r>
              <a:rPr lang="en-US" sz="2200" b="1" dirty="0">
                <a:latin typeface="Merriweather" panose="00000500000000000000" pitchFamily="2" charset="0"/>
                <a:ea typeface="ui-sans-serif" pitchFamily="34" charset="-122"/>
                <a:cs typeface="ui-sans-serif" pitchFamily="34" charset="-120"/>
              </a:rPr>
              <a:t>198 proyectos</a:t>
            </a:r>
            <a:r>
              <a:rPr lang="en-US" sz="2200" dirty="0">
                <a:latin typeface="Merriweather" panose="00000500000000000000" pitchFamily="2" charset="0"/>
                <a:ea typeface="ui-sans-serif" pitchFamily="34" charset="-122"/>
                <a:cs typeface="ui-sans-serif" pitchFamily="34" charset="-120"/>
              </a:rPr>
              <a:t> correspondientes a </a:t>
            </a:r>
            <a:r>
              <a:rPr lang="en-US" sz="2200" b="1" dirty="0">
                <a:latin typeface="Merriweather" panose="00000500000000000000" pitchFamily="2" charset="0"/>
                <a:ea typeface="ui-sans-serif" pitchFamily="34" charset="-122"/>
                <a:cs typeface="ui-sans-serif" pitchFamily="34" charset="-120"/>
              </a:rPr>
              <a:t>64 comunas</a:t>
            </a:r>
            <a:r>
              <a:rPr lang="en-US" sz="2200" dirty="0">
                <a:latin typeface="Merriweather" panose="00000500000000000000" pitchFamily="2" charset="0"/>
                <a:ea typeface="ui-sans-serif" pitchFamily="34" charset="-122"/>
                <a:cs typeface="ui-sans-serif" pitchFamily="34" charset="-120"/>
              </a:rPr>
              <a:t> del Estado Mérida.</a:t>
            </a:r>
            <a:endParaRPr lang="en-US" sz="2200" dirty="0">
              <a:latin typeface="Merriweather" panose="00000500000000000000" pitchFamily="2" charset="0"/>
            </a:endParaRPr>
          </a:p>
        </p:txBody>
      </p:sp>
      <p:sp>
        <p:nvSpPr>
          <p:cNvPr id="20" name="Text 6"/>
          <p:cNvSpPr/>
          <p:nvPr/>
        </p:nvSpPr>
        <p:spPr>
          <a:xfrm>
            <a:off x="560476" y="7227178"/>
            <a:ext cx="3186047" cy="405006"/>
          </a:xfrm>
          <a:prstGeom prst="rect">
            <a:avLst/>
          </a:prstGeom>
          <a:noFill/>
          <a:ln/>
        </p:spPr>
        <p:txBody>
          <a:bodyPr wrap="square" lIns="0" tIns="0" rIns="0" bIns="0" rtlCol="0" anchor="t"/>
          <a:lstStyle/>
          <a:p>
            <a:pPr algn="ctr">
              <a:lnSpc>
                <a:spcPts val="3189"/>
              </a:lnSpc>
            </a:pPr>
            <a:r>
              <a:rPr lang="en-US" sz="2657" b="1" dirty="0">
                <a:solidFill>
                  <a:srgbClr val="1BA04C"/>
                </a:solidFill>
                <a:latin typeface="ui-sans-serif" pitchFamily="34" charset="0"/>
                <a:ea typeface="ui-sans-serif" pitchFamily="34" charset="-122"/>
                <a:cs typeface="ui-sans-serif" pitchFamily="34" charset="-120"/>
              </a:rPr>
              <a:t>82,05%</a:t>
            </a:r>
            <a:endParaRPr lang="en-US" sz="2657" dirty="0">
              <a:solidFill>
                <a:srgbClr val="1BA04C"/>
              </a:solidFill>
            </a:endParaRPr>
          </a:p>
        </p:txBody>
      </p:sp>
      <p:sp>
        <p:nvSpPr>
          <p:cNvPr id="21" name="Text 7"/>
          <p:cNvSpPr/>
          <p:nvPr/>
        </p:nvSpPr>
        <p:spPr>
          <a:xfrm>
            <a:off x="688510" y="7695398"/>
            <a:ext cx="2880043" cy="341792"/>
          </a:xfrm>
          <a:prstGeom prst="rect">
            <a:avLst/>
          </a:prstGeom>
          <a:noFill/>
          <a:ln/>
        </p:spPr>
        <p:txBody>
          <a:bodyPr wrap="square" lIns="0" tIns="0" rIns="0" bIns="0" rtlCol="0" anchor="t"/>
          <a:lstStyle/>
          <a:p>
            <a:pPr algn="ctr">
              <a:lnSpc>
                <a:spcPts val="1772"/>
              </a:lnSpc>
            </a:pPr>
            <a:r>
              <a:rPr lang="en-US" sz="2000" dirty="0">
                <a:latin typeface="Merriweather" panose="00000500000000000000" pitchFamily="2" charset="0"/>
                <a:ea typeface="ui-sans-serif" pitchFamily="34" charset="-122"/>
                <a:cs typeface="ui-sans-serif" pitchFamily="34" charset="-120"/>
              </a:rPr>
              <a:t>Cobertura de comunas</a:t>
            </a:r>
            <a:endParaRPr lang="en-US" sz="2000" dirty="0">
              <a:latin typeface="Merriweather" panose="00000500000000000000" pitchFamily="2" charset="0"/>
            </a:endParaRPr>
          </a:p>
        </p:txBody>
      </p:sp>
      <p:sp>
        <p:nvSpPr>
          <p:cNvPr id="22" name="Text 8"/>
          <p:cNvSpPr/>
          <p:nvPr/>
        </p:nvSpPr>
        <p:spPr>
          <a:xfrm>
            <a:off x="3756842" y="7227178"/>
            <a:ext cx="2925043" cy="405006"/>
          </a:xfrm>
          <a:prstGeom prst="rect">
            <a:avLst/>
          </a:prstGeom>
          <a:noFill/>
          <a:ln/>
        </p:spPr>
        <p:txBody>
          <a:bodyPr wrap="square" lIns="0" tIns="0" rIns="0" bIns="0" rtlCol="0" anchor="t"/>
          <a:lstStyle/>
          <a:p>
            <a:pPr algn="ctr">
              <a:lnSpc>
                <a:spcPts val="3189"/>
              </a:lnSpc>
            </a:pPr>
            <a:r>
              <a:rPr lang="en-US" sz="2657" b="1" dirty="0">
                <a:solidFill>
                  <a:srgbClr val="1BA04C"/>
                </a:solidFill>
                <a:latin typeface="ui-sans-serif" pitchFamily="34" charset="0"/>
                <a:ea typeface="ui-sans-serif" pitchFamily="34" charset="-122"/>
                <a:cs typeface="ui-sans-serif" pitchFamily="34" charset="-120"/>
              </a:rPr>
              <a:t>N=198</a:t>
            </a:r>
            <a:endParaRPr lang="en-US" sz="2657" b="1" dirty="0">
              <a:solidFill>
                <a:srgbClr val="1BA04C"/>
              </a:solidFill>
            </a:endParaRPr>
          </a:p>
        </p:txBody>
      </p:sp>
      <p:sp>
        <p:nvSpPr>
          <p:cNvPr id="23" name="Text 9"/>
          <p:cNvSpPr/>
          <p:nvPr/>
        </p:nvSpPr>
        <p:spPr>
          <a:xfrm>
            <a:off x="3780056" y="7737304"/>
            <a:ext cx="2958576" cy="327234"/>
          </a:xfrm>
          <a:prstGeom prst="rect">
            <a:avLst/>
          </a:prstGeom>
          <a:noFill/>
          <a:ln/>
        </p:spPr>
        <p:txBody>
          <a:bodyPr wrap="square" lIns="0" tIns="0" rIns="0" bIns="0" rtlCol="0" anchor="t"/>
          <a:lstStyle/>
          <a:p>
            <a:pPr algn="ctr">
              <a:lnSpc>
                <a:spcPts val="1772"/>
              </a:lnSpc>
            </a:pPr>
            <a:r>
              <a:rPr lang="en-US" sz="2000" dirty="0">
                <a:latin typeface="Merriweather" panose="00000500000000000000" pitchFamily="2" charset="0"/>
                <a:ea typeface="ui-sans-serif" pitchFamily="34" charset="-122"/>
                <a:cs typeface="ui-sans-serif" pitchFamily="34" charset="-120"/>
              </a:rPr>
              <a:t>Unidad de Análisis</a:t>
            </a:r>
            <a:endParaRPr lang="en-US" sz="2000" dirty="0">
              <a:latin typeface="Merriweather" panose="00000500000000000000" pitchFamily="2" charset="0"/>
            </a:endParaRPr>
          </a:p>
        </p:txBody>
      </p:sp>
      <p:sp>
        <p:nvSpPr>
          <p:cNvPr id="25" name="Text 11"/>
          <p:cNvSpPr/>
          <p:nvPr/>
        </p:nvSpPr>
        <p:spPr>
          <a:xfrm>
            <a:off x="2109818" y="7632184"/>
            <a:ext cx="6030089" cy="1080016"/>
          </a:xfrm>
          <a:prstGeom prst="rect">
            <a:avLst/>
          </a:prstGeom>
          <a:noFill/>
          <a:ln/>
        </p:spPr>
        <p:txBody>
          <a:bodyPr wrap="square" lIns="0" tIns="0" rIns="0" bIns="0" rtlCol="0" anchor="t"/>
          <a:lstStyle/>
          <a:p>
            <a:pPr>
              <a:lnSpc>
                <a:spcPts val="2126"/>
              </a:lnSpc>
            </a:pPr>
            <a:endParaRPr lang="en-US" sz="1417" dirty="0">
              <a:latin typeface="Merriweather" panose="00000500000000000000" pitchFamily="2" charset="0"/>
            </a:endParaRPr>
          </a:p>
        </p:txBody>
      </p:sp>
      <p:sp>
        <p:nvSpPr>
          <p:cNvPr id="28" name="Text 14"/>
          <p:cNvSpPr/>
          <p:nvPr/>
        </p:nvSpPr>
        <p:spPr>
          <a:xfrm>
            <a:off x="450006" y="10259557"/>
            <a:ext cx="3030373" cy="225003"/>
          </a:xfrm>
          <a:prstGeom prst="rect">
            <a:avLst/>
          </a:prstGeom>
          <a:noFill/>
          <a:ln/>
        </p:spPr>
        <p:txBody>
          <a:bodyPr wrap="square" lIns="0" tIns="0" rIns="0" bIns="0" rtlCol="0" anchor="t"/>
          <a:lstStyle/>
          <a:p>
            <a:pPr>
              <a:lnSpc>
                <a:spcPts val="1772"/>
              </a:lnSpc>
            </a:pPr>
            <a:r>
              <a:rPr lang="en-US" sz="1240" dirty="0">
                <a:solidFill>
                  <a:srgbClr val="9CA3AF"/>
                </a:solidFill>
                <a:latin typeface="ui-sans-serif" pitchFamily="34" charset="0"/>
                <a:ea typeface="ui-sans-serif" pitchFamily="34" charset="-122"/>
                <a:cs typeface="ui-sans-serif" pitchFamily="34" charset="-120"/>
              </a:rPr>
              <a:t>Capítulo III: Marco Metodológico</a:t>
            </a:r>
            <a:endParaRPr lang="en-US" sz="1240" dirty="0"/>
          </a:p>
        </p:txBody>
      </p:sp>
      <p:pic>
        <p:nvPicPr>
          <p:cNvPr id="29" name="Image 2" descr="preencoded.png">
            <a:extLst>
              <a:ext uri="{FF2B5EF4-FFF2-40B4-BE49-F238E27FC236}">
                <a16:creationId xmlns:a16="http://schemas.microsoft.com/office/drawing/2014/main" id="{A39F4999-0378-C1A2-0D8A-4F338C430631}"/>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imgEffect>
                  </a14:imgLayer>
                </a14:imgProps>
              </a:ext>
            </a:extLst>
          </a:blip>
          <a:stretch>
            <a:fillRect/>
          </a:stretch>
        </p:blipFill>
        <p:spPr>
          <a:xfrm>
            <a:off x="7560307" y="1047737"/>
            <a:ext cx="6570097" cy="2790041"/>
          </a:xfrm>
          <a:prstGeom prst="rect">
            <a:avLst/>
          </a:prstGeom>
        </p:spPr>
      </p:pic>
      <p:pic>
        <p:nvPicPr>
          <p:cNvPr id="30" name="Image 3" descr="preencoded.png">
            <a:extLst>
              <a:ext uri="{FF2B5EF4-FFF2-40B4-BE49-F238E27FC236}">
                <a16:creationId xmlns:a16="http://schemas.microsoft.com/office/drawing/2014/main" id="{91967B59-D0BB-3CD2-F5EF-B41AF839A36B}"/>
              </a:ext>
            </a:extLst>
          </p:cNvPr>
          <p:cNvPicPr>
            <a:picLocks noChangeAspect="1"/>
          </p:cNvPicPr>
          <p:nvPr/>
        </p:nvPicPr>
        <p:blipFill>
          <a:blip r:embed="rId18"/>
          <a:stretch>
            <a:fillRect/>
          </a:stretch>
        </p:blipFill>
        <p:spPr>
          <a:xfrm>
            <a:off x="7999243" y="881132"/>
            <a:ext cx="337505" cy="405006"/>
          </a:xfrm>
          <a:prstGeom prst="rect">
            <a:avLst/>
          </a:prstGeom>
        </p:spPr>
      </p:pic>
      <p:pic>
        <p:nvPicPr>
          <p:cNvPr id="31" name="Image 4" descr="preencoded.png">
            <a:extLst>
              <a:ext uri="{FF2B5EF4-FFF2-40B4-BE49-F238E27FC236}">
                <a16:creationId xmlns:a16="http://schemas.microsoft.com/office/drawing/2014/main" id="{1E776624-8BC4-2BFE-8E35-9352EE68C188}"/>
              </a:ext>
            </a:extLst>
          </p:cNvPr>
          <p:cNvPicPr>
            <a:picLocks noChangeAspect="1"/>
          </p:cNvPicPr>
          <p:nvPr/>
        </p:nvPicPr>
        <p:blipFill>
          <a:blip r:embed="rId19"/>
          <a:stretch>
            <a:fillRect/>
          </a:stretch>
        </p:blipFill>
        <p:spPr>
          <a:xfrm>
            <a:off x="7999243" y="1827060"/>
            <a:ext cx="180003" cy="180003"/>
          </a:xfrm>
          <a:prstGeom prst="rect">
            <a:avLst/>
          </a:prstGeom>
        </p:spPr>
      </p:pic>
      <p:pic>
        <p:nvPicPr>
          <p:cNvPr id="32" name="Image 5" descr="preencoded.png">
            <a:extLst>
              <a:ext uri="{FF2B5EF4-FFF2-40B4-BE49-F238E27FC236}">
                <a16:creationId xmlns:a16="http://schemas.microsoft.com/office/drawing/2014/main" id="{B682F196-0A54-CEE9-3435-2F537F402EFF}"/>
              </a:ext>
            </a:extLst>
          </p:cNvPr>
          <p:cNvPicPr>
            <a:picLocks noChangeAspect="1"/>
          </p:cNvPicPr>
          <p:nvPr/>
        </p:nvPicPr>
        <p:blipFill>
          <a:blip r:embed="rId19"/>
          <a:stretch>
            <a:fillRect/>
          </a:stretch>
        </p:blipFill>
        <p:spPr>
          <a:xfrm>
            <a:off x="7920313" y="3622907"/>
            <a:ext cx="176940" cy="180003"/>
          </a:xfrm>
          <a:prstGeom prst="rect">
            <a:avLst/>
          </a:prstGeom>
        </p:spPr>
      </p:pic>
      <p:pic>
        <p:nvPicPr>
          <p:cNvPr id="33" name="Image 6" descr="preencoded.png">
            <a:extLst>
              <a:ext uri="{FF2B5EF4-FFF2-40B4-BE49-F238E27FC236}">
                <a16:creationId xmlns:a16="http://schemas.microsoft.com/office/drawing/2014/main" id="{7A09D4DC-EC46-DB15-C08E-115BB377C9BC}"/>
              </a:ext>
            </a:extLst>
          </p:cNvPr>
          <p:cNvPicPr>
            <a:picLocks noChangeAspect="1"/>
          </p:cNvPicPr>
          <p:nvPr/>
        </p:nvPicPr>
        <p:blipFill>
          <a:blip r:embed="rId19"/>
          <a:stretch>
            <a:fillRect/>
          </a:stretch>
        </p:blipFill>
        <p:spPr>
          <a:xfrm>
            <a:off x="7970997" y="4537537"/>
            <a:ext cx="176264" cy="180003"/>
          </a:xfrm>
          <a:prstGeom prst="rect">
            <a:avLst/>
          </a:prstGeom>
        </p:spPr>
      </p:pic>
      <p:sp>
        <p:nvSpPr>
          <p:cNvPr id="39" name="Text 1">
            <a:extLst>
              <a:ext uri="{FF2B5EF4-FFF2-40B4-BE49-F238E27FC236}">
                <a16:creationId xmlns:a16="http://schemas.microsoft.com/office/drawing/2014/main" id="{B1C569E7-A9B2-38EF-B43C-DA7A524A1357}"/>
              </a:ext>
            </a:extLst>
          </p:cNvPr>
          <p:cNvSpPr/>
          <p:nvPr/>
        </p:nvSpPr>
        <p:spPr>
          <a:xfrm>
            <a:off x="8198328" y="895999"/>
            <a:ext cx="5974748" cy="720011"/>
          </a:xfrm>
          <a:prstGeom prst="rect">
            <a:avLst/>
          </a:prstGeom>
          <a:noFill/>
          <a:ln/>
        </p:spPr>
        <p:txBody>
          <a:bodyPr wrap="square" lIns="0" tIns="0" rIns="0" bIns="0" rtlCol="0" anchor="t"/>
          <a:lstStyle/>
          <a:p>
            <a:pPr algn="ctr">
              <a:lnSpc>
                <a:spcPts val="2835"/>
              </a:lnSpc>
            </a:pPr>
            <a:r>
              <a:rPr lang="en-US" sz="2600" b="1" dirty="0">
                <a:latin typeface="Montserrat" panose="00000500000000000000" pitchFamily="2" charset="0"/>
                <a:ea typeface="ui-sans-serif" pitchFamily="34" charset="-122"/>
                <a:cs typeface="ui-sans-serif" pitchFamily="34" charset="-120"/>
              </a:rPr>
              <a:t>Muestreo No Probabilístico por Conveniencia</a:t>
            </a:r>
            <a:endParaRPr lang="en-US" sz="2600" dirty="0">
              <a:latin typeface="Montserrat" panose="00000500000000000000" pitchFamily="2" charset="0"/>
            </a:endParaRPr>
          </a:p>
        </p:txBody>
      </p:sp>
      <p:sp>
        <p:nvSpPr>
          <p:cNvPr id="40" name="Text 2">
            <a:extLst>
              <a:ext uri="{FF2B5EF4-FFF2-40B4-BE49-F238E27FC236}">
                <a16:creationId xmlns:a16="http://schemas.microsoft.com/office/drawing/2014/main" id="{090A2BCE-8CE6-68B9-5E11-6A9CA1BE9910}"/>
              </a:ext>
            </a:extLst>
          </p:cNvPr>
          <p:cNvSpPr/>
          <p:nvPr/>
        </p:nvSpPr>
        <p:spPr>
          <a:xfrm>
            <a:off x="8269247" y="1782060"/>
            <a:ext cx="5760085" cy="1458690"/>
          </a:xfrm>
          <a:prstGeom prst="rect">
            <a:avLst/>
          </a:prstGeom>
          <a:noFill/>
          <a:ln/>
        </p:spPr>
        <p:txBody>
          <a:bodyPr wrap="square" lIns="0" tIns="0" rIns="0" bIns="0" rtlCol="0" anchor="t"/>
          <a:lstStyle/>
          <a:p>
            <a:pPr algn="just"/>
            <a:r>
              <a:rPr lang="es-VE" sz="2000" b="1" noProof="0" dirty="0">
                <a:latin typeface="Merriweather" panose="00000500000000000000" pitchFamily="2" charset="0"/>
                <a:ea typeface="ui-sans-serif" pitchFamily="34" charset="-122"/>
                <a:cs typeface="ui-sans-serif" pitchFamily="34" charset="-120"/>
              </a:rPr>
              <a:t>Justificación: </a:t>
            </a:r>
            <a:r>
              <a:rPr lang="es-VE" sz="2000" noProof="0" dirty="0">
                <a:latin typeface="Merriweather" panose="00000500000000000000" pitchFamily="2" charset="0"/>
                <a:ea typeface="ui-sans-serif" pitchFamily="34" charset="-122"/>
                <a:cs typeface="ui-sans-serif" pitchFamily="34" charset="-120"/>
              </a:rPr>
              <a:t>No probabilístico por conveniencia, justificado por la disponibilidad y accesibilidad de los registros oficiales proporcionados por el Instituto Nacional de Estadística (INE) regional.</a:t>
            </a:r>
          </a:p>
          <a:p>
            <a:endParaRPr lang="es-VE" sz="2000" noProof="0" dirty="0">
              <a:latin typeface="Merriweather" panose="00000500000000000000" pitchFamily="2" charset="0"/>
            </a:endParaRPr>
          </a:p>
          <a:p>
            <a:endParaRPr lang="es-VE" sz="2000" noProof="0" dirty="0">
              <a:latin typeface="Merriweather" panose="00000500000000000000" pitchFamily="2" charset="0"/>
            </a:endParaRPr>
          </a:p>
        </p:txBody>
      </p:sp>
      <p:sp>
        <p:nvSpPr>
          <p:cNvPr id="41" name="Text 3">
            <a:extLst>
              <a:ext uri="{FF2B5EF4-FFF2-40B4-BE49-F238E27FC236}">
                <a16:creationId xmlns:a16="http://schemas.microsoft.com/office/drawing/2014/main" id="{A4AC9AF9-AEB6-37E5-8125-2B99057CB678}"/>
              </a:ext>
            </a:extLst>
          </p:cNvPr>
          <p:cNvSpPr/>
          <p:nvPr/>
        </p:nvSpPr>
        <p:spPr>
          <a:xfrm>
            <a:off x="8190317" y="3577906"/>
            <a:ext cx="4695601" cy="630095"/>
          </a:xfrm>
          <a:prstGeom prst="rect">
            <a:avLst/>
          </a:prstGeom>
          <a:noFill/>
          <a:ln/>
        </p:spPr>
        <p:txBody>
          <a:bodyPr wrap="square" lIns="0" tIns="0" rIns="0" bIns="0" rtlCol="0" anchor="t"/>
          <a:lstStyle/>
          <a:p>
            <a:pPr algn="just"/>
            <a:r>
              <a:rPr lang="en-US" sz="2000" b="1" dirty="0">
                <a:latin typeface="Merriweather" panose="00000500000000000000" pitchFamily="2" charset="0"/>
                <a:ea typeface="ui-sans-serif" pitchFamily="34" charset="-122"/>
                <a:cs typeface="ui-sans-serif" pitchFamily="34" charset="-120"/>
              </a:rPr>
              <a:t>Práctico:</a:t>
            </a:r>
            <a:r>
              <a:rPr lang="en-US" sz="2000" dirty="0">
                <a:latin typeface="Merriweather" panose="00000500000000000000" pitchFamily="2" charset="0"/>
                <a:ea typeface="ui-sans-serif" pitchFamily="34" charset="-122"/>
                <a:cs typeface="ui-sans-serif" pitchFamily="34" charset="-120"/>
              </a:rPr>
              <a:t> Utilización de registros preexistentes para análisis</a:t>
            </a:r>
            <a:endParaRPr lang="en-US" sz="2000" dirty="0">
              <a:latin typeface="Merriweather" panose="00000500000000000000" pitchFamily="2" charset="0"/>
            </a:endParaRPr>
          </a:p>
        </p:txBody>
      </p:sp>
      <p:sp>
        <p:nvSpPr>
          <p:cNvPr id="42" name="Text 4">
            <a:extLst>
              <a:ext uri="{FF2B5EF4-FFF2-40B4-BE49-F238E27FC236}">
                <a16:creationId xmlns:a16="http://schemas.microsoft.com/office/drawing/2014/main" id="{94CBEF12-5403-9923-B39E-FA12B59CA8BE}"/>
              </a:ext>
            </a:extLst>
          </p:cNvPr>
          <p:cNvSpPr/>
          <p:nvPr/>
        </p:nvSpPr>
        <p:spPr>
          <a:xfrm>
            <a:off x="8241001" y="4492537"/>
            <a:ext cx="5889403" cy="591572"/>
          </a:xfrm>
          <a:prstGeom prst="rect">
            <a:avLst/>
          </a:prstGeom>
          <a:noFill/>
          <a:ln/>
        </p:spPr>
        <p:txBody>
          <a:bodyPr wrap="square" lIns="0" tIns="0" rIns="0" bIns="0" rtlCol="0" anchor="t"/>
          <a:lstStyle/>
          <a:p>
            <a:r>
              <a:rPr lang="en-US" sz="2000" b="1" dirty="0">
                <a:latin typeface="Merriweather" panose="00000500000000000000" pitchFamily="2" charset="0"/>
                <a:ea typeface="ui-sans-serif" pitchFamily="34" charset="-122"/>
                <a:cs typeface="ui-sans-serif" pitchFamily="34" charset="-120"/>
              </a:rPr>
              <a:t>Limitación:</a:t>
            </a:r>
            <a:r>
              <a:rPr lang="en-US" sz="2000" dirty="0">
                <a:latin typeface="Merriweather" panose="00000500000000000000" pitchFamily="2" charset="0"/>
                <a:ea typeface="ui-sans-serif" pitchFamily="34" charset="-122"/>
                <a:cs typeface="ui-sans-serif" pitchFamily="34" charset="-120"/>
              </a:rPr>
              <a:t> No garantiza representatividad estadística</a:t>
            </a:r>
            <a:endParaRPr lang="en-US" sz="2000" dirty="0">
              <a:latin typeface="Merriweather" panose="00000500000000000000" pitchFamily="2" charset="0"/>
            </a:endParaRPr>
          </a:p>
        </p:txBody>
      </p:sp>
      <p:pic>
        <p:nvPicPr>
          <p:cNvPr id="46" name="Image 2" descr="preencoded.png">
            <a:extLst>
              <a:ext uri="{FF2B5EF4-FFF2-40B4-BE49-F238E27FC236}">
                <a16:creationId xmlns:a16="http://schemas.microsoft.com/office/drawing/2014/main" id="{95102EDA-B017-26FA-BC9D-B301B22148C8}"/>
              </a:ext>
            </a:extLst>
          </p:cNvPr>
          <p:cNvPicPr>
            <a:picLocks noChangeAspect="1"/>
          </p:cNvPicPr>
          <p:nvPr/>
        </p:nvPicPr>
        <p:blipFill>
          <a:blip r:embed="rId20"/>
          <a:stretch>
            <a:fillRect/>
          </a:stretch>
        </p:blipFill>
        <p:spPr>
          <a:xfrm>
            <a:off x="-27000" y="106326"/>
            <a:ext cx="3757555" cy="2632539"/>
          </a:xfrm>
          <a:prstGeom prst="rect">
            <a:avLst/>
          </a:prstGeom>
        </p:spPr>
      </p:pic>
      <p:pic>
        <p:nvPicPr>
          <p:cNvPr id="47" name="Image 16" descr="preencoded.png">
            <a:extLst>
              <a:ext uri="{FF2B5EF4-FFF2-40B4-BE49-F238E27FC236}">
                <a16:creationId xmlns:a16="http://schemas.microsoft.com/office/drawing/2014/main" id="{77BAC1A3-52CF-8930-BE02-0663262D22A2}"/>
              </a:ext>
            </a:extLst>
          </p:cNvPr>
          <p:cNvPicPr>
            <a:picLocks noChangeAspect="1"/>
          </p:cNvPicPr>
          <p:nvPr/>
        </p:nvPicPr>
        <p:blipFill>
          <a:blip r:embed="rId21"/>
          <a:stretch>
            <a:fillRect/>
          </a:stretch>
        </p:blipFill>
        <p:spPr>
          <a:xfrm>
            <a:off x="60218" y="8604364"/>
            <a:ext cx="258067" cy="258067"/>
          </a:xfrm>
          <a:prstGeom prst="rect">
            <a:avLst/>
          </a:prstGeom>
        </p:spPr>
      </p:pic>
      <p:pic>
        <p:nvPicPr>
          <p:cNvPr id="48" name="Image 17" descr="preencoded.png">
            <a:extLst>
              <a:ext uri="{FF2B5EF4-FFF2-40B4-BE49-F238E27FC236}">
                <a16:creationId xmlns:a16="http://schemas.microsoft.com/office/drawing/2014/main" id="{5ABF7835-67F5-F680-1CF2-4FA586618CF1}"/>
              </a:ext>
            </a:extLst>
          </p:cNvPr>
          <p:cNvPicPr>
            <a:picLocks noChangeAspect="1"/>
          </p:cNvPicPr>
          <p:nvPr/>
        </p:nvPicPr>
        <p:blipFill>
          <a:blip r:embed="rId22"/>
          <a:stretch>
            <a:fillRect/>
          </a:stretch>
        </p:blipFill>
        <p:spPr>
          <a:xfrm>
            <a:off x="-15996" y="-7645"/>
            <a:ext cx="14400213" cy="90001"/>
          </a:xfrm>
          <a:prstGeom prst="rect">
            <a:avLst/>
          </a:prstGeom>
        </p:spPr>
      </p:pic>
      <p:pic>
        <p:nvPicPr>
          <p:cNvPr id="49" name="Image 18" descr="preencoded.png">
            <a:extLst>
              <a:ext uri="{FF2B5EF4-FFF2-40B4-BE49-F238E27FC236}">
                <a16:creationId xmlns:a16="http://schemas.microsoft.com/office/drawing/2014/main" id="{1ECE39B1-8FCC-10EA-A071-C970C149C300}"/>
              </a:ext>
            </a:extLst>
          </p:cNvPr>
          <p:cNvPicPr>
            <a:picLocks noChangeAspect="1"/>
          </p:cNvPicPr>
          <p:nvPr/>
        </p:nvPicPr>
        <p:blipFill>
          <a:blip r:embed="rId23"/>
          <a:stretch>
            <a:fillRect/>
          </a:stretch>
        </p:blipFill>
        <p:spPr>
          <a:xfrm>
            <a:off x="-1" y="8902813"/>
            <a:ext cx="14400213" cy="90001"/>
          </a:xfrm>
          <a:prstGeom prst="rect">
            <a:avLst/>
          </a:prstGeom>
        </p:spPr>
      </p:pic>
      <p:sp>
        <p:nvSpPr>
          <p:cNvPr id="50" name="Text 7">
            <a:extLst>
              <a:ext uri="{FF2B5EF4-FFF2-40B4-BE49-F238E27FC236}">
                <a16:creationId xmlns:a16="http://schemas.microsoft.com/office/drawing/2014/main" id="{994940AE-CDF5-308C-51C4-33F5B8381696}"/>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A. Gutiérrez V.</a:t>
            </a:r>
            <a:endParaRPr lang="en-US" sz="1890" dirty="0"/>
          </a:p>
        </p:txBody>
      </p:sp>
      <p:sp>
        <p:nvSpPr>
          <p:cNvPr id="51" name="Text 0">
            <a:extLst>
              <a:ext uri="{FF2B5EF4-FFF2-40B4-BE49-F238E27FC236}">
                <a16:creationId xmlns:a16="http://schemas.microsoft.com/office/drawing/2014/main" id="{02EE3FBF-FABB-0C08-44B2-A191AA2BA69B}"/>
              </a:ext>
            </a:extLst>
          </p:cNvPr>
          <p:cNvSpPr/>
          <p:nvPr/>
        </p:nvSpPr>
        <p:spPr>
          <a:xfrm>
            <a:off x="720010" y="419469"/>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III</a:t>
            </a:r>
            <a:endParaRPr lang="en-US" sz="1594" dirty="0">
              <a:latin typeface="Montserrat" panose="00000500000000000000" pitchFamily="2" charset="0"/>
            </a:endParaRPr>
          </a:p>
        </p:txBody>
      </p:sp>
      <p:pic>
        <p:nvPicPr>
          <p:cNvPr id="68" name="Imagen 67">
            <a:extLst>
              <a:ext uri="{FF2B5EF4-FFF2-40B4-BE49-F238E27FC236}">
                <a16:creationId xmlns:a16="http://schemas.microsoft.com/office/drawing/2014/main" id="{D4472D86-96A1-EF21-DA48-DA5945A58DBA}"/>
              </a:ext>
            </a:extLst>
          </p:cNvPr>
          <p:cNvPicPr>
            <a:picLocks noChangeAspect="1"/>
          </p:cNvPicPr>
          <p:nvPr/>
        </p:nvPicPr>
        <p:blipFill>
          <a:blip r:embed="rId24"/>
          <a:stretch>
            <a:fillRect/>
          </a:stretch>
        </p:blipFill>
        <p:spPr>
          <a:xfrm>
            <a:off x="7970996" y="5256724"/>
            <a:ext cx="6018722" cy="337785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50006" y="1439724"/>
            <a:ext cx="2160032" cy="45001"/>
          </a:xfrm>
          <a:prstGeom prst="rect">
            <a:avLst/>
          </a:prstGeom>
        </p:spPr>
      </p:pic>
      <p:pic>
        <p:nvPicPr>
          <p:cNvPr id="4" name="Image 2" descr="preencoded.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450007" y="1811510"/>
            <a:ext cx="13500199" cy="2115031"/>
          </a:xfrm>
          <a:prstGeom prst="rect">
            <a:avLst/>
          </a:prstGeom>
        </p:spPr>
      </p:pic>
      <p:pic>
        <p:nvPicPr>
          <p:cNvPr id="5" name="Image 3" descr="preencoded.png"/>
          <p:cNvPicPr>
            <a:picLocks noChangeAspect="1"/>
          </p:cNvPicPr>
          <p:nvPr/>
        </p:nvPicPr>
        <p:blipFill>
          <a:blip r:embed="rId6"/>
          <a:stretch>
            <a:fillRect/>
          </a:stretch>
        </p:blipFill>
        <p:spPr>
          <a:xfrm>
            <a:off x="720010" y="2114734"/>
            <a:ext cx="337505" cy="405006"/>
          </a:xfrm>
          <a:prstGeom prst="rect">
            <a:avLst/>
          </a:prstGeom>
        </p:spPr>
      </p:pic>
      <p:pic>
        <p:nvPicPr>
          <p:cNvPr id="7" name="Image 5" descr="preencoded.png"/>
          <p:cNvPicPr>
            <a:picLocks noChangeAspect="1"/>
          </p:cNvPicPr>
          <p:nvPr/>
        </p:nvPicPr>
        <p:blipFill>
          <a:blip r:embed="rId7">
            <a:extLst>
              <a:ext uri="{BEBA8EAE-BF5A-486C-A8C5-ECC9F3942E4B}">
                <a14:imgProps xmlns:a14="http://schemas.microsoft.com/office/drawing/2010/main">
                  <a14:imgLayer r:embed="rId8">
                    <a14:imgEffect>
                      <a14:backgroundRemoval t="1136" b="98106" l="1042" r="89931">
                        <a14:foregroundMark x1="1042" y1="1136" x2="1389" y2="98106"/>
                      </a14:backgroundRemoval>
                    </a14:imgEffect>
                  </a14:imgLayer>
                </a14:imgProps>
              </a:ext>
            </a:extLst>
          </a:blip>
          <a:stretch>
            <a:fillRect/>
          </a:stretch>
        </p:blipFill>
        <p:spPr>
          <a:xfrm>
            <a:off x="450006" y="5399782"/>
            <a:ext cx="3240048" cy="2829818"/>
          </a:xfrm>
          <a:prstGeom prst="rect">
            <a:avLst/>
          </a:prstGeom>
        </p:spPr>
      </p:pic>
      <p:pic>
        <p:nvPicPr>
          <p:cNvPr id="8" name="Image 6" descr="preencoded.png"/>
          <p:cNvPicPr>
            <a:picLocks noChangeAspect="1"/>
          </p:cNvPicPr>
          <p:nvPr/>
        </p:nvPicPr>
        <p:blipFill>
          <a:blip r:embed="rId9"/>
          <a:stretch>
            <a:fillRect/>
          </a:stretch>
        </p:blipFill>
        <p:spPr>
          <a:xfrm>
            <a:off x="630009" y="5647286"/>
            <a:ext cx="180003" cy="180003"/>
          </a:xfrm>
          <a:prstGeom prst="rect">
            <a:avLst/>
          </a:prstGeom>
        </p:spPr>
      </p:pic>
      <p:pic>
        <p:nvPicPr>
          <p:cNvPr id="9" name="Image 7" descr="preencoded.png"/>
          <p:cNvPicPr>
            <a:picLocks noChangeAspect="1"/>
          </p:cNvPicPr>
          <p:nvPr/>
        </p:nvPicPr>
        <p:blipFill>
          <a:blip r:embed="rId10">
            <a:extLst>
              <a:ext uri="{BEBA8EAE-BF5A-486C-A8C5-ECC9F3942E4B}">
                <a14:imgProps xmlns:a14="http://schemas.microsoft.com/office/drawing/2010/main">
                  <a14:imgLayer r:embed="rId11">
                    <a14:imgEffect>
                      <a14:backgroundRemoval t="947" b="99811" l="463" r="89931">
                        <a14:foregroundMark x1="1620" y1="947" x2="1620" y2="947"/>
                        <a14:foregroundMark x1="463" y1="96023" x2="2662" y2="99432"/>
                        <a14:foregroundMark x1="1620" y1="98295" x2="2894" y2="99811"/>
                      </a14:backgroundRemoval>
                    </a14:imgEffect>
                  </a14:imgLayer>
                </a14:imgProps>
              </a:ext>
            </a:extLst>
          </a:blip>
          <a:stretch>
            <a:fillRect/>
          </a:stretch>
        </p:blipFill>
        <p:spPr>
          <a:xfrm>
            <a:off x="3870057" y="5399782"/>
            <a:ext cx="3240047" cy="2829818"/>
          </a:xfrm>
          <a:prstGeom prst="rect">
            <a:avLst/>
          </a:prstGeom>
        </p:spPr>
      </p:pic>
      <p:pic>
        <p:nvPicPr>
          <p:cNvPr id="10" name="Image 8" descr="preencoded.png"/>
          <p:cNvPicPr>
            <a:picLocks noChangeAspect="1"/>
          </p:cNvPicPr>
          <p:nvPr/>
        </p:nvPicPr>
        <p:blipFill>
          <a:blip r:embed="rId12"/>
          <a:stretch>
            <a:fillRect/>
          </a:stretch>
        </p:blipFill>
        <p:spPr>
          <a:xfrm>
            <a:off x="4050059" y="5647286"/>
            <a:ext cx="180003" cy="180003"/>
          </a:xfrm>
          <a:prstGeom prst="rect">
            <a:avLst/>
          </a:prstGeom>
        </p:spPr>
      </p:pic>
      <p:pic>
        <p:nvPicPr>
          <p:cNvPr id="11" name="Image 9" descr="preencoded.png"/>
          <p:cNvPicPr>
            <a:picLocks noChangeAspect="1"/>
          </p:cNvPicPr>
          <p:nvPr/>
        </p:nvPicPr>
        <p:blipFill>
          <a:blip r:embed="rId13">
            <a:extLst>
              <a:ext uri="{BEBA8EAE-BF5A-486C-A8C5-ECC9F3942E4B}">
                <a14:imgProps xmlns:a14="http://schemas.microsoft.com/office/drawing/2010/main">
                  <a14:imgLayer r:embed="rId14">
                    <a14:imgEffect>
                      <a14:backgroundRemoval t="0" b="99811" l="579" r="89931">
                        <a14:foregroundMark x1="2315" y1="189" x2="926" y2="4924"/>
                        <a14:foregroundMark x1="579" y1="95265" x2="2083" y2="99811"/>
                        <a14:foregroundMark x1="1505" y1="3030" x2="2662" y2="1136"/>
                      </a14:backgroundRemoval>
                    </a14:imgEffect>
                  </a14:imgLayer>
                </a14:imgProps>
              </a:ext>
            </a:extLst>
          </a:blip>
          <a:stretch>
            <a:fillRect/>
          </a:stretch>
        </p:blipFill>
        <p:spPr>
          <a:xfrm>
            <a:off x="7290107" y="5399782"/>
            <a:ext cx="3240048" cy="2829818"/>
          </a:xfrm>
          <a:prstGeom prst="rect">
            <a:avLst/>
          </a:prstGeom>
        </p:spPr>
      </p:pic>
      <p:pic>
        <p:nvPicPr>
          <p:cNvPr id="12" name="Image 10" descr="preencoded.png"/>
          <p:cNvPicPr>
            <a:picLocks noChangeAspect="1"/>
          </p:cNvPicPr>
          <p:nvPr/>
        </p:nvPicPr>
        <p:blipFill>
          <a:blip r:embed="rId15"/>
          <a:stretch>
            <a:fillRect/>
          </a:stretch>
        </p:blipFill>
        <p:spPr>
          <a:xfrm>
            <a:off x="7470110" y="5647286"/>
            <a:ext cx="180003" cy="180003"/>
          </a:xfrm>
          <a:prstGeom prst="rect">
            <a:avLst/>
          </a:prstGeom>
        </p:spPr>
      </p:pic>
      <p:pic>
        <p:nvPicPr>
          <p:cNvPr id="13" name="Image 11" descr="preencoded.png"/>
          <p:cNvPicPr>
            <a:picLocks noChangeAspect="1"/>
          </p:cNvPicPr>
          <p:nvPr/>
        </p:nvPicPr>
        <p:blipFill>
          <a:blip r:embed="rId16">
            <a:extLst>
              <a:ext uri="{BEBA8EAE-BF5A-486C-A8C5-ECC9F3942E4B}">
                <a14:imgProps xmlns:a14="http://schemas.microsoft.com/office/drawing/2010/main">
                  <a14:imgLayer r:embed="rId17">
                    <a14:imgEffect>
                      <a14:backgroundRemoval t="1894" b="99053" l="463" r="89931">
                        <a14:foregroundMark x1="1042" y1="1894" x2="1042" y2="1894"/>
                        <a14:foregroundMark x1="463" y1="95833" x2="2546" y2="99053"/>
                      </a14:backgroundRemoval>
                    </a14:imgEffect>
                  </a14:imgLayer>
                </a14:imgProps>
              </a:ext>
            </a:extLst>
          </a:blip>
          <a:stretch>
            <a:fillRect/>
          </a:stretch>
        </p:blipFill>
        <p:spPr>
          <a:xfrm>
            <a:off x="10710158" y="5399782"/>
            <a:ext cx="3240048" cy="2829818"/>
          </a:xfrm>
          <a:prstGeom prst="rect">
            <a:avLst/>
          </a:prstGeom>
        </p:spPr>
      </p:pic>
      <p:pic>
        <p:nvPicPr>
          <p:cNvPr id="14" name="Image 12" descr="preencoded.png"/>
          <p:cNvPicPr>
            <a:picLocks noChangeAspect="1"/>
          </p:cNvPicPr>
          <p:nvPr/>
        </p:nvPicPr>
        <p:blipFill>
          <a:blip r:embed="rId18"/>
          <a:stretch>
            <a:fillRect/>
          </a:stretch>
        </p:blipFill>
        <p:spPr>
          <a:xfrm>
            <a:off x="10890160" y="5647286"/>
            <a:ext cx="180003" cy="180003"/>
          </a:xfrm>
          <a:prstGeom prst="rect">
            <a:avLst/>
          </a:prstGeom>
        </p:spPr>
      </p:pic>
      <p:sp>
        <p:nvSpPr>
          <p:cNvPr id="15" name="Text 0"/>
          <p:cNvSpPr/>
          <p:nvPr/>
        </p:nvSpPr>
        <p:spPr>
          <a:xfrm>
            <a:off x="450006" y="899716"/>
            <a:ext cx="13832051" cy="450007"/>
          </a:xfrm>
          <a:prstGeom prst="rect">
            <a:avLst/>
          </a:prstGeom>
          <a:noFill/>
          <a:ln/>
        </p:spPr>
        <p:txBody>
          <a:bodyPr wrap="square" lIns="0" tIns="0" rIns="0" bIns="0" rtlCol="0" anchor="t"/>
          <a:lstStyle/>
          <a:p>
            <a:pPr>
              <a:lnSpc>
                <a:spcPts val="3543"/>
              </a:lnSpc>
            </a:pPr>
            <a:r>
              <a:rPr lang="es-VE" sz="3189" b="1" noProof="0" dirty="0">
                <a:latin typeface="Montserrat" panose="00000500000000000000" pitchFamily="2" charset="0"/>
                <a:ea typeface="ui-sans-serif" pitchFamily="34" charset="-122"/>
                <a:cs typeface="ui-sans-serif" pitchFamily="34" charset="-120"/>
              </a:rPr>
              <a:t>Variables y su operacionalización (I)</a:t>
            </a:r>
            <a:endParaRPr lang="es-VE" sz="3189" noProof="0" dirty="0">
              <a:latin typeface="Montserrat" panose="00000500000000000000" pitchFamily="2" charset="0"/>
            </a:endParaRPr>
          </a:p>
        </p:txBody>
      </p:sp>
      <p:sp>
        <p:nvSpPr>
          <p:cNvPr id="16" name="Text 1"/>
          <p:cNvSpPr/>
          <p:nvPr/>
        </p:nvSpPr>
        <p:spPr>
          <a:xfrm>
            <a:off x="1237518" y="2137234"/>
            <a:ext cx="3955770" cy="360005"/>
          </a:xfrm>
          <a:prstGeom prst="rect">
            <a:avLst/>
          </a:prstGeom>
          <a:noFill/>
          <a:ln/>
        </p:spPr>
        <p:txBody>
          <a:bodyPr wrap="square" lIns="0" tIns="0" rIns="0" bIns="0" rtlCol="0" anchor="t"/>
          <a:lstStyle/>
          <a:p>
            <a:pPr>
              <a:lnSpc>
                <a:spcPts val="2835"/>
              </a:lnSpc>
            </a:pPr>
            <a:r>
              <a:rPr lang="en-US" sz="2126" b="1" dirty="0">
                <a:latin typeface="Montserrat" panose="00000500000000000000" pitchFamily="2" charset="0"/>
                <a:ea typeface="ui-sans-serif" pitchFamily="34" charset="-122"/>
                <a:cs typeface="ui-sans-serif" pitchFamily="34" charset="-120"/>
              </a:rPr>
              <a:t>Variable Dependiente</a:t>
            </a:r>
            <a:endParaRPr lang="en-US" sz="2126" dirty="0">
              <a:latin typeface="Montserrat" panose="00000500000000000000" pitchFamily="2" charset="0"/>
            </a:endParaRPr>
          </a:p>
        </p:txBody>
      </p:sp>
      <p:sp>
        <p:nvSpPr>
          <p:cNvPr id="17" name="Text 2"/>
          <p:cNvSpPr/>
          <p:nvPr/>
        </p:nvSpPr>
        <p:spPr>
          <a:xfrm>
            <a:off x="1260018" y="2699742"/>
            <a:ext cx="12690188" cy="360005"/>
          </a:xfrm>
          <a:prstGeom prst="rect">
            <a:avLst/>
          </a:prstGeom>
          <a:noFill/>
          <a:ln/>
        </p:spPr>
        <p:txBody>
          <a:bodyPr wrap="square" lIns="0" tIns="0" rIns="0" bIns="0" rtlCol="0" anchor="t"/>
          <a:lstStyle/>
          <a:p>
            <a:pPr>
              <a:lnSpc>
                <a:spcPts val="2480"/>
              </a:lnSpc>
            </a:pPr>
            <a:r>
              <a:rPr lang="en-US" sz="1772" b="1" dirty="0">
                <a:latin typeface="Montserrat" panose="00000500000000000000" pitchFamily="2" charset="0"/>
                <a:ea typeface="ui-sans-serif" pitchFamily="34" charset="-122"/>
                <a:cs typeface="ui-sans-serif" pitchFamily="34" charset="-120"/>
              </a:rPr>
              <a:t>RATIO_ACA_PROYECTO_CULMINADO</a:t>
            </a:r>
            <a:r>
              <a:rPr lang="en-US" sz="1772" dirty="0">
                <a:latin typeface="Montserrat" panose="00000500000000000000" pitchFamily="2" charset="0"/>
                <a:ea typeface="ui-sans-serif" pitchFamily="34" charset="-122"/>
                <a:cs typeface="ui-sans-serif" pitchFamily="34" charset="-120"/>
              </a:rPr>
              <a:t> (Ordinal: 1 a 4)</a:t>
            </a:r>
            <a:endParaRPr lang="en-US" sz="1772" dirty="0">
              <a:latin typeface="Montserrat" panose="00000500000000000000" pitchFamily="2" charset="0"/>
            </a:endParaRPr>
          </a:p>
        </p:txBody>
      </p:sp>
      <p:sp>
        <p:nvSpPr>
          <p:cNvPr id="18" name="Text 3"/>
          <p:cNvSpPr/>
          <p:nvPr/>
        </p:nvSpPr>
        <p:spPr>
          <a:xfrm>
            <a:off x="720010" y="3189920"/>
            <a:ext cx="12420183" cy="753232"/>
          </a:xfrm>
          <a:prstGeom prst="rect">
            <a:avLst/>
          </a:prstGeom>
          <a:noFill/>
          <a:ln/>
        </p:spPr>
        <p:txBody>
          <a:bodyPr wrap="square" lIns="0" tIns="0" rIns="0" bIns="0" rtlCol="0" anchor="t"/>
          <a:lstStyle/>
          <a:p>
            <a:pPr algn="just"/>
            <a:r>
              <a:rPr lang="en-US" sz="2400" dirty="0">
                <a:latin typeface="Merriweather" panose="00000500000000000000" pitchFamily="2" charset="0"/>
                <a:ea typeface="ui-sans-serif" pitchFamily="34" charset="-122"/>
                <a:cs typeface="ui-sans-serif" pitchFamily="34" charset="-120"/>
              </a:rPr>
              <a:t>Refleja el grado de éxito en la resolución del nudo crítico identificado por las comunidades a través de los proyectos de las Agendas Concretas de Acción (ACA).</a:t>
            </a:r>
            <a:endParaRPr lang="en-US" sz="2400" dirty="0">
              <a:latin typeface="Merriweather" panose="00000500000000000000" pitchFamily="2" charset="0"/>
            </a:endParaRPr>
          </a:p>
        </p:txBody>
      </p:sp>
      <p:sp>
        <p:nvSpPr>
          <p:cNvPr id="19" name="Text 4"/>
          <p:cNvSpPr/>
          <p:nvPr/>
        </p:nvSpPr>
        <p:spPr>
          <a:xfrm>
            <a:off x="900013" y="5579785"/>
            <a:ext cx="1069469" cy="315005"/>
          </a:xfrm>
          <a:prstGeom prst="rect">
            <a:avLst/>
          </a:prstGeom>
          <a:noFill/>
          <a:ln/>
        </p:spPr>
        <p:txBody>
          <a:bodyPr wrap="square" lIns="0" tIns="0" rIns="0" bIns="0" rtlCol="0" anchor="t"/>
          <a:lstStyle/>
          <a:p>
            <a:pPr>
              <a:lnSpc>
                <a:spcPts val="2480"/>
              </a:lnSpc>
            </a:pPr>
            <a:r>
              <a:rPr lang="en-US" sz="2200" b="1" dirty="0">
                <a:latin typeface="Montserrat" panose="00000500000000000000" pitchFamily="2" charset="0"/>
                <a:ea typeface="ui-sans-serif" pitchFamily="34" charset="-122"/>
                <a:cs typeface="ui-sans-serif" pitchFamily="34" charset="-120"/>
              </a:rPr>
              <a:t>Valor 1</a:t>
            </a:r>
            <a:endParaRPr lang="en-US" sz="2200" dirty="0">
              <a:latin typeface="Montserrat" panose="00000500000000000000" pitchFamily="2" charset="0"/>
            </a:endParaRPr>
          </a:p>
        </p:txBody>
      </p:sp>
      <p:sp>
        <p:nvSpPr>
          <p:cNvPr id="20" name="Text 5"/>
          <p:cNvSpPr/>
          <p:nvPr/>
        </p:nvSpPr>
        <p:spPr>
          <a:xfrm>
            <a:off x="630009" y="5984791"/>
            <a:ext cx="3060045" cy="270004"/>
          </a:xfrm>
          <a:prstGeom prst="rect">
            <a:avLst/>
          </a:prstGeom>
          <a:noFill/>
          <a:ln/>
        </p:spPr>
        <p:txBody>
          <a:bodyPr wrap="square" lIns="0" tIns="0" rIns="0" bIns="0" rtlCol="0" anchor="t"/>
          <a:lstStyle/>
          <a:p>
            <a:pPr>
              <a:lnSpc>
                <a:spcPts val="2126"/>
              </a:lnSpc>
            </a:pPr>
            <a:r>
              <a:rPr lang="en-US" b="1" dirty="0">
                <a:solidFill>
                  <a:srgbClr val="EF4444"/>
                </a:solidFill>
                <a:latin typeface="Merriweather" panose="00000500000000000000" pitchFamily="2" charset="0"/>
                <a:ea typeface="ui-sans-serif" pitchFamily="34" charset="-122"/>
                <a:cs typeface="ui-sans-serif" pitchFamily="34" charset="-120"/>
              </a:rPr>
              <a:t>Muy Baja/No Considerado</a:t>
            </a:r>
            <a:endParaRPr lang="en-US" dirty="0">
              <a:latin typeface="Merriweather" panose="00000500000000000000" pitchFamily="2" charset="0"/>
            </a:endParaRPr>
          </a:p>
        </p:txBody>
      </p:sp>
      <p:sp>
        <p:nvSpPr>
          <p:cNvPr id="21" name="Text 6"/>
          <p:cNvSpPr/>
          <p:nvPr/>
        </p:nvSpPr>
        <p:spPr>
          <a:xfrm>
            <a:off x="630009" y="6299796"/>
            <a:ext cx="2880043" cy="1589042"/>
          </a:xfrm>
          <a:prstGeom prst="rect">
            <a:avLst/>
          </a:prstGeom>
          <a:noFill/>
          <a:ln/>
        </p:spPr>
        <p:txBody>
          <a:bodyPr wrap="square" lIns="0" tIns="0" rIns="0" bIns="0" rtlCol="0" anchor="t"/>
          <a:lstStyle/>
          <a:p>
            <a:pPr algn="just"/>
            <a:r>
              <a:rPr lang="en-US" sz="2000" dirty="0">
                <a:latin typeface="Merriweather" panose="00000500000000000000" pitchFamily="2" charset="0"/>
                <a:ea typeface="ui-sans-serif" pitchFamily="34" charset="-122"/>
                <a:cs typeface="ui-sans-serif" pitchFamily="34" charset="-120"/>
              </a:rPr>
              <a:t>Proyectos ausentes en consultas posteriores con estado incierto o que dejan problemas graves de operatividad</a:t>
            </a:r>
            <a:endParaRPr lang="en-US" sz="2000" dirty="0">
              <a:latin typeface="Merriweather" panose="00000500000000000000" pitchFamily="2" charset="0"/>
            </a:endParaRPr>
          </a:p>
        </p:txBody>
      </p:sp>
      <p:sp>
        <p:nvSpPr>
          <p:cNvPr id="22" name="Text 7"/>
          <p:cNvSpPr/>
          <p:nvPr/>
        </p:nvSpPr>
        <p:spPr>
          <a:xfrm>
            <a:off x="4320063" y="5579785"/>
            <a:ext cx="1069469" cy="315005"/>
          </a:xfrm>
          <a:prstGeom prst="rect">
            <a:avLst/>
          </a:prstGeom>
          <a:noFill/>
          <a:ln/>
        </p:spPr>
        <p:txBody>
          <a:bodyPr wrap="square" lIns="0" tIns="0" rIns="0" bIns="0" rtlCol="0" anchor="t"/>
          <a:lstStyle/>
          <a:p>
            <a:pPr>
              <a:lnSpc>
                <a:spcPts val="2480"/>
              </a:lnSpc>
            </a:pPr>
            <a:r>
              <a:rPr lang="en-US" sz="2200" b="1" dirty="0">
                <a:latin typeface="Montserrat" panose="00000500000000000000" pitchFamily="2" charset="0"/>
                <a:ea typeface="ui-sans-serif" pitchFamily="34" charset="-122"/>
                <a:cs typeface="ui-sans-serif" pitchFamily="34" charset="-120"/>
              </a:rPr>
              <a:t>Valor 2</a:t>
            </a:r>
            <a:endParaRPr lang="en-US" sz="2200" dirty="0">
              <a:latin typeface="Montserrat" panose="00000500000000000000" pitchFamily="2" charset="0"/>
            </a:endParaRPr>
          </a:p>
        </p:txBody>
      </p:sp>
      <p:sp>
        <p:nvSpPr>
          <p:cNvPr id="23" name="Text 8"/>
          <p:cNvSpPr/>
          <p:nvPr/>
        </p:nvSpPr>
        <p:spPr>
          <a:xfrm>
            <a:off x="4050059" y="5984791"/>
            <a:ext cx="2880043" cy="270004"/>
          </a:xfrm>
          <a:prstGeom prst="rect">
            <a:avLst/>
          </a:prstGeom>
          <a:noFill/>
          <a:ln/>
        </p:spPr>
        <p:txBody>
          <a:bodyPr wrap="square" lIns="0" tIns="0" rIns="0" bIns="0" rtlCol="0" anchor="t"/>
          <a:lstStyle/>
          <a:p>
            <a:pPr>
              <a:lnSpc>
                <a:spcPts val="2126"/>
              </a:lnSpc>
            </a:pPr>
            <a:r>
              <a:rPr lang="en-US" b="1" dirty="0">
                <a:solidFill>
                  <a:srgbClr val="EAB308"/>
                </a:solidFill>
                <a:latin typeface="Merriweather" panose="00000500000000000000" pitchFamily="2" charset="0"/>
                <a:ea typeface="ui-sans-serif" pitchFamily="34" charset="-122"/>
                <a:cs typeface="ui-sans-serif" pitchFamily="34" charset="-120"/>
              </a:rPr>
              <a:t>Baja</a:t>
            </a:r>
            <a:endParaRPr lang="en-US" dirty="0">
              <a:latin typeface="Merriweather" panose="00000500000000000000" pitchFamily="2" charset="0"/>
            </a:endParaRPr>
          </a:p>
        </p:txBody>
      </p:sp>
      <p:sp>
        <p:nvSpPr>
          <p:cNvPr id="24" name="Text 9"/>
          <p:cNvSpPr/>
          <p:nvPr/>
        </p:nvSpPr>
        <p:spPr>
          <a:xfrm>
            <a:off x="4050059" y="6299795"/>
            <a:ext cx="3060045" cy="1499042"/>
          </a:xfrm>
          <a:prstGeom prst="rect">
            <a:avLst/>
          </a:prstGeom>
          <a:noFill/>
          <a:ln/>
        </p:spPr>
        <p:txBody>
          <a:bodyPr wrap="square" lIns="0" tIns="0" rIns="0" bIns="0" rtlCol="0" anchor="t"/>
          <a:lstStyle/>
          <a:p>
            <a:pPr algn="just"/>
            <a:r>
              <a:rPr lang="en-US" sz="2000" dirty="0">
                <a:latin typeface="Merriweather" panose="00000500000000000000" pitchFamily="2" charset="0"/>
                <a:ea typeface="ui-sans-serif" pitchFamily="34" charset="-122"/>
                <a:cs typeface="ui-sans-serif" pitchFamily="34" charset="-120"/>
              </a:rPr>
              <a:t>Proyectos presentes en consultas posteriores pero con poca o ninguna implementación efectiva</a:t>
            </a:r>
            <a:endParaRPr lang="en-US" sz="2000" dirty="0">
              <a:latin typeface="Merriweather" panose="00000500000000000000" pitchFamily="2" charset="0"/>
            </a:endParaRPr>
          </a:p>
        </p:txBody>
      </p:sp>
      <p:sp>
        <p:nvSpPr>
          <p:cNvPr id="25" name="Text 10"/>
          <p:cNvSpPr/>
          <p:nvPr/>
        </p:nvSpPr>
        <p:spPr>
          <a:xfrm>
            <a:off x="7740114" y="5579785"/>
            <a:ext cx="1069469" cy="315005"/>
          </a:xfrm>
          <a:prstGeom prst="rect">
            <a:avLst/>
          </a:prstGeom>
          <a:noFill/>
          <a:ln/>
        </p:spPr>
        <p:txBody>
          <a:bodyPr wrap="square" lIns="0" tIns="0" rIns="0" bIns="0" rtlCol="0" anchor="t"/>
          <a:lstStyle/>
          <a:p>
            <a:pPr>
              <a:lnSpc>
                <a:spcPts val="2480"/>
              </a:lnSpc>
            </a:pPr>
            <a:r>
              <a:rPr lang="en-US" sz="2200" b="1" dirty="0">
                <a:latin typeface="Montserrat" panose="00000500000000000000" pitchFamily="2" charset="0"/>
                <a:ea typeface="ui-sans-serif" pitchFamily="34" charset="-122"/>
                <a:cs typeface="ui-sans-serif" pitchFamily="34" charset="-120"/>
              </a:rPr>
              <a:t>Valor 3</a:t>
            </a:r>
            <a:endParaRPr lang="en-US" sz="2200" dirty="0">
              <a:latin typeface="Montserrat" panose="00000500000000000000" pitchFamily="2" charset="0"/>
            </a:endParaRPr>
          </a:p>
        </p:txBody>
      </p:sp>
      <p:sp>
        <p:nvSpPr>
          <p:cNvPr id="26" name="Text 11"/>
          <p:cNvSpPr/>
          <p:nvPr/>
        </p:nvSpPr>
        <p:spPr>
          <a:xfrm>
            <a:off x="7470110" y="5984791"/>
            <a:ext cx="2880043" cy="270004"/>
          </a:xfrm>
          <a:prstGeom prst="rect">
            <a:avLst/>
          </a:prstGeom>
          <a:noFill/>
          <a:ln/>
        </p:spPr>
        <p:txBody>
          <a:bodyPr wrap="square" lIns="0" tIns="0" rIns="0" bIns="0" rtlCol="0" anchor="t"/>
          <a:lstStyle/>
          <a:p>
            <a:pPr>
              <a:lnSpc>
                <a:spcPts val="2126"/>
              </a:lnSpc>
            </a:pPr>
            <a:r>
              <a:rPr lang="en-US" b="1" dirty="0">
                <a:solidFill>
                  <a:srgbClr val="3B82F6"/>
                </a:solidFill>
                <a:latin typeface="Merriweather" panose="00000500000000000000" pitchFamily="2" charset="0"/>
                <a:ea typeface="ui-sans-serif" pitchFamily="34" charset="-122"/>
                <a:cs typeface="ui-sans-serif" pitchFamily="34" charset="-120"/>
              </a:rPr>
              <a:t>Media</a:t>
            </a:r>
            <a:endParaRPr lang="en-US" dirty="0">
              <a:latin typeface="Merriweather" panose="00000500000000000000" pitchFamily="2" charset="0"/>
            </a:endParaRPr>
          </a:p>
        </p:txBody>
      </p:sp>
      <p:sp>
        <p:nvSpPr>
          <p:cNvPr id="27" name="Text 12"/>
          <p:cNvSpPr/>
          <p:nvPr/>
        </p:nvSpPr>
        <p:spPr>
          <a:xfrm>
            <a:off x="7470111" y="6299796"/>
            <a:ext cx="3060044" cy="1800026"/>
          </a:xfrm>
          <a:prstGeom prst="rect">
            <a:avLst/>
          </a:prstGeom>
          <a:noFill/>
          <a:ln/>
        </p:spPr>
        <p:txBody>
          <a:bodyPr wrap="square" lIns="0" tIns="0" rIns="0" bIns="0" rtlCol="0" anchor="t"/>
          <a:lstStyle/>
          <a:p>
            <a:pPr algn="just"/>
            <a:r>
              <a:rPr lang="en-US" sz="2000" dirty="0">
                <a:latin typeface="Merriweather" panose="00000500000000000000" pitchFamily="2" charset="0"/>
                <a:ea typeface="ui-sans-serif" pitchFamily="34" charset="-122"/>
                <a:cs typeface="ui-sans-serif" pitchFamily="34" charset="-120"/>
              </a:rPr>
              <a:t>Proyectos con implementación parcial o con resultados intermedios en consultas posteriores</a:t>
            </a:r>
            <a:endParaRPr lang="en-US" sz="2000" dirty="0">
              <a:latin typeface="Merriweather" panose="00000500000000000000" pitchFamily="2" charset="0"/>
            </a:endParaRPr>
          </a:p>
        </p:txBody>
      </p:sp>
      <p:sp>
        <p:nvSpPr>
          <p:cNvPr id="28" name="Text 13"/>
          <p:cNvSpPr/>
          <p:nvPr/>
        </p:nvSpPr>
        <p:spPr>
          <a:xfrm>
            <a:off x="11160164" y="5579785"/>
            <a:ext cx="1069469" cy="315005"/>
          </a:xfrm>
          <a:prstGeom prst="rect">
            <a:avLst/>
          </a:prstGeom>
          <a:noFill/>
          <a:ln/>
        </p:spPr>
        <p:txBody>
          <a:bodyPr wrap="square" lIns="0" tIns="0" rIns="0" bIns="0" rtlCol="0" anchor="t"/>
          <a:lstStyle/>
          <a:p>
            <a:pPr>
              <a:lnSpc>
                <a:spcPts val="2480"/>
              </a:lnSpc>
            </a:pPr>
            <a:r>
              <a:rPr lang="en-US" sz="2200" b="1" dirty="0">
                <a:latin typeface="Montserrat" panose="00000500000000000000" pitchFamily="2" charset="0"/>
                <a:ea typeface="ui-sans-serif" pitchFamily="34" charset="-122"/>
                <a:cs typeface="ui-sans-serif" pitchFamily="34" charset="-120"/>
              </a:rPr>
              <a:t>Valor 4</a:t>
            </a:r>
            <a:endParaRPr lang="en-US" sz="2200" dirty="0">
              <a:latin typeface="Montserrat" panose="00000500000000000000" pitchFamily="2" charset="0"/>
            </a:endParaRPr>
          </a:p>
        </p:txBody>
      </p:sp>
      <p:sp>
        <p:nvSpPr>
          <p:cNvPr id="29" name="Text 14"/>
          <p:cNvSpPr/>
          <p:nvPr/>
        </p:nvSpPr>
        <p:spPr>
          <a:xfrm>
            <a:off x="10890160" y="5984791"/>
            <a:ext cx="2880043" cy="270004"/>
          </a:xfrm>
          <a:prstGeom prst="rect">
            <a:avLst/>
          </a:prstGeom>
          <a:noFill/>
          <a:ln/>
        </p:spPr>
        <p:txBody>
          <a:bodyPr wrap="square" lIns="0" tIns="0" rIns="0" bIns="0" rtlCol="0" anchor="t"/>
          <a:lstStyle/>
          <a:p>
            <a:pPr>
              <a:lnSpc>
                <a:spcPts val="2126"/>
              </a:lnSpc>
            </a:pPr>
            <a:r>
              <a:rPr lang="en-US" b="1" dirty="0">
                <a:solidFill>
                  <a:srgbClr val="10B981"/>
                </a:solidFill>
                <a:latin typeface="Merriweather" panose="00000500000000000000" pitchFamily="2" charset="0"/>
                <a:ea typeface="ui-sans-serif" pitchFamily="34" charset="-122"/>
                <a:cs typeface="ui-sans-serif" pitchFamily="34" charset="-120"/>
              </a:rPr>
              <a:t>Alta</a:t>
            </a:r>
            <a:endParaRPr lang="en-US" dirty="0">
              <a:latin typeface="Merriweather" panose="00000500000000000000" pitchFamily="2" charset="0"/>
            </a:endParaRPr>
          </a:p>
        </p:txBody>
      </p:sp>
      <p:sp>
        <p:nvSpPr>
          <p:cNvPr id="30" name="Text 15"/>
          <p:cNvSpPr/>
          <p:nvPr/>
        </p:nvSpPr>
        <p:spPr>
          <a:xfrm>
            <a:off x="10890160" y="6299796"/>
            <a:ext cx="3240048" cy="1800026"/>
          </a:xfrm>
          <a:prstGeom prst="rect">
            <a:avLst/>
          </a:prstGeom>
          <a:noFill/>
          <a:ln/>
        </p:spPr>
        <p:txBody>
          <a:bodyPr wrap="square" lIns="0" tIns="0" rIns="0" bIns="0" rtlCol="0" anchor="t"/>
          <a:lstStyle/>
          <a:p>
            <a:pPr algn="just"/>
            <a:r>
              <a:rPr lang="en-US" sz="2000" dirty="0">
                <a:latin typeface="Merriweather" panose="00000500000000000000" pitchFamily="2" charset="0"/>
                <a:ea typeface="ui-sans-serif" pitchFamily="34" charset="-122"/>
                <a:cs typeface="ui-sans-serif" pitchFamily="34" charset="-120"/>
              </a:rPr>
              <a:t>Proyectos culminados que no se repiten en consultas posteriores, indicando resolución efectiva del nudo crítico</a:t>
            </a:r>
            <a:endParaRPr lang="en-US" sz="2000" dirty="0">
              <a:latin typeface="Merriweather" panose="00000500000000000000" pitchFamily="2" charset="0"/>
            </a:endParaRPr>
          </a:p>
        </p:txBody>
      </p:sp>
      <p:pic>
        <p:nvPicPr>
          <p:cNvPr id="33" name="Imagen 32">
            <a:extLst>
              <a:ext uri="{FF2B5EF4-FFF2-40B4-BE49-F238E27FC236}">
                <a16:creationId xmlns:a16="http://schemas.microsoft.com/office/drawing/2014/main" id="{AB015215-8B41-5405-26F8-82FD8926FF54}"/>
              </a:ext>
            </a:extLst>
          </p:cNvPr>
          <p:cNvPicPr>
            <a:picLocks noChangeAspect="1"/>
          </p:cNvPicPr>
          <p:nvPr/>
        </p:nvPicPr>
        <p:blipFill>
          <a:blip r:embed="rId19"/>
          <a:srcRect l="10992" t="1" r="10992" b="9946"/>
          <a:stretch>
            <a:fillRect/>
          </a:stretch>
        </p:blipFill>
        <p:spPr>
          <a:xfrm>
            <a:off x="3063982" y="4264000"/>
            <a:ext cx="7646175" cy="771392"/>
          </a:xfrm>
          <a:prstGeom prst="rect">
            <a:avLst/>
          </a:prstGeom>
        </p:spPr>
      </p:pic>
      <p:pic>
        <p:nvPicPr>
          <p:cNvPr id="34" name="Image 2" descr="preencoded.png">
            <a:extLst>
              <a:ext uri="{FF2B5EF4-FFF2-40B4-BE49-F238E27FC236}">
                <a16:creationId xmlns:a16="http://schemas.microsoft.com/office/drawing/2014/main" id="{4F760DFE-84C2-9FE9-6DC1-37AFADA7AD7B}"/>
              </a:ext>
            </a:extLst>
          </p:cNvPr>
          <p:cNvPicPr>
            <a:picLocks noChangeAspect="1"/>
          </p:cNvPicPr>
          <p:nvPr/>
        </p:nvPicPr>
        <p:blipFill>
          <a:blip r:embed="rId20"/>
          <a:stretch>
            <a:fillRect/>
          </a:stretch>
        </p:blipFill>
        <p:spPr>
          <a:xfrm>
            <a:off x="0" y="25016"/>
            <a:ext cx="3757555" cy="2632539"/>
          </a:xfrm>
          <a:prstGeom prst="rect">
            <a:avLst/>
          </a:prstGeom>
        </p:spPr>
      </p:pic>
      <p:sp>
        <p:nvSpPr>
          <p:cNvPr id="35" name="Text 0">
            <a:extLst>
              <a:ext uri="{FF2B5EF4-FFF2-40B4-BE49-F238E27FC236}">
                <a16:creationId xmlns:a16="http://schemas.microsoft.com/office/drawing/2014/main" id="{EBB87171-FCA6-4FA5-9438-E4D234DF8EF1}"/>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III</a:t>
            </a:r>
            <a:endParaRPr lang="en-US" sz="1594" dirty="0">
              <a:latin typeface="Montserrat" panose="00000500000000000000" pitchFamily="2" charset="0"/>
            </a:endParaRPr>
          </a:p>
        </p:txBody>
      </p:sp>
      <p:pic>
        <p:nvPicPr>
          <p:cNvPr id="36" name="Image 16" descr="preencoded.png">
            <a:extLst>
              <a:ext uri="{FF2B5EF4-FFF2-40B4-BE49-F238E27FC236}">
                <a16:creationId xmlns:a16="http://schemas.microsoft.com/office/drawing/2014/main" id="{5789B7A9-5893-CD66-6CF7-7E564634074F}"/>
              </a:ext>
            </a:extLst>
          </p:cNvPr>
          <p:cNvPicPr>
            <a:picLocks noChangeAspect="1"/>
          </p:cNvPicPr>
          <p:nvPr/>
        </p:nvPicPr>
        <p:blipFill>
          <a:blip r:embed="rId21"/>
          <a:stretch>
            <a:fillRect/>
          </a:stretch>
        </p:blipFill>
        <p:spPr>
          <a:xfrm>
            <a:off x="60218" y="8604364"/>
            <a:ext cx="258067" cy="258067"/>
          </a:xfrm>
          <a:prstGeom prst="rect">
            <a:avLst/>
          </a:prstGeom>
        </p:spPr>
      </p:pic>
      <p:pic>
        <p:nvPicPr>
          <p:cNvPr id="37" name="Image 17" descr="preencoded.png">
            <a:extLst>
              <a:ext uri="{FF2B5EF4-FFF2-40B4-BE49-F238E27FC236}">
                <a16:creationId xmlns:a16="http://schemas.microsoft.com/office/drawing/2014/main" id="{A9F0CF06-F224-35EA-EF5A-07A16BC279B9}"/>
              </a:ext>
            </a:extLst>
          </p:cNvPr>
          <p:cNvPicPr>
            <a:picLocks noChangeAspect="1"/>
          </p:cNvPicPr>
          <p:nvPr/>
        </p:nvPicPr>
        <p:blipFill>
          <a:blip r:embed="rId22"/>
          <a:stretch>
            <a:fillRect/>
          </a:stretch>
        </p:blipFill>
        <p:spPr>
          <a:xfrm>
            <a:off x="-15996" y="-7645"/>
            <a:ext cx="14400213" cy="90001"/>
          </a:xfrm>
          <a:prstGeom prst="rect">
            <a:avLst/>
          </a:prstGeom>
        </p:spPr>
      </p:pic>
      <p:pic>
        <p:nvPicPr>
          <p:cNvPr id="38" name="Image 18" descr="preencoded.png">
            <a:extLst>
              <a:ext uri="{FF2B5EF4-FFF2-40B4-BE49-F238E27FC236}">
                <a16:creationId xmlns:a16="http://schemas.microsoft.com/office/drawing/2014/main" id="{B6C48C90-6A2F-850D-D592-9CCE132B25FD}"/>
              </a:ext>
            </a:extLst>
          </p:cNvPr>
          <p:cNvPicPr>
            <a:picLocks noChangeAspect="1"/>
          </p:cNvPicPr>
          <p:nvPr/>
        </p:nvPicPr>
        <p:blipFill>
          <a:blip r:embed="rId23"/>
          <a:stretch>
            <a:fillRect/>
          </a:stretch>
        </p:blipFill>
        <p:spPr>
          <a:xfrm>
            <a:off x="-1" y="8902813"/>
            <a:ext cx="14400213" cy="90001"/>
          </a:xfrm>
          <a:prstGeom prst="rect">
            <a:avLst/>
          </a:prstGeom>
        </p:spPr>
      </p:pic>
      <p:sp>
        <p:nvSpPr>
          <p:cNvPr id="39" name="Text 7">
            <a:extLst>
              <a:ext uri="{FF2B5EF4-FFF2-40B4-BE49-F238E27FC236}">
                <a16:creationId xmlns:a16="http://schemas.microsoft.com/office/drawing/2014/main" id="{E61DA7DB-803B-97E3-CEAC-9683F7D6932F}"/>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A. Gutiérrez V.</a:t>
            </a:r>
            <a:endParaRPr lang="en-US" sz="189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50006" y="1439724"/>
            <a:ext cx="2160032" cy="45001"/>
          </a:xfrm>
          <a:prstGeom prst="rect">
            <a:avLst/>
          </a:prstGeom>
        </p:spPr>
      </p:pic>
      <p:pic>
        <p:nvPicPr>
          <p:cNvPr id="4" name="Image 2" descr="preencoded.png"/>
          <p:cNvPicPr>
            <a:picLocks noChangeAspect="1"/>
          </p:cNvPicPr>
          <p:nvPr/>
        </p:nvPicPr>
        <p:blipFill>
          <a:blip r:embed="rId4"/>
          <a:stretch>
            <a:fillRect/>
          </a:stretch>
        </p:blipFill>
        <p:spPr>
          <a:xfrm>
            <a:off x="450006" y="1754729"/>
            <a:ext cx="270004" cy="360005"/>
          </a:xfrm>
          <a:prstGeom prst="rect">
            <a:avLst/>
          </a:prstGeom>
        </p:spPr>
      </p:pic>
      <p:pic>
        <p:nvPicPr>
          <p:cNvPr id="5" name="Image 3" descr="preencoded.png"/>
          <p:cNvPicPr>
            <a:picLocks noChangeAspect="1"/>
          </p:cNvPicPr>
          <p:nvPr/>
        </p:nvPicPr>
        <p:blipFill>
          <a:blip r:embed="rId5">
            <a:extLst>
              <a:ext uri="{BEBA8EAE-BF5A-486C-A8C5-ECC9F3942E4B}">
                <a14:imgProps xmlns:a14="http://schemas.microsoft.com/office/drawing/2010/main">
                  <a14:imgLayer r:embed="rId6">
                    <a14:imgEffect>
                      <a14:backgroundRemoval t="4268" b="89837" l="171" r="89974">
                        <a14:foregroundMark x1="171" y1="4268" x2="171" y2="4268"/>
                      </a14:backgroundRemoval>
                    </a14:imgEffect>
                  </a14:imgLayer>
                </a14:imgProps>
              </a:ext>
            </a:extLst>
          </a:blip>
          <a:stretch>
            <a:fillRect/>
          </a:stretch>
        </p:blipFill>
        <p:spPr>
          <a:xfrm>
            <a:off x="450006" y="2249734"/>
            <a:ext cx="4521600" cy="2359025"/>
          </a:xfrm>
          <a:prstGeom prst="rect">
            <a:avLst/>
          </a:prstGeom>
        </p:spPr>
      </p:pic>
      <p:pic>
        <p:nvPicPr>
          <p:cNvPr id="6" name="Image 4" descr="preencoded.png"/>
          <p:cNvPicPr>
            <a:picLocks noChangeAspect="1"/>
          </p:cNvPicPr>
          <p:nvPr/>
        </p:nvPicPr>
        <p:blipFill>
          <a:blip r:embed="rId7"/>
          <a:stretch>
            <a:fillRect/>
          </a:stretch>
        </p:blipFill>
        <p:spPr>
          <a:xfrm>
            <a:off x="586938" y="3329752"/>
            <a:ext cx="157502" cy="157502"/>
          </a:xfrm>
          <a:prstGeom prst="rect">
            <a:avLst/>
          </a:prstGeom>
        </p:spPr>
      </p:pic>
      <p:pic>
        <p:nvPicPr>
          <p:cNvPr id="7" name="Image 5" descr="preencoded.png"/>
          <p:cNvPicPr>
            <a:picLocks noChangeAspect="1"/>
          </p:cNvPicPr>
          <p:nvPr/>
        </p:nvPicPr>
        <p:blipFill>
          <a:blip r:embed="rId8">
            <a:duotone>
              <a:srgbClr val="ED7D31">
                <a:shade val="45000"/>
                <a:satMod val="135000"/>
              </a:srgbClr>
              <a:prstClr val="white"/>
            </a:duotone>
            <a:extLst>
              <a:ext uri="{BEBA8EAE-BF5A-486C-A8C5-ECC9F3942E4B}">
                <a14:imgProps xmlns:a14="http://schemas.microsoft.com/office/drawing/2010/main">
                  <a14:imgLayer r:embed="rId9">
                    <a14:imgEffect>
                      <a14:backgroundRemoval t="9959" b="89837" l="771" r="89974">
                        <a14:foregroundMark x1="771" y1="15854" x2="771" y2="15854"/>
                      </a14:backgroundRemoval>
                    </a14:imgEffect>
                  </a14:imgLayer>
                </a14:imgProps>
              </a:ext>
            </a:extLst>
          </a:blip>
          <a:stretch>
            <a:fillRect/>
          </a:stretch>
        </p:blipFill>
        <p:spPr>
          <a:xfrm>
            <a:off x="5122234" y="2249735"/>
            <a:ext cx="4521600" cy="1904672"/>
          </a:xfrm>
          <a:prstGeom prst="rect">
            <a:avLst/>
          </a:prstGeom>
        </p:spPr>
      </p:pic>
      <p:pic>
        <p:nvPicPr>
          <p:cNvPr id="8" name="Image 6" descr="preencoded.png"/>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imgEffect>
                  </a14:imgLayer>
                </a14:imgProps>
              </a:ext>
            </a:extLst>
          </a:blip>
          <a:stretch>
            <a:fillRect/>
          </a:stretch>
        </p:blipFill>
        <p:spPr>
          <a:xfrm>
            <a:off x="5190017" y="3172250"/>
            <a:ext cx="157502" cy="157502"/>
          </a:xfrm>
          <a:prstGeom prst="rect">
            <a:avLst/>
          </a:prstGeom>
        </p:spPr>
      </p:pic>
      <p:pic>
        <p:nvPicPr>
          <p:cNvPr id="9" name="Image 7" descr="preencoded.png"/>
          <p:cNvPicPr>
            <a:picLocks noChangeAspect="1"/>
          </p:cNvPicPr>
          <p:nvPr/>
        </p:nvPicPr>
        <p:blipFill>
          <a:blip r:embed="rId12">
            <a:extLst>
              <a:ext uri="{BEBA8EAE-BF5A-486C-A8C5-ECC9F3942E4B}">
                <a14:imgProps xmlns:a14="http://schemas.microsoft.com/office/drawing/2010/main">
                  <a14:imgLayer r:embed="rId13">
                    <a14:imgEffect>
                      <a14:backgroundRemoval t="8130" b="89837" l="686" r="89974">
                        <a14:foregroundMark x1="686" y1="8130" x2="686" y2="8130"/>
                      </a14:backgroundRemoval>
                    </a14:imgEffect>
                  </a14:imgLayer>
                </a14:imgProps>
              </a:ext>
            </a:extLst>
          </a:blip>
          <a:stretch>
            <a:fillRect/>
          </a:stretch>
        </p:blipFill>
        <p:spPr>
          <a:xfrm>
            <a:off x="9864457" y="2272236"/>
            <a:ext cx="4519760" cy="2246521"/>
          </a:xfrm>
          <a:prstGeom prst="rect">
            <a:avLst/>
          </a:prstGeom>
        </p:spPr>
      </p:pic>
      <p:pic>
        <p:nvPicPr>
          <p:cNvPr id="10" name="Image 8" descr="preencoded.png"/>
          <p:cNvPicPr>
            <a:picLocks noChangeAspect="1"/>
          </p:cNvPicPr>
          <p:nvPr/>
        </p:nvPicPr>
        <p:blipFill>
          <a:blip r:embed="rId14"/>
          <a:stretch>
            <a:fillRect/>
          </a:stretch>
        </p:blipFill>
        <p:spPr>
          <a:xfrm>
            <a:off x="9956823" y="3350495"/>
            <a:ext cx="157502" cy="157502"/>
          </a:xfrm>
          <a:prstGeom prst="rect">
            <a:avLst/>
          </a:prstGeom>
        </p:spPr>
      </p:pic>
      <p:pic>
        <p:nvPicPr>
          <p:cNvPr id="11" name="Image 9" descr="preencoded.png"/>
          <p:cNvPicPr>
            <a:picLocks noChangeAspect="1"/>
          </p:cNvPicPr>
          <p:nvPr/>
        </p:nvPicPr>
        <p:blipFill>
          <a:blip r:embed="rId15"/>
          <a:stretch>
            <a:fillRect/>
          </a:stretch>
        </p:blipFill>
        <p:spPr>
          <a:xfrm>
            <a:off x="564437" y="4923764"/>
            <a:ext cx="270004" cy="360005"/>
          </a:xfrm>
          <a:prstGeom prst="rect">
            <a:avLst/>
          </a:prstGeom>
        </p:spPr>
      </p:pic>
      <p:pic>
        <p:nvPicPr>
          <p:cNvPr id="12" name="Image 10" descr="preencoded.png"/>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imgEffect>
                  </a14:imgLayer>
                </a14:imgProps>
              </a:ext>
            </a:extLst>
          </a:blip>
          <a:stretch>
            <a:fillRect/>
          </a:stretch>
        </p:blipFill>
        <p:spPr>
          <a:xfrm>
            <a:off x="155574" y="4818285"/>
            <a:ext cx="14126560" cy="2760518"/>
          </a:xfrm>
          <a:prstGeom prst="rect">
            <a:avLst/>
          </a:prstGeom>
          <a:noFill/>
          <a:ln>
            <a:solidFill>
              <a:srgbClr val="1BA24D"/>
            </a:solidFill>
          </a:ln>
        </p:spPr>
      </p:pic>
      <p:pic>
        <p:nvPicPr>
          <p:cNvPr id="16" name="Image 14" descr="preencoded.png"/>
          <p:cNvPicPr>
            <a:picLocks noChangeAspect="1"/>
          </p:cNvPicPr>
          <p:nvPr/>
        </p:nvPicPr>
        <p:blipFill>
          <a:blip r:embed="rId18">
            <a:extLst>
              <a:ext uri="{BEBA8EAE-BF5A-486C-A8C5-ECC9F3942E4B}">
                <a14:imgProps xmlns:a14="http://schemas.microsoft.com/office/drawing/2010/main">
                  <a14:imgLayer r:embed="rId19">
                    <a14:imgEffect>
                      <a14:backgroundRemoval t="9722" b="89815" l="167" r="90000">
                        <a14:foregroundMark x1="167" y1="22222" x2="167" y2="22222"/>
                      </a14:backgroundRemoval>
                    </a14:imgEffect>
                  </a14:imgLayer>
                </a14:imgProps>
              </a:ext>
            </a:extLst>
          </a:blip>
          <a:stretch>
            <a:fillRect/>
          </a:stretch>
        </p:blipFill>
        <p:spPr>
          <a:xfrm>
            <a:off x="3939025" y="7726748"/>
            <a:ext cx="10073313" cy="830001"/>
          </a:xfrm>
          <a:prstGeom prst="rect">
            <a:avLst/>
          </a:prstGeom>
        </p:spPr>
      </p:pic>
      <p:pic>
        <p:nvPicPr>
          <p:cNvPr id="17" name="Image 15" descr="preencoded.png"/>
          <p:cNvPicPr>
            <a:picLocks noChangeAspect="1"/>
          </p:cNvPicPr>
          <p:nvPr/>
        </p:nvPicPr>
        <p:blipFill>
          <a:blip r:embed="rId20"/>
          <a:stretch>
            <a:fillRect/>
          </a:stretch>
        </p:blipFill>
        <p:spPr>
          <a:xfrm>
            <a:off x="4008417" y="7847973"/>
            <a:ext cx="135002" cy="180003"/>
          </a:xfrm>
          <a:prstGeom prst="rect">
            <a:avLst/>
          </a:prstGeom>
        </p:spPr>
      </p:pic>
      <p:sp>
        <p:nvSpPr>
          <p:cNvPr id="18" name="Text 0"/>
          <p:cNvSpPr/>
          <p:nvPr/>
        </p:nvSpPr>
        <p:spPr>
          <a:xfrm>
            <a:off x="450007" y="899716"/>
            <a:ext cx="13794632" cy="450007"/>
          </a:xfrm>
          <a:prstGeom prst="rect">
            <a:avLst/>
          </a:prstGeom>
          <a:noFill/>
          <a:ln/>
        </p:spPr>
        <p:txBody>
          <a:bodyPr wrap="square" lIns="0" tIns="0" rIns="0" bIns="0" rtlCol="0" anchor="t"/>
          <a:lstStyle/>
          <a:p>
            <a:pPr>
              <a:lnSpc>
                <a:spcPts val="3543"/>
              </a:lnSpc>
            </a:pPr>
            <a:r>
              <a:rPr lang="es-VE" sz="3189" b="1" dirty="0">
                <a:latin typeface="Montserrat" panose="00000500000000000000" pitchFamily="2" charset="0"/>
                <a:ea typeface="ui-sans-serif" pitchFamily="34" charset="-122"/>
                <a:cs typeface="ui-sans-serif" pitchFamily="34" charset="-120"/>
              </a:rPr>
              <a:t>Variables y su operacionalización (II) </a:t>
            </a:r>
            <a:endParaRPr lang="es-VE" sz="3189" dirty="0">
              <a:latin typeface="Montserrat" panose="00000500000000000000" pitchFamily="2" charset="0"/>
            </a:endParaRPr>
          </a:p>
        </p:txBody>
      </p:sp>
      <p:sp>
        <p:nvSpPr>
          <p:cNvPr id="19" name="Text 1"/>
          <p:cNvSpPr/>
          <p:nvPr/>
        </p:nvSpPr>
        <p:spPr>
          <a:xfrm>
            <a:off x="855013" y="1754729"/>
            <a:ext cx="4655671" cy="360005"/>
          </a:xfrm>
          <a:prstGeom prst="rect">
            <a:avLst/>
          </a:prstGeom>
          <a:noFill/>
          <a:ln/>
        </p:spPr>
        <p:txBody>
          <a:bodyPr wrap="square" lIns="0" tIns="0" rIns="0" bIns="0" rtlCol="0" anchor="t"/>
          <a:lstStyle/>
          <a:p>
            <a:pPr>
              <a:lnSpc>
                <a:spcPts val="2835"/>
              </a:lnSpc>
            </a:pPr>
            <a:r>
              <a:rPr lang="en-US" sz="2200" b="1" dirty="0">
                <a:latin typeface="Montserrat" panose="00000500000000000000" pitchFamily="2" charset="0"/>
                <a:ea typeface="ui-sans-serif" pitchFamily="34" charset="-122"/>
                <a:cs typeface="ui-sans-serif" pitchFamily="34" charset="-120"/>
              </a:rPr>
              <a:t>Variables Independientes</a:t>
            </a:r>
            <a:endParaRPr lang="en-US" sz="2200" dirty="0">
              <a:latin typeface="Montserrat" panose="00000500000000000000" pitchFamily="2" charset="0"/>
            </a:endParaRPr>
          </a:p>
        </p:txBody>
      </p:sp>
      <p:sp>
        <p:nvSpPr>
          <p:cNvPr id="20" name="Text 2"/>
          <p:cNvSpPr/>
          <p:nvPr/>
        </p:nvSpPr>
        <p:spPr>
          <a:xfrm>
            <a:off x="630009" y="2429738"/>
            <a:ext cx="4824000" cy="315005"/>
          </a:xfrm>
          <a:prstGeom prst="rect">
            <a:avLst/>
          </a:prstGeom>
          <a:noFill/>
          <a:ln/>
        </p:spPr>
        <p:txBody>
          <a:bodyPr wrap="square" lIns="0" tIns="0" rIns="0" bIns="0" rtlCol="0" anchor="t"/>
          <a:lstStyle/>
          <a:p>
            <a:pPr>
              <a:lnSpc>
                <a:spcPts val="2480"/>
              </a:lnSpc>
            </a:pPr>
            <a:r>
              <a:rPr lang="en-US" sz="2000" b="1" dirty="0">
                <a:latin typeface="Montserrat" panose="00000500000000000000" pitchFamily="2" charset="0"/>
                <a:ea typeface="ui-sans-serif" pitchFamily="34" charset="-122"/>
                <a:cs typeface="ui-sans-serif" pitchFamily="34" charset="-120"/>
              </a:rPr>
              <a:t>CLASIFICACION_DEL_PROYECTO</a:t>
            </a:r>
            <a:endParaRPr lang="en-US" sz="2000" dirty="0">
              <a:latin typeface="Montserrat" panose="00000500000000000000" pitchFamily="2" charset="0"/>
            </a:endParaRPr>
          </a:p>
        </p:txBody>
      </p:sp>
      <p:sp>
        <p:nvSpPr>
          <p:cNvPr id="21" name="Text 3"/>
          <p:cNvSpPr/>
          <p:nvPr/>
        </p:nvSpPr>
        <p:spPr>
          <a:xfrm>
            <a:off x="630008" y="2834744"/>
            <a:ext cx="4341597" cy="288575"/>
          </a:xfrm>
          <a:prstGeom prst="rect">
            <a:avLst/>
          </a:prstGeom>
          <a:noFill/>
          <a:ln/>
        </p:spPr>
        <p:txBody>
          <a:bodyPr wrap="square" lIns="0" tIns="0" rIns="0" bIns="0" rtlCol="0" anchor="t"/>
          <a:lstStyle/>
          <a:p>
            <a:r>
              <a:rPr lang="en-US" sz="2000" b="1" dirty="0">
                <a:latin typeface="Merriweather" panose="00000500000000000000" pitchFamily="2" charset="0"/>
                <a:ea typeface="ui-sans-serif" pitchFamily="34" charset="-122"/>
                <a:cs typeface="ui-sans-serif" pitchFamily="34" charset="-120"/>
              </a:rPr>
              <a:t>Escala:</a:t>
            </a:r>
            <a:r>
              <a:rPr lang="en-US" sz="2000" dirty="0">
                <a:latin typeface="Merriweather" panose="00000500000000000000" pitchFamily="2" charset="0"/>
                <a:ea typeface="ui-sans-serif" pitchFamily="34" charset="-122"/>
                <a:cs typeface="ui-sans-serif" pitchFamily="34" charset="-120"/>
              </a:rPr>
              <a:t> Ordinal (1 a 4)</a:t>
            </a:r>
            <a:endParaRPr lang="en-US" sz="2000" dirty="0">
              <a:latin typeface="Merriweather" panose="00000500000000000000" pitchFamily="2" charset="0"/>
            </a:endParaRPr>
          </a:p>
        </p:txBody>
      </p:sp>
      <p:sp>
        <p:nvSpPr>
          <p:cNvPr id="22" name="Text 4"/>
          <p:cNvSpPr/>
          <p:nvPr/>
        </p:nvSpPr>
        <p:spPr>
          <a:xfrm>
            <a:off x="776621" y="3222415"/>
            <a:ext cx="3961988" cy="675009"/>
          </a:xfrm>
          <a:prstGeom prst="rect">
            <a:avLst/>
          </a:prstGeom>
          <a:noFill/>
          <a:ln/>
        </p:spPr>
        <p:txBody>
          <a:bodyPr wrap="square" lIns="0" tIns="0" rIns="0" bIns="0" rtlCol="0" anchor="t"/>
          <a:lstStyle/>
          <a:p>
            <a:r>
              <a:rPr lang="en-US" sz="2000" dirty="0">
                <a:latin typeface="Merriweather" panose="00000500000000000000" pitchFamily="2" charset="0"/>
                <a:ea typeface="ui-sans-serif" pitchFamily="34" charset="-122"/>
                <a:cs typeface="ui-sans-serif" pitchFamily="34" charset="-120"/>
              </a:rPr>
              <a:t> 1: "No Considerado", 4: "Culminado"</a:t>
            </a:r>
            <a:endParaRPr lang="en-US" sz="2000" dirty="0">
              <a:latin typeface="Merriweather" panose="00000500000000000000" pitchFamily="2" charset="0"/>
            </a:endParaRPr>
          </a:p>
        </p:txBody>
      </p:sp>
      <p:sp>
        <p:nvSpPr>
          <p:cNvPr id="23" name="Text 5"/>
          <p:cNvSpPr/>
          <p:nvPr/>
        </p:nvSpPr>
        <p:spPr>
          <a:xfrm>
            <a:off x="585008" y="3933332"/>
            <a:ext cx="4664530" cy="442150"/>
          </a:xfrm>
          <a:prstGeom prst="rect">
            <a:avLst/>
          </a:prstGeom>
          <a:noFill/>
          <a:ln/>
        </p:spPr>
        <p:txBody>
          <a:bodyPr wrap="square" lIns="0" tIns="0" rIns="0" bIns="0" rtlCol="0" anchor="t"/>
          <a:lstStyle/>
          <a:p>
            <a:r>
              <a:rPr lang="en-US" sz="2000" b="1" dirty="0">
                <a:latin typeface="Merriweather" panose="00000500000000000000" pitchFamily="2" charset="0"/>
                <a:ea typeface="ui-sans-serif" pitchFamily="34" charset="-122"/>
                <a:cs typeface="ui-sans-serif" pitchFamily="34" charset="-120"/>
              </a:rPr>
              <a:t>%</a:t>
            </a:r>
            <a:r>
              <a:rPr lang="en-US" sz="2000" dirty="0">
                <a:latin typeface="Merriweather" panose="00000500000000000000" pitchFamily="2" charset="0"/>
                <a:ea typeface="ui-sans-serif" pitchFamily="34" charset="-122"/>
                <a:cs typeface="ui-sans-serif" pitchFamily="34" charset="-120"/>
              </a:rPr>
              <a:t> "No Considerado": 48,99%</a:t>
            </a:r>
            <a:endParaRPr lang="en-US" sz="2000" dirty="0">
              <a:latin typeface="Merriweather" panose="00000500000000000000" pitchFamily="2" charset="0"/>
            </a:endParaRPr>
          </a:p>
        </p:txBody>
      </p:sp>
      <p:sp>
        <p:nvSpPr>
          <p:cNvPr id="24" name="Text 6"/>
          <p:cNvSpPr/>
          <p:nvPr/>
        </p:nvSpPr>
        <p:spPr>
          <a:xfrm>
            <a:off x="5302237" y="2429738"/>
            <a:ext cx="4020000" cy="315005"/>
          </a:xfrm>
          <a:prstGeom prst="rect">
            <a:avLst/>
          </a:prstGeom>
          <a:noFill/>
          <a:ln/>
        </p:spPr>
        <p:txBody>
          <a:bodyPr wrap="square" lIns="0" tIns="0" rIns="0" bIns="0" rtlCol="0" anchor="t"/>
          <a:lstStyle/>
          <a:p>
            <a:pPr algn="ctr">
              <a:lnSpc>
                <a:spcPts val="2480"/>
              </a:lnSpc>
            </a:pPr>
            <a:r>
              <a:rPr lang="en-US" sz="2000" b="1" dirty="0">
                <a:latin typeface="Montserrat" panose="00000500000000000000" pitchFamily="2" charset="0"/>
                <a:ea typeface="ui-sans-serif" pitchFamily="34" charset="-122"/>
                <a:cs typeface="ui-sans-serif" pitchFamily="34" charset="-120"/>
              </a:rPr>
              <a:t>PLAZOS</a:t>
            </a:r>
            <a:endParaRPr lang="en-US" sz="2000" dirty="0">
              <a:latin typeface="Montserrat" panose="00000500000000000000" pitchFamily="2" charset="0"/>
            </a:endParaRPr>
          </a:p>
        </p:txBody>
      </p:sp>
      <p:sp>
        <p:nvSpPr>
          <p:cNvPr id="25" name="Text 7"/>
          <p:cNvSpPr/>
          <p:nvPr/>
        </p:nvSpPr>
        <p:spPr>
          <a:xfrm>
            <a:off x="5268768" y="2974912"/>
            <a:ext cx="4265139" cy="247503"/>
          </a:xfrm>
          <a:prstGeom prst="rect">
            <a:avLst/>
          </a:prstGeom>
          <a:noFill/>
          <a:ln/>
        </p:spPr>
        <p:txBody>
          <a:bodyPr wrap="square" lIns="0" tIns="0" rIns="0" bIns="0" rtlCol="0" anchor="t"/>
          <a:lstStyle/>
          <a:p>
            <a:pPr>
              <a:lnSpc>
                <a:spcPts val="1772"/>
              </a:lnSpc>
            </a:pPr>
            <a:r>
              <a:rPr lang="en-US" sz="2400" b="1" dirty="0">
                <a:latin typeface="Merriweather" panose="00000500000000000000" pitchFamily="2" charset="0"/>
                <a:ea typeface="ui-sans-serif" pitchFamily="34" charset="-122"/>
                <a:cs typeface="ui-sans-serif" pitchFamily="34" charset="-120"/>
              </a:rPr>
              <a:t>Escala:</a:t>
            </a:r>
            <a:r>
              <a:rPr lang="en-US" sz="2400" dirty="0">
                <a:latin typeface="Merriweather" panose="00000500000000000000" pitchFamily="2" charset="0"/>
                <a:ea typeface="ui-sans-serif" pitchFamily="34" charset="-122"/>
                <a:cs typeface="ui-sans-serif" pitchFamily="34" charset="-120"/>
              </a:rPr>
              <a:t> Ordinal (0 a 2)</a:t>
            </a:r>
            <a:endParaRPr lang="en-US" sz="2400" dirty="0">
              <a:latin typeface="Merriweather" panose="00000500000000000000" pitchFamily="2" charset="0"/>
            </a:endParaRPr>
          </a:p>
        </p:txBody>
      </p:sp>
      <p:sp>
        <p:nvSpPr>
          <p:cNvPr id="26" name="Text 8"/>
          <p:cNvSpPr/>
          <p:nvPr/>
        </p:nvSpPr>
        <p:spPr>
          <a:xfrm>
            <a:off x="5174109" y="3349744"/>
            <a:ext cx="4265139" cy="432304"/>
          </a:xfrm>
          <a:prstGeom prst="rect">
            <a:avLst/>
          </a:prstGeom>
          <a:noFill/>
          <a:ln/>
        </p:spPr>
        <p:txBody>
          <a:bodyPr wrap="square" lIns="0" tIns="0" rIns="0" bIns="0" rtlCol="0" anchor="t"/>
          <a:lstStyle/>
          <a:p>
            <a:pPr>
              <a:lnSpc>
                <a:spcPts val="1772"/>
              </a:lnSpc>
            </a:pPr>
            <a:r>
              <a:rPr lang="en-US" sz="2000" dirty="0">
                <a:latin typeface="Merriweather" panose="00000500000000000000" pitchFamily="2" charset="0"/>
                <a:ea typeface="ui-sans-serif" pitchFamily="34" charset="-122"/>
                <a:cs typeface="ui-sans-serif" pitchFamily="34" charset="-120"/>
              </a:rPr>
              <a:t> 1: Corto plazo, 2: Mediano plazo</a:t>
            </a:r>
            <a:endParaRPr lang="en-US" sz="2000" dirty="0">
              <a:latin typeface="Merriweather" panose="00000500000000000000" pitchFamily="2" charset="0"/>
            </a:endParaRPr>
          </a:p>
        </p:txBody>
      </p:sp>
      <p:sp>
        <p:nvSpPr>
          <p:cNvPr id="27" name="Text 9"/>
          <p:cNvSpPr/>
          <p:nvPr/>
        </p:nvSpPr>
        <p:spPr>
          <a:xfrm>
            <a:off x="5174109" y="3821043"/>
            <a:ext cx="4377359" cy="512485"/>
          </a:xfrm>
          <a:prstGeom prst="rect">
            <a:avLst/>
          </a:prstGeom>
          <a:noFill/>
          <a:ln/>
        </p:spPr>
        <p:txBody>
          <a:bodyPr wrap="square" lIns="0" tIns="0" rIns="0" bIns="0" rtlCol="0" anchor="t"/>
          <a:lstStyle/>
          <a:p>
            <a:r>
              <a:rPr lang="en-US" sz="2000" b="1" dirty="0">
                <a:latin typeface="Merriweather" panose="00000500000000000000" pitchFamily="2" charset="0"/>
                <a:ea typeface="ui-sans-serif" pitchFamily="34" charset="-122"/>
                <a:cs typeface="ui-sans-serif" pitchFamily="34" charset="-120"/>
              </a:rPr>
              <a:t>Descripción:</a:t>
            </a:r>
            <a:r>
              <a:rPr lang="en-US" sz="2000" dirty="0">
                <a:latin typeface="Merriweather" panose="00000500000000000000" pitchFamily="2" charset="0"/>
                <a:ea typeface="ui-sans-serif" pitchFamily="34" charset="-122"/>
                <a:cs typeface="ui-sans-serif" pitchFamily="34" charset="-120"/>
              </a:rPr>
              <a:t> Horizonte temporal planificado</a:t>
            </a:r>
            <a:endParaRPr lang="en-US" sz="2000" dirty="0">
              <a:latin typeface="Merriweather" panose="00000500000000000000" pitchFamily="2" charset="0"/>
            </a:endParaRPr>
          </a:p>
        </p:txBody>
      </p:sp>
      <p:sp>
        <p:nvSpPr>
          <p:cNvPr id="28" name="Text 10"/>
          <p:cNvSpPr/>
          <p:nvPr/>
        </p:nvSpPr>
        <p:spPr>
          <a:xfrm>
            <a:off x="10114249" y="2393288"/>
            <a:ext cx="4020176" cy="315005"/>
          </a:xfrm>
          <a:prstGeom prst="rect">
            <a:avLst/>
          </a:prstGeom>
          <a:noFill/>
          <a:ln/>
        </p:spPr>
        <p:txBody>
          <a:bodyPr wrap="square" lIns="0" tIns="0" rIns="0" bIns="0" rtlCol="0" anchor="t"/>
          <a:lstStyle/>
          <a:p>
            <a:pPr algn="ctr">
              <a:lnSpc>
                <a:spcPts val="2480"/>
              </a:lnSpc>
            </a:pPr>
            <a:r>
              <a:rPr lang="en-US" sz="2000" b="1" dirty="0">
                <a:latin typeface="Montserrat" panose="00000500000000000000" pitchFamily="2" charset="0"/>
                <a:ea typeface="ui-sans-serif" pitchFamily="34" charset="-122"/>
                <a:cs typeface="ui-sans-serif" pitchFamily="34" charset="-120"/>
              </a:rPr>
              <a:t>N_PROYECTOS</a:t>
            </a:r>
            <a:endParaRPr lang="en-US" sz="2000" dirty="0">
              <a:latin typeface="Montserrat" panose="00000500000000000000" pitchFamily="2" charset="0"/>
            </a:endParaRPr>
          </a:p>
        </p:txBody>
      </p:sp>
      <p:sp>
        <p:nvSpPr>
          <p:cNvPr id="29" name="Text 11"/>
          <p:cNvSpPr/>
          <p:nvPr/>
        </p:nvSpPr>
        <p:spPr>
          <a:xfrm>
            <a:off x="10066959" y="2913888"/>
            <a:ext cx="4177679" cy="225003"/>
          </a:xfrm>
          <a:prstGeom prst="rect">
            <a:avLst/>
          </a:prstGeom>
          <a:noFill/>
          <a:ln/>
        </p:spPr>
        <p:txBody>
          <a:bodyPr wrap="square" lIns="0" tIns="0" rIns="0" bIns="0" rtlCol="0" anchor="t"/>
          <a:lstStyle/>
          <a:p>
            <a:pPr>
              <a:lnSpc>
                <a:spcPts val="1772"/>
              </a:lnSpc>
            </a:pPr>
            <a:r>
              <a:rPr lang="en-US" sz="2000" b="1" dirty="0">
                <a:latin typeface="Merriweather" panose="00000500000000000000" pitchFamily="2" charset="0"/>
                <a:ea typeface="ui-sans-serif" pitchFamily="34" charset="-122"/>
                <a:cs typeface="ui-sans-serif" pitchFamily="34" charset="-120"/>
              </a:rPr>
              <a:t>Escala:</a:t>
            </a:r>
            <a:r>
              <a:rPr lang="en-US" sz="2000" dirty="0">
                <a:latin typeface="Merriweather" panose="00000500000000000000" pitchFamily="2" charset="0"/>
                <a:ea typeface="ui-sans-serif" pitchFamily="34" charset="-122"/>
                <a:cs typeface="ui-sans-serif" pitchFamily="34" charset="-120"/>
              </a:rPr>
              <a:t> Ordinal</a:t>
            </a:r>
            <a:endParaRPr lang="en-US" sz="2000" dirty="0">
              <a:latin typeface="Merriweather" panose="00000500000000000000" pitchFamily="2" charset="0"/>
            </a:endParaRPr>
          </a:p>
        </p:txBody>
      </p:sp>
      <p:sp>
        <p:nvSpPr>
          <p:cNvPr id="30" name="Text 12"/>
          <p:cNvSpPr/>
          <p:nvPr/>
        </p:nvSpPr>
        <p:spPr>
          <a:xfrm>
            <a:off x="10114325" y="3243466"/>
            <a:ext cx="4167809" cy="648794"/>
          </a:xfrm>
          <a:prstGeom prst="rect">
            <a:avLst/>
          </a:prstGeom>
          <a:noFill/>
          <a:ln/>
        </p:spPr>
        <p:txBody>
          <a:bodyPr wrap="square" lIns="0" tIns="0" rIns="0" bIns="0" rtlCol="0" anchor="t"/>
          <a:lstStyle/>
          <a:p>
            <a:r>
              <a:rPr lang="en-US" sz="2000" dirty="0">
                <a:latin typeface="Merriweather" panose="00000500000000000000" pitchFamily="2" charset="0"/>
                <a:ea typeface="ui-sans-serif" pitchFamily="34" charset="-122"/>
                <a:cs typeface="ui-sans-serif" pitchFamily="34" charset="-120"/>
              </a:rPr>
              <a:t> Cuantifica la intensidad de participación comunitaria</a:t>
            </a:r>
            <a:endParaRPr lang="en-US" sz="2000" dirty="0">
              <a:latin typeface="Merriweather" panose="00000500000000000000" pitchFamily="2" charset="0"/>
            </a:endParaRPr>
          </a:p>
        </p:txBody>
      </p:sp>
      <p:sp>
        <p:nvSpPr>
          <p:cNvPr id="31" name="Text 13"/>
          <p:cNvSpPr/>
          <p:nvPr/>
        </p:nvSpPr>
        <p:spPr>
          <a:xfrm>
            <a:off x="10050964" y="3938018"/>
            <a:ext cx="4333253" cy="247504"/>
          </a:xfrm>
          <a:prstGeom prst="rect">
            <a:avLst/>
          </a:prstGeom>
          <a:noFill/>
          <a:ln/>
        </p:spPr>
        <p:txBody>
          <a:bodyPr wrap="square" lIns="0" tIns="0" rIns="0" bIns="0" rtlCol="0" anchor="t"/>
          <a:lstStyle/>
          <a:p>
            <a:r>
              <a:rPr lang="en-US" sz="2000" b="1" dirty="0">
                <a:latin typeface="Merriweather" panose="00000500000000000000" pitchFamily="2" charset="0"/>
                <a:ea typeface="ui-sans-serif" pitchFamily="34" charset="-122"/>
                <a:cs typeface="ui-sans-serif" pitchFamily="34" charset="-120"/>
              </a:rPr>
              <a:t>Medida:</a:t>
            </a:r>
            <a:r>
              <a:rPr lang="en-US" sz="2000" dirty="0">
                <a:latin typeface="Merriweather" panose="00000500000000000000" pitchFamily="2" charset="0"/>
                <a:ea typeface="ui-sans-serif" pitchFamily="34" charset="-122"/>
                <a:cs typeface="ui-sans-serif" pitchFamily="34" charset="-120"/>
              </a:rPr>
              <a:t> Conteo de consultas</a:t>
            </a:r>
            <a:endParaRPr lang="en-US" sz="2000" dirty="0">
              <a:latin typeface="Merriweather" panose="00000500000000000000" pitchFamily="2" charset="0"/>
            </a:endParaRPr>
          </a:p>
        </p:txBody>
      </p:sp>
      <p:sp>
        <p:nvSpPr>
          <p:cNvPr id="32" name="Text 14"/>
          <p:cNvSpPr/>
          <p:nvPr/>
        </p:nvSpPr>
        <p:spPr>
          <a:xfrm>
            <a:off x="969443" y="4853755"/>
            <a:ext cx="4664530" cy="360005"/>
          </a:xfrm>
          <a:prstGeom prst="rect">
            <a:avLst/>
          </a:prstGeom>
          <a:noFill/>
          <a:ln/>
        </p:spPr>
        <p:txBody>
          <a:bodyPr wrap="square" lIns="0" tIns="0" rIns="0" bIns="0" rtlCol="0" anchor="t"/>
          <a:lstStyle/>
          <a:p>
            <a:pPr>
              <a:lnSpc>
                <a:spcPts val="2835"/>
              </a:lnSpc>
            </a:pPr>
            <a:r>
              <a:rPr lang="en-US" sz="2200" b="1" dirty="0">
                <a:latin typeface="Montserrat" panose="00000500000000000000" pitchFamily="2" charset="0"/>
                <a:ea typeface="ui-sans-serif" pitchFamily="34" charset="-122"/>
                <a:cs typeface="ui-sans-serif" pitchFamily="34" charset="-120"/>
              </a:rPr>
              <a:t>Variables de Clasificación</a:t>
            </a:r>
            <a:endParaRPr lang="en-US" sz="2200" dirty="0">
              <a:latin typeface="Montserrat" panose="00000500000000000000" pitchFamily="2" charset="0"/>
            </a:endParaRPr>
          </a:p>
        </p:txBody>
      </p:sp>
      <p:sp>
        <p:nvSpPr>
          <p:cNvPr id="33" name="Text 15"/>
          <p:cNvSpPr/>
          <p:nvPr/>
        </p:nvSpPr>
        <p:spPr>
          <a:xfrm>
            <a:off x="1593222" y="5420092"/>
            <a:ext cx="1334519" cy="307801"/>
          </a:xfrm>
          <a:prstGeom prst="rect">
            <a:avLst/>
          </a:prstGeom>
          <a:noFill/>
          <a:ln/>
        </p:spPr>
        <p:txBody>
          <a:bodyPr wrap="square" lIns="0" tIns="0" rIns="0" bIns="0" rtlCol="0" anchor="t"/>
          <a:lstStyle/>
          <a:p>
            <a:pPr>
              <a:lnSpc>
                <a:spcPts val="2126"/>
              </a:lnSpc>
            </a:pPr>
            <a:r>
              <a:rPr lang="en-US" sz="2000" b="1" dirty="0">
                <a:latin typeface="Montserrat" panose="00000500000000000000" pitchFamily="2" charset="0"/>
                <a:ea typeface="ui-sans-serif" pitchFamily="34" charset="-122"/>
                <a:cs typeface="ui-sans-serif" pitchFamily="34" charset="-120"/>
              </a:rPr>
              <a:t>Variable</a:t>
            </a:r>
            <a:endParaRPr lang="en-US" sz="2000" dirty="0">
              <a:latin typeface="Montserrat" panose="00000500000000000000" pitchFamily="2" charset="0"/>
            </a:endParaRPr>
          </a:p>
        </p:txBody>
      </p:sp>
      <p:sp>
        <p:nvSpPr>
          <p:cNvPr id="34" name="Text 16"/>
          <p:cNvSpPr/>
          <p:nvPr/>
        </p:nvSpPr>
        <p:spPr>
          <a:xfrm>
            <a:off x="5249538" y="5406717"/>
            <a:ext cx="1334519" cy="327062"/>
          </a:xfrm>
          <a:prstGeom prst="rect">
            <a:avLst/>
          </a:prstGeom>
          <a:noFill/>
          <a:ln/>
        </p:spPr>
        <p:txBody>
          <a:bodyPr wrap="square" lIns="0" tIns="0" rIns="0" bIns="0" rtlCol="0" anchor="t"/>
          <a:lstStyle/>
          <a:p>
            <a:pPr algn="ctr">
              <a:lnSpc>
                <a:spcPts val="2126"/>
              </a:lnSpc>
            </a:pPr>
            <a:r>
              <a:rPr lang="en-US" sz="2000" b="1" dirty="0">
                <a:latin typeface="Montserrat" panose="00000500000000000000" pitchFamily="2" charset="0"/>
                <a:ea typeface="ui-sans-serif" pitchFamily="34" charset="-122"/>
                <a:cs typeface="ui-sans-serif" pitchFamily="34" charset="-120"/>
              </a:rPr>
              <a:t>Escala</a:t>
            </a:r>
            <a:endParaRPr lang="en-US" sz="2000" dirty="0">
              <a:latin typeface="Montserrat" panose="00000500000000000000" pitchFamily="2" charset="0"/>
            </a:endParaRPr>
          </a:p>
        </p:txBody>
      </p:sp>
      <p:sp>
        <p:nvSpPr>
          <p:cNvPr id="35" name="Text 17"/>
          <p:cNvSpPr/>
          <p:nvPr/>
        </p:nvSpPr>
        <p:spPr>
          <a:xfrm>
            <a:off x="7401337" y="5407120"/>
            <a:ext cx="6750100" cy="327062"/>
          </a:xfrm>
          <a:prstGeom prst="rect">
            <a:avLst/>
          </a:prstGeom>
          <a:noFill/>
          <a:ln/>
        </p:spPr>
        <p:txBody>
          <a:bodyPr wrap="square" lIns="0" tIns="0" rIns="0" bIns="0" rtlCol="0" anchor="t"/>
          <a:lstStyle/>
          <a:p>
            <a:pPr algn="ctr">
              <a:lnSpc>
                <a:spcPts val="2126"/>
              </a:lnSpc>
            </a:pPr>
            <a:r>
              <a:rPr lang="es-VE" sz="2000" b="1" noProof="0" dirty="0">
                <a:latin typeface="Montserrat" panose="00000500000000000000" pitchFamily="2" charset="0"/>
                <a:ea typeface="ui-sans-serif" pitchFamily="34" charset="-122"/>
                <a:cs typeface="ui-sans-serif" pitchFamily="34" charset="-120"/>
              </a:rPr>
              <a:t>Definición</a:t>
            </a:r>
            <a:r>
              <a:rPr lang="es-VE" sz="2000" b="1" noProof="0" dirty="0">
                <a:solidFill>
                  <a:srgbClr val="FFFFFF"/>
                </a:solidFill>
                <a:latin typeface="Montserrat" panose="00000500000000000000" pitchFamily="2" charset="0"/>
                <a:ea typeface="ui-sans-serif" pitchFamily="34" charset="-122"/>
                <a:cs typeface="ui-sans-serif" pitchFamily="34" charset="-120"/>
              </a:rPr>
              <a:t> </a:t>
            </a:r>
            <a:r>
              <a:rPr lang="es-VE" sz="2000" b="1" noProof="0" dirty="0">
                <a:latin typeface="Montserrat" panose="00000500000000000000" pitchFamily="2" charset="0"/>
                <a:ea typeface="ui-sans-serif" pitchFamily="34" charset="-122"/>
                <a:cs typeface="ui-sans-serif" pitchFamily="34" charset="-120"/>
              </a:rPr>
              <a:t>Operacional</a:t>
            </a:r>
            <a:endParaRPr lang="es-VE" sz="2000" noProof="0" dirty="0">
              <a:latin typeface="Montserrat" panose="00000500000000000000" pitchFamily="2" charset="0"/>
            </a:endParaRPr>
          </a:p>
        </p:txBody>
      </p:sp>
      <p:sp>
        <p:nvSpPr>
          <p:cNvPr id="36" name="Text 18"/>
          <p:cNvSpPr/>
          <p:nvPr/>
        </p:nvSpPr>
        <p:spPr>
          <a:xfrm>
            <a:off x="585008" y="5958779"/>
            <a:ext cx="3129742" cy="442803"/>
          </a:xfrm>
          <a:prstGeom prst="rect">
            <a:avLst/>
          </a:prstGeom>
          <a:noFill/>
          <a:ln/>
        </p:spPr>
        <p:txBody>
          <a:bodyPr wrap="square" lIns="0" tIns="0" rIns="0" bIns="0" rtlCol="0" anchor="t"/>
          <a:lstStyle/>
          <a:p>
            <a:pPr>
              <a:lnSpc>
                <a:spcPts val="2126"/>
              </a:lnSpc>
            </a:pPr>
            <a:r>
              <a:rPr lang="en-US" sz="2000" dirty="0">
                <a:latin typeface="Merriweather" panose="00000500000000000000" pitchFamily="2" charset="0"/>
                <a:ea typeface="ui-sans-serif" pitchFamily="34" charset="-122"/>
                <a:cs typeface="ui-sans-serif" pitchFamily="34" charset="-120"/>
              </a:rPr>
              <a:t>TIPOLOGIA_CFG_NUM</a:t>
            </a:r>
            <a:endParaRPr lang="en-US" sz="2000" dirty="0">
              <a:latin typeface="Merriweather" panose="00000500000000000000" pitchFamily="2" charset="0"/>
            </a:endParaRPr>
          </a:p>
        </p:txBody>
      </p:sp>
      <p:sp>
        <p:nvSpPr>
          <p:cNvPr id="37" name="Text 19"/>
          <p:cNvSpPr/>
          <p:nvPr/>
        </p:nvSpPr>
        <p:spPr>
          <a:xfrm>
            <a:off x="4119490" y="5958779"/>
            <a:ext cx="3375050" cy="810012"/>
          </a:xfrm>
          <a:prstGeom prst="rect">
            <a:avLst/>
          </a:prstGeom>
          <a:noFill/>
          <a:ln/>
        </p:spPr>
        <p:txBody>
          <a:bodyPr wrap="square" lIns="0" tIns="0" rIns="0" bIns="0" rtlCol="0" anchor="t"/>
          <a:lstStyle/>
          <a:p>
            <a:pPr algn="ctr">
              <a:lnSpc>
                <a:spcPts val="2126"/>
              </a:lnSpc>
            </a:pPr>
            <a:r>
              <a:rPr lang="en-US" sz="2000" dirty="0">
                <a:latin typeface="Merriweather" panose="00000500000000000000" pitchFamily="2" charset="0"/>
                <a:ea typeface="ui-sans-serif" pitchFamily="34" charset="-122"/>
                <a:cs typeface="ui-sans-serif" pitchFamily="34" charset="-120"/>
              </a:rPr>
              <a:t>Ordinal</a:t>
            </a:r>
            <a:endParaRPr lang="en-US" sz="2000" dirty="0">
              <a:latin typeface="Merriweather" panose="00000500000000000000" pitchFamily="2" charset="0"/>
            </a:endParaRPr>
          </a:p>
        </p:txBody>
      </p:sp>
      <p:sp>
        <p:nvSpPr>
          <p:cNvPr id="38" name="Text 20"/>
          <p:cNvSpPr/>
          <p:nvPr/>
        </p:nvSpPr>
        <p:spPr>
          <a:xfrm>
            <a:off x="7494538" y="5797441"/>
            <a:ext cx="6750100" cy="810012"/>
          </a:xfrm>
          <a:prstGeom prst="rect">
            <a:avLst/>
          </a:prstGeom>
          <a:noFill/>
          <a:ln/>
        </p:spPr>
        <p:txBody>
          <a:bodyPr wrap="square" lIns="0" tIns="0" rIns="0" bIns="0" rtlCol="0" anchor="t"/>
          <a:lstStyle/>
          <a:p>
            <a:pPr algn="just"/>
            <a:r>
              <a:rPr lang="en-US" sz="2000" dirty="0">
                <a:latin typeface="Merriweather" panose="00000500000000000000" pitchFamily="2" charset="0"/>
                <a:ea typeface="ui-sans-serif" pitchFamily="34" charset="-122"/>
                <a:cs typeface="ui-sans-serif" pitchFamily="34" charset="-120"/>
              </a:rPr>
              <a:t>Clasificación numérica de nudos críticos según el Consejo Federal de Gobierno (CFG)</a:t>
            </a:r>
            <a:endParaRPr lang="en-US" sz="2000" dirty="0">
              <a:latin typeface="Merriweather" panose="00000500000000000000" pitchFamily="2" charset="0"/>
            </a:endParaRPr>
          </a:p>
        </p:txBody>
      </p:sp>
      <p:sp>
        <p:nvSpPr>
          <p:cNvPr id="39" name="Text 21"/>
          <p:cNvSpPr/>
          <p:nvPr/>
        </p:nvSpPr>
        <p:spPr>
          <a:xfrm>
            <a:off x="564437" y="6768791"/>
            <a:ext cx="3707525" cy="442803"/>
          </a:xfrm>
          <a:prstGeom prst="rect">
            <a:avLst/>
          </a:prstGeom>
          <a:noFill/>
          <a:ln/>
        </p:spPr>
        <p:txBody>
          <a:bodyPr wrap="square" lIns="0" tIns="0" rIns="0" bIns="0" rtlCol="0" anchor="t"/>
          <a:lstStyle/>
          <a:p>
            <a:pPr>
              <a:lnSpc>
                <a:spcPts val="2126"/>
              </a:lnSpc>
            </a:pPr>
            <a:r>
              <a:rPr lang="en-US" sz="2000" dirty="0">
                <a:latin typeface="Merriweather" panose="00000500000000000000" pitchFamily="2" charset="0"/>
                <a:ea typeface="ui-sans-serif" pitchFamily="34" charset="-122"/>
                <a:cs typeface="ui-sans-serif" pitchFamily="34" charset="-120"/>
              </a:rPr>
              <a:t>TIPOLOGIA_GOBERNACION_NUM</a:t>
            </a:r>
            <a:endParaRPr lang="en-US" sz="2000" dirty="0">
              <a:latin typeface="Merriweather" panose="00000500000000000000" pitchFamily="2" charset="0"/>
            </a:endParaRPr>
          </a:p>
        </p:txBody>
      </p:sp>
      <p:sp>
        <p:nvSpPr>
          <p:cNvPr id="40" name="Text 22"/>
          <p:cNvSpPr/>
          <p:nvPr/>
        </p:nvSpPr>
        <p:spPr>
          <a:xfrm>
            <a:off x="4119490" y="6768791"/>
            <a:ext cx="3375050" cy="810012"/>
          </a:xfrm>
          <a:prstGeom prst="rect">
            <a:avLst/>
          </a:prstGeom>
          <a:noFill/>
          <a:ln/>
        </p:spPr>
        <p:txBody>
          <a:bodyPr wrap="square" lIns="0" tIns="0" rIns="0" bIns="0" rtlCol="0" anchor="t"/>
          <a:lstStyle/>
          <a:p>
            <a:pPr algn="ctr">
              <a:lnSpc>
                <a:spcPts val="2126"/>
              </a:lnSpc>
            </a:pPr>
            <a:r>
              <a:rPr lang="en-US" sz="2000" dirty="0">
                <a:latin typeface="Merriweather" panose="00000500000000000000" pitchFamily="2" charset="0"/>
                <a:ea typeface="ui-sans-serif" pitchFamily="34" charset="-122"/>
                <a:cs typeface="ui-sans-serif" pitchFamily="34" charset="-120"/>
              </a:rPr>
              <a:t>Ordinal</a:t>
            </a:r>
            <a:endParaRPr lang="en-US" sz="2000" dirty="0">
              <a:latin typeface="Merriweather" panose="00000500000000000000" pitchFamily="2" charset="0"/>
            </a:endParaRPr>
          </a:p>
        </p:txBody>
      </p:sp>
      <p:sp>
        <p:nvSpPr>
          <p:cNvPr id="41" name="Text 23"/>
          <p:cNvSpPr/>
          <p:nvPr/>
        </p:nvSpPr>
        <p:spPr>
          <a:xfrm>
            <a:off x="7494538" y="6755398"/>
            <a:ext cx="6750100" cy="810012"/>
          </a:xfrm>
          <a:prstGeom prst="rect">
            <a:avLst/>
          </a:prstGeom>
          <a:noFill/>
          <a:ln/>
        </p:spPr>
        <p:txBody>
          <a:bodyPr wrap="square" lIns="0" tIns="0" rIns="0" bIns="0" rtlCol="0" anchor="t"/>
          <a:lstStyle/>
          <a:p>
            <a:pPr algn="just"/>
            <a:r>
              <a:rPr lang="en-US" sz="2000" dirty="0">
                <a:latin typeface="Merriweather" panose="00000500000000000000" pitchFamily="2" charset="0"/>
                <a:ea typeface="ui-sans-serif" pitchFamily="34" charset="-122"/>
                <a:cs typeface="ui-sans-serif" pitchFamily="34" charset="-120"/>
              </a:rPr>
              <a:t>Clasificación numérica de actores institucionales responsables por parte de la Gobernación</a:t>
            </a:r>
            <a:endParaRPr lang="en-US" sz="2000" dirty="0">
              <a:latin typeface="Merriweather" panose="00000500000000000000" pitchFamily="2" charset="0"/>
            </a:endParaRPr>
          </a:p>
        </p:txBody>
      </p:sp>
      <p:sp>
        <p:nvSpPr>
          <p:cNvPr id="42" name="Text 24"/>
          <p:cNvSpPr/>
          <p:nvPr/>
        </p:nvSpPr>
        <p:spPr>
          <a:xfrm>
            <a:off x="4271963" y="7813949"/>
            <a:ext cx="9972676" cy="721655"/>
          </a:xfrm>
          <a:prstGeom prst="rect">
            <a:avLst/>
          </a:prstGeom>
          <a:noFill/>
          <a:ln/>
        </p:spPr>
        <p:txBody>
          <a:bodyPr wrap="square" lIns="0" tIns="0" rIns="0" bIns="0" rtlCol="0" anchor="t"/>
          <a:lstStyle/>
          <a:p>
            <a:pPr algn="just"/>
            <a:r>
              <a:rPr lang="en-US" sz="1600" b="1" dirty="0">
                <a:latin typeface="Merriweather" panose="00000500000000000000" pitchFamily="2" charset="0"/>
                <a:ea typeface="ui-sans-serif" pitchFamily="34" charset="-122"/>
                <a:cs typeface="ui-sans-serif" pitchFamily="34" charset="-120"/>
              </a:rPr>
              <a:t>Nota metodológica:</a:t>
            </a:r>
            <a:r>
              <a:rPr lang="en-US" sz="1600" dirty="0">
                <a:latin typeface="Merriweather" panose="00000500000000000000" pitchFamily="2" charset="0"/>
                <a:ea typeface="ui-sans-serif" pitchFamily="34" charset="-122"/>
                <a:cs typeface="ui-sans-serif" pitchFamily="34" charset="-120"/>
              </a:rPr>
              <a:t> Las transformaciones de variables cualitativas a cuantitativas facilitaron el análisis estadístico y la aplicación de técnicas como el Índice de Shannon, permitiendo cuantificar la diversidad de nudos críticos y complejidad de redes institucionales.</a:t>
            </a:r>
            <a:endParaRPr lang="en-US" sz="1600" dirty="0">
              <a:latin typeface="Merriweather" panose="00000500000000000000" pitchFamily="2" charset="0"/>
            </a:endParaRPr>
          </a:p>
        </p:txBody>
      </p:sp>
      <p:pic>
        <p:nvPicPr>
          <p:cNvPr id="44" name="Image 2" descr="preencoded.png">
            <a:extLst>
              <a:ext uri="{FF2B5EF4-FFF2-40B4-BE49-F238E27FC236}">
                <a16:creationId xmlns:a16="http://schemas.microsoft.com/office/drawing/2014/main" id="{526F3508-DDF5-FD45-9BA5-2E8DF812A4AD}"/>
              </a:ext>
            </a:extLst>
          </p:cNvPr>
          <p:cNvPicPr>
            <a:picLocks noChangeAspect="1"/>
          </p:cNvPicPr>
          <p:nvPr/>
        </p:nvPicPr>
        <p:blipFill>
          <a:blip r:embed="rId21"/>
          <a:stretch>
            <a:fillRect/>
          </a:stretch>
        </p:blipFill>
        <p:spPr>
          <a:xfrm>
            <a:off x="-11219" y="64059"/>
            <a:ext cx="3757555" cy="2632539"/>
          </a:xfrm>
          <a:prstGeom prst="rect">
            <a:avLst/>
          </a:prstGeom>
        </p:spPr>
      </p:pic>
      <p:sp>
        <p:nvSpPr>
          <p:cNvPr id="45" name="Text 0">
            <a:extLst>
              <a:ext uri="{FF2B5EF4-FFF2-40B4-BE49-F238E27FC236}">
                <a16:creationId xmlns:a16="http://schemas.microsoft.com/office/drawing/2014/main" id="{BF686CF3-064D-2EBF-3EEB-5683EDE1B597}"/>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III</a:t>
            </a:r>
            <a:endParaRPr lang="en-US" sz="1594" dirty="0">
              <a:latin typeface="Montserrat" panose="00000500000000000000" pitchFamily="2" charset="0"/>
            </a:endParaRPr>
          </a:p>
        </p:txBody>
      </p:sp>
      <p:pic>
        <p:nvPicPr>
          <p:cNvPr id="46" name="Image 16" descr="preencoded.png">
            <a:extLst>
              <a:ext uri="{FF2B5EF4-FFF2-40B4-BE49-F238E27FC236}">
                <a16:creationId xmlns:a16="http://schemas.microsoft.com/office/drawing/2014/main" id="{ABC619E2-3707-8CF0-05D0-2AF4D72BD75B}"/>
              </a:ext>
            </a:extLst>
          </p:cNvPr>
          <p:cNvPicPr>
            <a:picLocks noChangeAspect="1"/>
          </p:cNvPicPr>
          <p:nvPr/>
        </p:nvPicPr>
        <p:blipFill>
          <a:blip r:embed="rId22"/>
          <a:stretch>
            <a:fillRect/>
          </a:stretch>
        </p:blipFill>
        <p:spPr>
          <a:xfrm>
            <a:off x="60218" y="8604364"/>
            <a:ext cx="258067" cy="258067"/>
          </a:xfrm>
          <a:prstGeom prst="rect">
            <a:avLst/>
          </a:prstGeom>
        </p:spPr>
      </p:pic>
      <p:pic>
        <p:nvPicPr>
          <p:cNvPr id="47" name="Image 17" descr="preencoded.png">
            <a:extLst>
              <a:ext uri="{FF2B5EF4-FFF2-40B4-BE49-F238E27FC236}">
                <a16:creationId xmlns:a16="http://schemas.microsoft.com/office/drawing/2014/main" id="{60FEF7A9-A2AC-58CB-1CE0-E34D240BE44F}"/>
              </a:ext>
            </a:extLst>
          </p:cNvPr>
          <p:cNvPicPr>
            <a:picLocks noChangeAspect="1"/>
          </p:cNvPicPr>
          <p:nvPr/>
        </p:nvPicPr>
        <p:blipFill>
          <a:blip r:embed="rId23"/>
          <a:stretch>
            <a:fillRect/>
          </a:stretch>
        </p:blipFill>
        <p:spPr>
          <a:xfrm>
            <a:off x="-15996" y="-7645"/>
            <a:ext cx="14400213" cy="90001"/>
          </a:xfrm>
          <a:prstGeom prst="rect">
            <a:avLst/>
          </a:prstGeom>
        </p:spPr>
      </p:pic>
      <p:pic>
        <p:nvPicPr>
          <p:cNvPr id="48" name="Image 18" descr="preencoded.png">
            <a:extLst>
              <a:ext uri="{FF2B5EF4-FFF2-40B4-BE49-F238E27FC236}">
                <a16:creationId xmlns:a16="http://schemas.microsoft.com/office/drawing/2014/main" id="{9538E946-35D6-D251-5225-41C63E6FD8D7}"/>
              </a:ext>
            </a:extLst>
          </p:cNvPr>
          <p:cNvPicPr>
            <a:picLocks noChangeAspect="1"/>
          </p:cNvPicPr>
          <p:nvPr/>
        </p:nvPicPr>
        <p:blipFill>
          <a:blip r:embed="rId24"/>
          <a:stretch>
            <a:fillRect/>
          </a:stretch>
        </p:blipFill>
        <p:spPr>
          <a:xfrm>
            <a:off x="-1" y="8902813"/>
            <a:ext cx="14400213" cy="90001"/>
          </a:xfrm>
          <a:prstGeom prst="rect">
            <a:avLst/>
          </a:prstGeom>
        </p:spPr>
      </p:pic>
      <p:sp>
        <p:nvSpPr>
          <p:cNvPr id="49" name="Text 7">
            <a:extLst>
              <a:ext uri="{FF2B5EF4-FFF2-40B4-BE49-F238E27FC236}">
                <a16:creationId xmlns:a16="http://schemas.microsoft.com/office/drawing/2014/main" id="{255CF114-D156-E2FA-45C6-26A4B865E020}"/>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A. Gutiérrez V.</a:t>
            </a:r>
            <a:endParaRPr lang="en-US" sz="18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10627439" y="105736"/>
            <a:ext cx="3757555" cy="2632539"/>
          </a:xfrm>
          <a:prstGeom prst="rect">
            <a:avLst/>
          </a:prstGeom>
        </p:spPr>
      </p:pic>
      <p:pic>
        <p:nvPicPr>
          <p:cNvPr id="5" name="Image 3" descr="preencoded.png"/>
          <p:cNvPicPr>
            <a:picLocks noChangeAspect="1"/>
          </p:cNvPicPr>
          <p:nvPr/>
        </p:nvPicPr>
        <p:blipFill>
          <a:blip r:embed="rId4"/>
          <a:stretch>
            <a:fillRect/>
          </a:stretch>
        </p:blipFill>
        <p:spPr>
          <a:xfrm>
            <a:off x="0" y="6873554"/>
            <a:ext cx="2655039" cy="2880043"/>
          </a:xfrm>
          <a:prstGeom prst="rect">
            <a:avLst/>
          </a:prstGeom>
        </p:spPr>
      </p:pic>
      <p:pic>
        <p:nvPicPr>
          <p:cNvPr id="6" name="Image 4" descr="preencoded.png"/>
          <p:cNvPicPr>
            <a:picLocks noChangeAspect="1"/>
          </p:cNvPicPr>
          <p:nvPr/>
        </p:nvPicPr>
        <p:blipFill>
          <a:blip r:embed="rId5"/>
          <a:stretch>
            <a:fillRect/>
          </a:stretch>
        </p:blipFill>
        <p:spPr>
          <a:xfrm flipV="1">
            <a:off x="720009" y="1381786"/>
            <a:ext cx="1608853" cy="80441"/>
          </a:xfrm>
          <a:prstGeom prst="rect">
            <a:avLst/>
          </a:prstGeom>
        </p:spPr>
      </p:pic>
      <p:pic>
        <p:nvPicPr>
          <p:cNvPr id="7" name="Image 5" descr="preencoded.png"/>
          <p:cNvPicPr>
            <a:picLocks noChangeAspect="1"/>
          </p:cNvPicPr>
          <p:nvPr/>
        </p:nvPicPr>
        <p:blipFill>
          <a:blip r:embed="rId6"/>
          <a:stretch>
            <a:fillRect/>
          </a:stretch>
        </p:blipFill>
        <p:spPr>
          <a:xfrm>
            <a:off x="720010" y="1878479"/>
            <a:ext cx="4320064" cy="2250331"/>
          </a:xfrm>
          <a:prstGeom prst="rect">
            <a:avLst/>
          </a:prstGeom>
        </p:spPr>
      </p:pic>
      <p:pic>
        <p:nvPicPr>
          <p:cNvPr id="8" name="Image 6" descr="preencoded.png"/>
          <p:cNvPicPr>
            <a:picLocks noChangeAspect="1"/>
          </p:cNvPicPr>
          <p:nvPr/>
        </p:nvPicPr>
        <p:blipFill>
          <a:blip r:embed="rId7"/>
          <a:stretch>
            <a:fillRect/>
          </a:stretch>
        </p:blipFill>
        <p:spPr>
          <a:xfrm>
            <a:off x="900013" y="2058483"/>
            <a:ext cx="270004" cy="360005"/>
          </a:xfrm>
          <a:prstGeom prst="rect">
            <a:avLst/>
          </a:prstGeom>
        </p:spPr>
      </p:pic>
      <p:pic>
        <p:nvPicPr>
          <p:cNvPr id="9" name="Image 7" descr="preencoded.png"/>
          <p:cNvPicPr>
            <a:picLocks noChangeAspect="1"/>
          </p:cNvPicPr>
          <p:nvPr/>
        </p:nvPicPr>
        <p:blipFill>
          <a:blip r:embed="rId8"/>
          <a:stretch>
            <a:fillRect/>
          </a:stretch>
        </p:blipFill>
        <p:spPr>
          <a:xfrm>
            <a:off x="5675712" y="2621541"/>
            <a:ext cx="690874" cy="583200"/>
          </a:xfrm>
          <a:prstGeom prst="rect">
            <a:avLst/>
          </a:prstGeom>
        </p:spPr>
      </p:pic>
      <p:pic>
        <p:nvPicPr>
          <p:cNvPr id="10" name="Image 8" descr="preencoded.png"/>
          <p:cNvPicPr>
            <a:picLocks noChangeAspect="1"/>
          </p:cNvPicPr>
          <p:nvPr/>
        </p:nvPicPr>
        <p:blipFill>
          <a:blip r:embed="rId9"/>
          <a:stretch>
            <a:fillRect/>
          </a:stretch>
        </p:blipFill>
        <p:spPr>
          <a:xfrm>
            <a:off x="6918855" y="1835650"/>
            <a:ext cx="4320064" cy="2019932"/>
          </a:xfrm>
          <a:prstGeom prst="rect">
            <a:avLst/>
          </a:prstGeom>
        </p:spPr>
      </p:pic>
      <p:pic>
        <p:nvPicPr>
          <p:cNvPr id="11" name="Image 9" descr="preencoded.png"/>
          <p:cNvPicPr>
            <a:picLocks noChangeAspect="1"/>
          </p:cNvPicPr>
          <p:nvPr/>
        </p:nvPicPr>
        <p:blipFill>
          <a:blip r:embed="rId10"/>
          <a:stretch>
            <a:fillRect/>
          </a:stretch>
        </p:blipFill>
        <p:spPr>
          <a:xfrm>
            <a:off x="7098858" y="2015653"/>
            <a:ext cx="270004" cy="360005"/>
          </a:xfrm>
          <a:prstGeom prst="rect">
            <a:avLst/>
          </a:prstGeom>
        </p:spPr>
      </p:pic>
      <p:pic>
        <p:nvPicPr>
          <p:cNvPr id="12" name="Image 10" descr="preencoded.png"/>
          <p:cNvPicPr>
            <a:picLocks noChangeAspect="1"/>
          </p:cNvPicPr>
          <p:nvPr/>
        </p:nvPicPr>
        <p:blipFill>
          <a:blip r:embed="rId11"/>
          <a:stretch>
            <a:fillRect/>
          </a:stretch>
        </p:blipFill>
        <p:spPr>
          <a:xfrm>
            <a:off x="6366586" y="3677248"/>
            <a:ext cx="328900" cy="584710"/>
          </a:xfrm>
          <a:prstGeom prst="rect">
            <a:avLst/>
          </a:prstGeom>
        </p:spPr>
      </p:pic>
      <p:pic>
        <p:nvPicPr>
          <p:cNvPr id="13" name="Image 11" descr="preencoded.png"/>
          <p:cNvPicPr>
            <a:picLocks noChangeAspect="1"/>
          </p:cNvPicPr>
          <p:nvPr/>
        </p:nvPicPr>
        <p:blipFill>
          <a:blip r:embed="rId12"/>
          <a:stretch>
            <a:fillRect/>
          </a:stretch>
        </p:blipFill>
        <p:spPr>
          <a:xfrm>
            <a:off x="720010" y="4263515"/>
            <a:ext cx="4140061" cy="2294736"/>
          </a:xfrm>
          <a:prstGeom prst="rect">
            <a:avLst/>
          </a:prstGeom>
        </p:spPr>
      </p:pic>
      <p:pic>
        <p:nvPicPr>
          <p:cNvPr id="14" name="Image 12" descr="preencoded.png"/>
          <p:cNvPicPr>
            <a:picLocks noChangeAspect="1"/>
          </p:cNvPicPr>
          <p:nvPr/>
        </p:nvPicPr>
        <p:blipFill>
          <a:blip r:embed="rId13"/>
          <a:stretch>
            <a:fillRect/>
          </a:stretch>
        </p:blipFill>
        <p:spPr>
          <a:xfrm>
            <a:off x="900016" y="4443518"/>
            <a:ext cx="303754" cy="360005"/>
          </a:xfrm>
          <a:prstGeom prst="rect">
            <a:avLst/>
          </a:prstGeom>
        </p:spPr>
      </p:pic>
      <p:pic>
        <p:nvPicPr>
          <p:cNvPr id="15" name="Image 13" descr="preencoded.png"/>
          <p:cNvPicPr>
            <a:picLocks noChangeAspect="1"/>
          </p:cNvPicPr>
          <p:nvPr/>
        </p:nvPicPr>
        <p:blipFill>
          <a:blip r:embed="rId12"/>
          <a:stretch>
            <a:fillRect/>
          </a:stretch>
        </p:blipFill>
        <p:spPr>
          <a:xfrm>
            <a:off x="5191953" y="4283089"/>
            <a:ext cx="4140061" cy="2294736"/>
          </a:xfrm>
          <a:prstGeom prst="rect">
            <a:avLst/>
          </a:prstGeom>
        </p:spPr>
      </p:pic>
      <p:pic>
        <p:nvPicPr>
          <p:cNvPr id="16" name="Image 14" descr="preencoded.png"/>
          <p:cNvPicPr>
            <a:picLocks noChangeAspect="1"/>
          </p:cNvPicPr>
          <p:nvPr/>
        </p:nvPicPr>
        <p:blipFill>
          <a:blip r:embed="rId14"/>
          <a:stretch>
            <a:fillRect/>
          </a:stretch>
        </p:blipFill>
        <p:spPr>
          <a:xfrm>
            <a:off x="5371958" y="4463092"/>
            <a:ext cx="303754" cy="360005"/>
          </a:xfrm>
          <a:prstGeom prst="rect">
            <a:avLst/>
          </a:prstGeom>
        </p:spPr>
      </p:pic>
      <p:pic>
        <p:nvPicPr>
          <p:cNvPr id="17" name="Image 15" descr="preencoded.png"/>
          <p:cNvPicPr>
            <a:picLocks noChangeAspect="1"/>
          </p:cNvPicPr>
          <p:nvPr/>
        </p:nvPicPr>
        <p:blipFill>
          <a:blip r:embed="rId12"/>
          <a:stretch>
            <a:fillRect/>
          </a:stretch>
        </p:blipFill>
        <p:spPr>
          <a:xfrm>
            <a:off x="9618895" y="4263515"/>
            <a:ext cx="4140061" cy="2294736"/>
          </a:xfrm>
          <a:prstGeom prst="rect">
            <a:avLst/>
          </a:prstGeom>
        </p:spPr>
      </p:pic>
      <p:pic>
        <p:nvPicPr>
          <p:cNvPr id="18" name="Image 16" descr="preencoded.png"/>
          <p:cNvPicPr>
            <a:picLocks noChangeAspect="1"/>
          </p:cNvPicPr>
          <p:nvPr/>
        </p:nvPicPr>
        <p:blipFill>
          <a:blip r:embed="rId15"/>
          <a:stretch>
            <a:fillRect/>
          </a:stretch>
        </p:blipFill>
        <p:spPr>
          <a:xfrm>
            <a:off x="9950777" y="4438419"/>
            <a:ext cx="303754" cy="360005"/>
          </a:xfrm>
          <a:prstGeom prst="rect">
            <a:avLst/>
          </a:prstGeom>
        </p:spPr>
      </p:pic>
      <p:pic>
        <p:nvPicPr>
          <p:cNvPr id="19" name="Image 17" descr="preencoded.png"/>
          <p:cNvPicPr>
            <a:picLocks noChangeAspect="1"/>
          </p:cNvPicPr>
          <p:nvPr/>
        </p:nvPicPr>
        <p:blipFill>
          <a:blip r:embed="rId11"/>
          <a:stretch>
            <a:fillRect/>
          </a:stretch>
        </p:blipFill>
        <p:spPr>
          <a:xfrm>
            <a:off x="6367435" y="6404065"/>
            <a:ext cx="328051" cy="583200"/>
          </a:xfrm>
          <a:prstGeom prst="rect">
            <a:avLst/>
          </a:prstGeom>
        </p:spPr>
      </p:pic>
      <p:pic>
        <p:nvPicPr>
          <p:cNvPr id="20" name="Image 18" descr="preencoded.png"/>
          <p:cNvPicPr>
            <a:picLocks noChangeAspect="1"/>
          </p:cNvPicPr>
          <p:nvPr/>
        </p:nvPicPr>
        <p:blipFill>
          <a:blip r:embed="rId16"/>
          <a:stretch>
            <a:fillRect/>
          </a:stretch>
        </p:blipFill>
        <p:spPr>
          <a:xfrm>
            <a:off x="6426943" y="7233558"/>
            <a:ext cx="7913052" cy="1440021"/>
          </a:xfrm>
          <a:prstGeom prst="rect">
            <a:avLst/>
          </a:prstGeom>
        </p:spPr>
      </p:pic>
      <p:pic>
        <p:nvPicPr>
          <p:cNvPr id="21" name="Image 19" descr="preencoded.png"/>
          <p:cNvPicPr>
            <a:picLocks noChangeAspect="1"/>
          </p:cNvPicPr>
          <p:nvPr/>
        </p:nvPicPr>
        <p:blipFill>
          <a:blip r:embed="rId17"/>
          <a:stretch>
            <a:fillRect/>
          </a:stretch>
        </p:blipFill>
        <p:spPr>
          <a:xfrm>
            <a:off x="6497800" y="7264906"/>
            <a:ext cx="126829" cy="252000"/>
          </a:xfrm>
          <a:prstGeom prst="rect">
            <a:avLst/>
          </a:prstGeom>
        </p:spPr>
      </p:pic>
      <p:pic>
        <p:nvPicPr>
          <p:cNvPr id="22" name="Image 20" descr="preencoded.png"/>
          <p:cNvPicPr>
            <a:picLocks noChangeAspect="1"/>
          </p:cNvPicPr>
          <p:nvPr/>
        </p:nvPicPr>
        <p:blipFill>
          <a:blip r:embed="rId18"/>
          <a:stretch>
            <a:fillRect/>
          </a:stretch>
        </p:blipFill>
        <p:spPr>
          <a:xfrm>
            <a:off x="270004" y="9505795"/>
            <a:ext cx="180003" cy="180003"/>
          </a:xfrm>
          <a:prstGeom prst="rect">
            <a:avLst/>
          </a:prstGeom>
        </p:spPr>
      </p:pic>
      <p:pic>
        <p:nvPicPr>
          <p:cNvPr id="23" name="Image 21" descr="preencoded.png"/>
          <p:cNvPicPr>
            <a:picLocks noChangeAspect="1"/>
          </p:cNvPicPr>
          <p:nvPr/>
        </p:nvPicPr>
        <p:blipFill>
          <a:blip r:embed="rId19"/>
          <a:stretch>
            <a:fillRect/>
          </a:stretch>
        </p:blipFill>
        <p:spPr>
          <a:xfrm>
            <a:off x="0" y="-11547"/>
            <a:ext cx="14400213" cy="90001"/>
          </a:xfrm>
          <a:prstGeom prst="rect">
            <a:avLst/>
          </a:prstGeom>
        </p:spPr>
      </p:pic>
      <p:pic>
        <p:nvPicPr>
          <p:cNvPr id="24" name="Image 22" descr="preencoded.png"/>
          <p:cNvPicPr>
            <a:picLocks noChangeAspect="1"/>
          </p:cNvPicPr>
          <p:nvPr/>
        </p:nvPicPr>
        <p:blipFill>
          <a:blip r:embed="rId20"/>
          <a:stretch>
            <a:fillRect/>
          </a:stretch>
        </p:blipFill>
        <p:spPr>
          <a:xfrm>
            <a:off x="-1" y="9888301"/>
            <a:ext cx="14400213" cy="90001"/>
          </a:xfrm>
          <a:prstGeom prst="rect">
            <a:avLst/>
          </a:prstGeom>
        </p:spPr>
      </p:pic>
      <p:sp>
        <p:nvSpPr>
          <p:cNvPr id="25" name="Text 0"/>
          <p:cNvSpPr/>
          <p:nvPr/>
        </p:nvSpPr>
        <p:spPr>
          <a:xfrm>
            <a:off x="0" y="760418"/>
            <a:ext cx="14339995" cy="589306"/>
          </a:xfrm>
          <a:prstGeom prst="rect">
            <a:avLst/>
          </a:prstGeom>
          <a:noFill/>
          <a:ln/>
        </p:spPr>
        <p:txBody>
          <a:bodyPr wrap="square" lIns="0" tIns="0" rIns="0" bIns="0" rtlCol="0" anchor="t"/>
          <a:lstStyle/>
          <a:p>
            <a:pPr algn="ctr">
              <a:lnSpc>
                <a:spcPts val="3543"/>
              </a:lnSpc>
            </a:pPr>
            <a:r>
              <a:rPr lang="es-VE" sz="4000" b="1" noProof="0" dirty="0">
                <a:latin typeface="Montserrat" panose="00000500000000000000" pitchFamily="2" charset="0"/>
                <a:ea typeface="Montserrat" pitchFamily="34" charset="-122"/>
                <a:cs typeface="Montserrat" pitchFamily="34" charset="-120"/>
              </a:rPr>
              <a:t>Método del Análisis de Datos</a:t>
            </a:r>
            <a:endParaRPr lang="es-VE" sz="4000" noProof="0" dirty="0">
              <a:latin typeface="Montserrat" panose="00000500000000000000" pitchFamily="2" charset="0"/>
            </a:endParaRPr>
          </a:p>
        </p:txBody>
      </p:sp>
      <p:sp>
        <p:nvSpPr>
          <p:cNvPr id="26" name="Text 1"/>
          <p:cNvSpPr/>
          <p:nvPr/>
        </p:nvSpPr>
        <p:spPr>
          <a:xfrm>
            <a:off x="1260016" y="2080983"/>
            <a:ext cx="3498811" cy="337505"/>
          </a:xfrm>
          <a:prstGeom prst="rect">
            <a:avLst/>
          </a:prstGeom>
          <a:noFill/>
          <a:ln/>
        </p:spPr>
        <p:txBody>
          <a:bodyPr wrap="square" lIns="0" tIns="0" rIns="0" bIns="0" rtlCol="0" anchor="t"/>
          <a:lstStyle/>
          <a:p>
            <a:pPr>
              <a:lnSpc>
                <a:spcPts val="2480"/>
              </a:lnSpc>
            </a:pPr>
            <a:r>
              <a:rPr lang="en-US" sz="2000" b="1" dirty="0">
                <a:solidFill>
                  <a:srgbClr val="343A40"/>
                </a:solidFill>
                <a:latin typeface="Montserrat" panose="00000500000000000000" pitchFamily="2" charset="0"/>
                <a:ea typeface="Montserrat" pitchFamily="34" charset="-122"/>
                <a:cs typeface="Montserrat" pitchFamily="34" charset="-120"/>
              </a:rPr>
              <a:t>Prueba de Normalidad</a:t>
            </a:r>
            <a:endParaRPr lang="en-US" sz="2000" dirty="0">
              <a:latin typeface="Montserrat" panose="00000500000000000000" pitchFamily="2" charset="0"/>
            </a:endParaRPr>
          </a:p>
        </p:txBody>
      </p:sp>
      <p:sp>
        <p:nvSpPr>
          <p:cNvPr id="27" name="Text 2"/>
          <p:cNvSpPr/>
          <p:nvPr/>
        </p:nvSpPr>
        <p:spPr>
          <a:xfrm>
            <a:off x="908449" y="2519735"/>
            <a:ext cx="4505689" cy="1401509"/>
          </a:xfrm>
          <a:prstGeom prst="rect">
            <a:avLst/>
          </a:prstGeom>
          <a:noFill/>
          <a:ln/>
        </p:spPr>
        <p:txBody>
          <a:bodyPr wrap="square" lIns="0" tIns="0" rIns="0" bIns="0" rtlCol="0" anchor="t"/>
          <a:lstStyle/>
          <a:p>
            <a:pPr algn="just"/>
            <a:r>
              <a:rPr lang="en-US" sz="2000" dirty="0">
                <a:solidFill>
                  <a:srgbClr val="343A40"/>
                </a:solidFill>
                <a:latin typeface="Merriweather" pitchFamily="34" charset="0"/>
                <a:ea typeface="Merriweather" pitchFamily="34" charset="-122"/>
                <a:cs typeface="Merriweather" pitchFamily="34" charset="-120"/>
              </a:rPr>
              <a:t>Aplicación de la prueba de Shapiro-Wilk a variables clave para determinar si se rechaza la normalidad (p &lt; 0.05).</a:t>
            </a:r>
            <a:endParaRPr lang="en-US" sz="2000" dirty="0"/>
          </a:p>
        </p:txBody>
      </p:sp>
      <p:sp>
        <p:nvSpPr>
          <p:cNvPr id="28" name="Text 3"/>
          <p:cNvSpPr/>
          <p:nvPr/>
        </p:nvSpPr>
        <p:spPr>
          <a:xfrm>
            <a:off x="7503863" y="2038153"/>
            <a:ext cx="3048795" cy="461257"/>
          </a:xfrm>
          <a:prstGeom prst="rect">
            <a:avLst/>
          </a:prstGeom>
          <a:noFill/>
          <a:ln/>
        </p:spPr>
        <p:txBody>
          <a:bodyPr wrap="square" lIns="0" tIns="0" rIns="0" bIns="0" rtlCol="0" anchor="t"/>
          <a:lstStyle/>
          <a:p>
            <a:pPr>
              <a:lnSpc>
                <a:spcPts val="2480"/>
              </a:lnSpc>
            </a:pPr>
            <a:r>
              <a:rPr lang="en-US" sz="2000" b="1" dirty="0">
                <a:solidFill>
                  <a:srgbClr val="343A40"/>
                </a:solidFill>
                <a:latin typeface="Montserrat" panose="00000500000000000000" pitchFamily="2" charset="0"/>
                <a:ea typeface="Montserrat" pitchFamily="34" charset="-122"/>
                <a:cs typeface="Montserrat" pitchFamily="34" charset="-120"/>
              </a:rPr>
              <a:t>Selección de Métodos</a:t>
            </a:r>
            <a:endParaRPr lang="en-US" sz="2000" dirty="0">
              <a:latin typeface="Montserrat" panose="00000500000000000000" pitchFamily="2" charset="0"/>
            </a:endParaRPr>
          </a:p>
        </p:txBody>
      </p:sp>
      <p:sp>
        <p:nvSpPr>
          <p:cNvPr id="29" name="Text 4"/>
          <p:cNvSpPr/>
          <p:nvPr/>
        </p:nvSpPr>
        <p:spPr>
          <a:xfrm>
            <a:off x="7098857" y="2465660"/>
            <a:ext cx="4320061" cy="1147668"/>
          </a:xfrm>
          <a:prstGeom prst="rect">
            <a:avLst/>
          </a:prstGeom>
          <a:noFill/>
          <a:ln/>
        </p:spPr>
        <p:txBody>
          <a:bodyPr wrap="square" lIns="0" tIns="0" rIns="0" bIns="0" rtlCol="0" anchor="t"/>
          <a:lstStyle/>
          <a:p>
            <a:r>
              <a:rPr lang="en-US" sz="2000" dirty="0">
                <a:solidFill>
                  <a:srgbClr val="343A40"/>
                </a:solidFill>
                <a:latin typeface="Merriweather" pitchFamily="34" charset="0"/>
                <a:ea typeface="Merriweather" pitchFamily="34" charset="-122"/>
                <a:cs typeface="Merriweather" pitchFamily="34" charset="-120"/>
              </a:rPr>
              <a:t>Resultado: Se rechaza la normalidad (p &lt; 0.05) para todas las variables clave, justificando el uso de métodos no paramétricos.</a:t>
            </a:r>
            <a:endParaRPr lang="en-US" sz="2000" dirty="0"/>
          </a:p>
        </p:txBody>
      </p:sp>
      <p:sp>
        <p:nvSpPr>
          <p:cNvPr id="30" name="Text 5"/>
          <p:cNvSpPr/>
          <p:nvPr/>
        </p:nvSpPr>
        <p:spPr>
          <a:xfrm>
            <a:off x="1338769" y="4466018"/>
            <a:ext cx="3456051" cy="326259"/>
          </a:xfrm>
          <a:prstGeom prst="rect">
            <a:avLst/>
          </a:prstGeom>
          <a:noFill/>
          <a:ln/>
        </p:spPr>
        <p:txBody>
          <a:bodyPr wrap="square" lIns="0" tIns="0" rIns="0" bIns="0" rtlCol="0" anchor="t"/>
          <a:lstStyle/>
          <a:p>
            <a:pPr>
              <a:lnSpc>
                <a:spcPts val="2480"/>
              </a:lnSpc>
            </a:pPr>
            <a:r>
              <a:rPr lang="en-US" sz="2000" b="1" dirty="0">
                <a:solidFill>
                  <a:srgbClr val="343A40"/>
                </a:solidFill>
                <a:latin typeface="Montserrat" panose="00000500000000000000" pitchFamily="2" charset="0"/>
                <a:ea typeface="Montserrat" pitchFamily="34" charset="-122"/>
                <a:cs typeface="Montserrat" pitchFamily="34" charset="-120"/>
              </a:rPr>
              <a:t>Correlación de Spearman</a:t>
            </a:r>
            <a:endParaRPr lang="en-US" sz="2000" dirty="0">
              <a:latin typeface="Montserrat" panose="00000500000000000000" pitchFamily="2" charset="0"/>
            </a:endParaRPr>
          </a:p>
        </p:txBody>
      </p:sp>
      <p:sp>
        <p:nvSpPr>
          <p:cNvPr id="31" name="Text 6"/>
          <p:cNvSpPr/>
          <p:nvPr/>
        </p:nvSpPr>
        <p:spPr>
          <a:xfrm>
            <a:off x="900013" y="4893524"/>
            <a:ext cx="4050058" cy="1440022"/>
          </a:xfrm>
          <a:prstGeom prst="rect">
            <a:avLst/>
          </a:prstGeom>
          <a:noFill/>
          <a:ln/>
        </p:spPr>
        <p:txBody>
          <a:bodyPr wrap="square" lIns="0" tIns="0" rIns="0" bIns="0" rtlCol="0" anchor="t"/>
          <a:lstStyle/>
          <a:p>
            <a:pPr algn="just"/>
            <a:r>
              <a:rPr lang="en-US" sz="2000" dirty="0">
                <a:solidFill>
                  <a:srgbClr val="343A40"/>
                </a:solidFill>
                <a:latin typeface="Merriweather" pitchFamily="34" charset="0"/>
                <a:ea typeface="Merriweather" pitchFamily="34" charset="-122"/>
                <a:cs typeface="Merriweather" pitchFamily="34" charset="-120"/>
              </a:rPr>
              <a:t>Coeficiente de </a:t>
            </a:r>
            <a:r>
              <a:rPr lang="en-US" sz="2000" dirty="0" err="1">
                <a:solidFill>
                  <a:srgbClr val="343A40"/>
                </a:solidFill>
                <a:latin typeface="Merriweather" pitchFamily="34" charset="0"/>
                <a:ea typeface="Merriweather" pitchFamily="34" charset="-122"/>
                <a:cs typeface="Merriweather" pitchFamily="34" charset="-120"/>
              </a:rPr>
              <a:t>correlación</a:t>
            </a:r>
            <a:r>
              <a:rPr lang="en-US" sz="2000" dirty="0">
                <a:solidFill>
                  <a:srgbClr val="343A40"/>
                </a:solidFill>
                <a:latin typeface="Merriweather" pitchFamily="34" charset="0"/>
                <a:ea typeface="Merriweather" pitchFamily="34" charset="-122"/>
                <a:cs typeface="Merriweather" pitchFamily="34" charset="-120"/>
              </a:rPr>
              <a:t> no paramétrico (ρ) para medir asociaciones estadísticamente significativas entre variables ordinales.</a:t>
            </a:r>
            <a:endParaRPr lang="en-US" sz="2000" dirty="0"/>
          </a:p>
        </p:txBody>
      </p:sp>
      <p:sp>
        <p:nvSpPr>
          <p:cNvPr id="33" name="Text 8"/>
          <p:cNvSpPr/>
          <p:nvPr/>
        </p:nvSpPr>
        <p:spPr>
          <a:xfrm>
            <a:off x="5810711" y="4485592"/>
            <a:ext cx="3186047" cy="292207"/>
          </a:xfrm>
          <a:prstGeom prst="rect">
            <a:avLst/>
          </a:prstGeom>
          <a:noFill/>
          <a:ln/>
        </p:spPr>
        <p:txBody>
          <a:bodyPr wrap="square" lIns="0" tIns="0" rIns="0" bIns="0" rtlCol="0" anchor="t"/>
          <a:lstStyle/>
          <a:p>
            <a:pPr>
              <a:lnSpc>
                <a:spcPts val="2480"/>
              </a:lnSpc>
            </a:pPr>
            <a:r>
              <a:rPr lang="en-US" sz="2000" b="1" dirty="0">
                <a:solidFill>
                  <a:srgbClr val="343A40"/>
                </a:solidFill>
                <a:latin typeface="Montserrat" panose="00000500000000000000" pitchFamily="2" charset="0"/>
                <a:ea typeface="Montserrat" pitchFamily="34" charset="-122"/>
                <a:cs typeface="Montserrat" pitchFamily="34" charset="-120"/>
              </a:rPr>
              <a:t>Índice de Shannon</a:t>
            </a:r>
            <a:endParaRPr lang="en-US" sz="2000" dirty="0">
              <a:latin typeface="Montserrat" panose="00000500000000000000" pitchFamily="2" charset="0"/>
            </a:endParaRPr>
          </a:p>
        </p:txBody>
      </p:sp>
      <p:sp>
        <p:nvSpPr>
          <p:cNvPr id="34" name="Text 9"/>
          <p:cNvSpPr/>
          <p:nvPr/>
        </p:nvSpPr>
        <p:spPr>
          <a:xfrm>
            <a:off x="5371955" y="4913098"/>
            <a:ext cx="4038814" cy="1203767"/>
          </a:xfrm>
          <a:prstGeom prst="rect">
            <a:avLst/>
          </a:prstGeom>
          <a:noFill/>
          <a:ln/>
        </p:spPr>
        <p:txBody>
          <a:bodyPr wrap="square" lIns="0" tIns="0" rIns="0" bIns="0" rtlCol="0" anchor="t"/>
          <a:lstStyle/>
          <a:p>
            <a:pPr algn="just"/>
            <a:r>
              <a:rPr lang="en-US" sz="2000" dirty="0">
                <a:solidFill>
                  <a:srgbClr val="343A40"/>
                </a:solidFill>
                <a:latin typeface="Merriweather" pitchFamily="34" charset="0"/>
                <a:ea typeface="Merriweather" pitchFamily="34" charset="-122"/>
                <a:cs typeface="Merriweather" pitchFamily="34" charset="-120"/>
              </a:rPr>
              <a:t>Índice de diversidad para cuantificar la complejidad de los nudos críticos y la diversidad institucional.</a:t>
            </a:r>
            <a:endParaRPr lang="en-US" sz="2000" dirty="0"/>
          </a:p>
        </p:txBody>
      </p:sp>
      <p:sp>
        <p:nvSpPr>
          <p:cNvPr id="36" name="Text 11"/>
          <p:cNvSpPr/>
          <p:nvPr/>
        </p:nvSpPr>
        <p:spPr>
          <a:xfrm>
            <a:off x="10237657" y="4443518"/>
            <a:ext cx="3701304" cy="630009"/>
          </a:xfrm>
          <a:prstGeom prst="rect">
            <a:avLst/>
          </a:prstGeom>
          <a:noFill/>
          <a:ln/>
        </p:spPr>
        <p:txBody>
          <a:bodyPr wrap="square" lIns="0" tIns="0" rIns="0" bIns="0" rtlCol="0" anchor="t"/>
          <a:lstStyle/>
          <a:p>
            <a:pPr algn="ctr">
              <a:lnSpc>
                <a:spcPts val="2480"/>
              </a:lnSpc>
            </a:pPr>
            <a:r>
              <a:rPr lang="en-US" sz="2000" b="1" dirty="0">
                <a:solidFill>
                  <a:srgbClr val="343A40"/>
                </a:solidFill>
                <a:latin typeface="Montserrat" panose="00000500000000000000" pitchFamily="2" charset="0"/>
                <a:ea typeface="Montserrat" pitchFamily="34" charset="-122"/>
                <a:cs typeface="Montserrat" pitchFamily="34" charset="-120"/>
              </a:rPr>
              <a:t>Análisis de Componentes Principales</a:t>
            </a:r>
            <a:endParaRPr lang="en-US" sz="2000" dirty="0">
              <a:latin typeface="Montserrat" panose="00000500000000000000" pitchFamily="2" charset="0"/>
            </a:endParaRPr>
          </a:p>
        </p:txBody>
      </p:sp>
      <p:sp>
        <p:nvSpPr>
          <p:cNvPr id="37" name="Text 12"/>
          <p:cNvSpPr/>
          <p:nvPr/>
        </p:nvSpPr>
        <p:spPr>
          <a:xfrm>
            <a:off x="9798896" y="5163527"/>
            <a:ext cx="4230063" cy="1248769"/>
          </a:xfrm>
          <a:prstGeom prst="rect">
            <a:avLst/>
          </a:prstGeom>
          <a:noFill/>
          <a:ln/>
        </p:spPr>
        <p:txBody>
          <a:bodyPr wrap="square" lIns="0" tIns="0" rIns="0" bIns="0" rtlCol="0" anchor="t"/>
          <a:lstStyle/>
          <a:p>
            <a:pPr algn="just"/>
            <a:r>
              <a:rPr lang="en-US" sz="2000" dirty="0">
                <a:solidFill>
                  <a:srgbClr val="343A40"/>
                </a:solidFill>
                <a:latin typeface="Merriweather" pitchFamily="34" charset="0"/>
                <a:ea typeface="Merriweather" pitchFamily="34" charset="-122"/>
                <a:cs typeface="Merriweather" pitchFamily="34" charset="-120"/>
              </a:rPr>
              <a:t>Técnica multivariada para identificar dimensiones latentes y reducir la dimensionalidad de los datos.</a:t>
            </a:r>
            <a:endParaRPr lang="en-US" sz="2000" dirty="0"/>
          </a:p>
        </p:txBody>
      </p:sp>
      <p:sp>
        <p:nvSpPr>
          <p:cNvPr id="39" name="Text 14"/>
          <p:cNvSpPr/>
          <p:nvPr/>
        </p:nvSpPr>
        <p:spPr>
          <a:xfrm>
            <a:off x="6695486" y="7242913"/>
            <a:ext cx="5395054" cy="273993"/>
          </a:xfrm>
          <a:prstGeom prst="rect">
            <a:avLst/>
          </a:prstGeom>
          <a:noFill/>
          <a:ln/>
        </p:spPr>
        <p:txBody>
          <a:bodyPr wrap="square" lIns="0" tIns="0" rIns="0" bIns="0" rtlCol="0" anchor="t"/>
          <a:lstStyle/>
          <a:p>
            <a:pPr>
              <a:lnSpc>
                <a:spcPts val="2480"/>
              </a:lnSpc>
            </a:pPr>
            <a:r>
              <a:rPr lang="en-US" b="1" dirty="0">
                <a:solidFill>
                  <a:srgbClr val="343A40"/>
                </a:solidFill>
                <a:latin typeface="Montserrat" pitchFamily="34" charset="0"/>
                <a:ea typeface="Montserrat" pitchFamily="34" charset="-122"/>
                <a:cs typeface="Montserrat" pitchFamily="34" charset="-120"/>
              </a:rPr>
              <a:t>Generación de Resultados y Conclusiones</a:t>
            </a:r>
            <a:endParaRPr lang="en-US" dirty="0"/>
          </a:p>
        </p:txBody>
      </p:sp>
      <p:sp>
        <p:nvSpPr>
          <p:cNvPr id="40" name="Text 15"/>
          <p:cNvSpPr/>
          <p:nvPr/>
        </p:nvSpPr>
        <p:spPr>
          <a:xfrm>
            <a:off x="6608129" y="7520002"/>
            <a:ext cx="7368216" cy="992737"/>
          </a:xfrm>
          <a:prstGeom prst="rect">
            <a:avLst/>
          </a:prstGeom>
          <a:noFill/>
          <a:ln/>
        </p:spPr>
        <p:txBody>
          <a:bodyPr wrap="square" lIns="0" tIns="0" rIns="0" bIns="0" rtlCol="0" anchor="t"/>
          <a:lstStyle/>
          <a:p>
            <a:pPr algn="just"/>
            <a:r>
              <a:rPr lang="en-US" sz="1600" dirty="0">
                <a:solidFill>
                  <a:srgbClr val="343A40"/>
                </a:solidFill>
                <a:latin typeface="Merriweather" pitchFamily="34" charset="0"/>
                <a:ea typeface="Merriweather" pitchFamily="34" charset="-122"/>
                <a:cs typeface="Merriweather" pitchFamily="34" charset="-120"/>
              </a:rPr>
              <a:t>Los resultados permiten evaluar la efectividad de las Agendas Concretas de Acción (ACA) en la resolución de nudos críticos y la complejidad de las redes institucionales, generando evidencia para mejorar la planificación territorial y la transparencia en la gestión pública.</a:t>
            </a:r>
            <a:endParaRPr lang="en-US" sz="1600" dirty="0"/>
          </a:p>
        </p:txBody>
      </p:sp>
      <p:sp>
        <p:nvSpPr>
          <p:cNvPr id="41" name="Text 16"/>
          <p:cNvSpPr/>
          <p:nvPr/>
        </p:nvSpPr>
        <p:spPr>
          <a:xfrm>
            <a:off x="540008" y="9483295"/>
            <a:ext cx="4887072" cy="225003"/>
          </a:xfrm>
          <a:prstGeom prst="rect">
            <a:avLst/>
          </a:prstGeom>
          <a:noFill/>
          <a:ln/>
        </p:spPr>
        <p:txBody>
          <a:bodyPr wrap="square" lIns="0" tIns="0" rIns="0" bIns="0" rtlCol="0" anchor="t"/>
          <a:lstStyle/>
          <a:p>
            <a:pPr>
              <a:lnSpc>
                <a:spcPts val="1772"/>
              </a:lnSpc>
            </a:pPr>
            <a:r>
              <a:rPr lang="en-US" sz="1240" dirty="0">
                <a:solidFill>
                  <a:srgbClr val="4B5563"/>
                </a:solidFill>
                <a:latin typeface="Montserrat" pitchFamily="34" charset="0"/>
                <a:ea typeface="Montserrat" pitchFamily="34" charset="-122"/>
                <a:cs typeface="Montserrat" pitchFamily="34" charset="-120"/>
              </a:rPr>
              <a:t>Universidad de Los Andes | William Gutiérrez Varela</a:t>
            </a:r>
            <a:endParaRPr lang="en-US" sz="1240" dirty="0"/>
          </a:p>
        </p:txBody>
      </p:sp>
      <p:pic>
        <p:nvPicPr>
          <p:cNvPr id="47" name="Image 2" descr="preencoded.png">
            <a:extLst>
              <a:ext uri="{FF2B5EF4-FFF2-40B4-BE49-F238E27FC236}">
                <a16:creationId xmlns:a16="http://schemas.microsoft.com/office/drawing/2014/main" id="{4FF34646-A6A6-CB3C-9199-C613A44AAE6E}"/>
              </a:ext>
            </a:extLst>
          </p:cNvPr>
          <p:cNvPicPr>
            <a:picLocks noChangeAspect="1"/>
          </p:cNvPicPr>
          <p:nvPr/>
        </p:nvPicPr>
        <p:blipFill>
          <a:blip r:embed="rId21"/>
          <a:stretch>
            <a:fillRect/>
          </a:stretch>
        </p:blipFill>
        <p:spPr>
          <a:xfrm>
            <a:off x="-11219" y="64059"/>
            <a:ext cx="3757555" cy="2632539"/>
          </a:xfrm>
          <a:prstGeom prst="rect">
            <a:avLst/>
          </a:prstGeom>
        </p:spPr>
      </p:pic>
      <p:sp>
        <p:nvSpPr>
          <p:cNvPr id="48" name="Text 0">
            <a:extLst>
              <a:ext uri="{FF2B5EF4-FFF2-40B4-BE49-F238E27FC236}">
                <a16:creationId xmlns:a16="http://schemas.microsoft.com/office/drawing/2014/main" id="{2E92C857-B296-1A08-AB3A-4130F4F4E31E}"/>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III</a:t>
            </a:r>
            <a:endParaRPr lang="en-US" sz="1594" dirty="0">
              <a:latin typeface="Montserrat" panose="00000500000000000000" pitchFamily="2" charset="0"/>
            </a:endParaRPr>
          </a:p>
        </p:txBody>
      </p:sp>
      <p:pic>
        <p:nvPicPr>
          <p:cNvPr id="49" name="Image 16" descr="preencoded.png">
            <a:extLst>
              <a:ext uri="{FF2B5EF4-FFF2-40B4-BE49-F238E27FC236}">
                <a16:creationId xmlns:a16="http://schemas.microsoft.com/office/drawing/2014/main" id="{F591A45D-1004-5933-39D5-9957F820E583}"/>
              </a:ext>
            </a:extLst>
          </p:cNvPr>
          <p:cNvPicPr>
            <a:picLocks noChangeAspect="1"/>
          </p:cNvPicPr>
          <p:nvPr/>
        </p:nvPicPr>
        <p:blipFill>
          <a:blip r:embed="rId18"/>
          <a:stretch>
            <a:fillRect/>
          </a:stretch>
        </p:blipFill>
        <p:spPr>
          <a:xfrm>
            <a:off x="60218" y="8604364"/>
            <a:ext cx="258067" cy="258067"/>
          </a:xfrm>
          <a:prstGeom prst="rect">
            <a:avLst/>
          </a:prstGeom>
        </p:spPr>
      </p:pic>
      <p:pic>
        <p:nvPicPr>
          <p:cNvPr id="50" name="Image 17" descr="preencoded.png">
            <a:extLst>
              <a:ext uri="{FF2B5EF4-FFF2-40B4-BE49-F238E27FC236}">
                <a16:creationId xmlns:a16="http://schemas.microsoft.com/office/drawing/2014/main" id="{6ADF0674-8712-710A-272B-18A75B9E297B}"/>
              </a:ext>
            </a:extLst>
          </p:cNvPr>
          <p:cNvPicPr>
            <a:picLocks noChangeAspect="1"/>
          </p:cNvPicPr>
          <p:nvPr/>
        </p:nvPicPr>
        <p:blipFill>
          <a:blip r:embed="rId19"/>
          <a:stretch>
            <a:fillRect/>
          </a:stretch>
        </p:blipFill>
        <p:spPr>
          <a:xfrm>
            <a:off x="-15996" y="-7645"/>
            <a:ext cx="14400213" cy="90001"/>
          </a:xfrm>
          <a:prstGeom prst="rect">
            <a:avLst/>
          </a:prstGeom>
        </p:spPr>
      </p:pic>
      <p:pic>
        <p:nvPicPr>
          <p:cNvPr id="51" name="Image 18" descr="preencoded.png">
            <a:extLst>
              <a:ext uri="{FF2B5EF4-FFF2-40B4-BE49-F238E27FC236}">
                <a16:creationId xmlns:a16="http://schemas.microsoft.com/office/drawing/2014/main" id="{18A530AC-50D8-F899-EF8F-28C56DC91FE9}"/>
              </a:ext>
            </a:extLst>
          </p:cNvPr>
          <p:cNvPicPr>
            <a:picLocks noChangeAspect="1"/>
          </p:cNvPicPr>
          <p:nvPr/>
        </p:nvPicPr>
        <p:blipFill>
          <a:blip r:embed="rId22"/>
          <a:stretch>
            <a:fillRect/>
          </a:stretch>
        </p:blipFill>
        <p:spPr>
          <a:xfrm>
            <a:off x="-1" y="8902813"/>
            <a:ext cx="14400213" cy="90001"/>
          </a:xfrm>
          <a:prstGeom prst="rect">
            <a:avLst/>
          </a:prstGeom>
        </p:spPr>
      </p:pic>
      <p:sp>
        <p:nvSpPr>
          <p:cNvPr id="52" name="Text 7">
            <a:extLst>
              <a:ext uri="{FF2B5EF4-FFF2-40B4-BE49-F238E27FC236}">
                <a16:creationId xmlns:a16="http://schemas.microsoft.com/office/drawing/2014/main" id="{445318E6-D069-45B1-1A1C-949122772E97}"/>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1" y="899716"/>
            <a:ext cx="14400213" cy="810012"/>
          </a:xfrm>
          <a:prstGeom prst="rect">
            <a:avLst/>
          </a:prstGeom>
        </p:spPr>
      </p:pic>
      <p:pic>
        <p:nvPicPr>
          <p:cNvPr id="5" name="Image 3" descr="preencoded.png"/>
          <p:cNvPicPr>
            <a:picLocks noChangeAspect="1"/>
          </p:cNvPicPr>
          <p:nvPr/>
        </p:nvPicPr>
        <p:blipFill>
          <a:blip r:embed="rId4"/>
          <a:stretch>
            <a:fillRect/>
          </a:stretch>
        </p:blipFill>
        <p:spPr>
          <a:xfrm>
            <a:off x="450007" y="2054616"/>
            <a:ext cx="303754" cy="300063"/>
          </a:xfrm>
          <a:prstGeom prst="rect">
            <a:avLst/>
          </a:prstGeom>
        </p:spPr>
      </p:pic>
      <p:pic>
        <p:nvPicPr>
          <p:cNvPr id="6" name="Image 4" descr="preencoded.png"/>
          <p:cNvPicPr>
            <a:picLocks noChangeAspect="1"/>
          </p:cNvPicPr>
          <p:nvPr/>
        </p:nvPicPr>
        <p:blipFill>
          <a:blip r:embed="rId5"/>
          <a:stretch>
            <a:fillRect/>
          </a:stretch>
        </p:blipFill>
        <p:spPr>
          <a:xfrm>
            <a:off x="450007" y="4646021"/>
            <a:ext cx="6390094" cy="337505"/>
          </a:xfrm>
          <a:prstGeom prst="rect">
            <a:avLst/>
          </a:prstGeom>
        </p:spPr>
      </p:pic>
      <p:pic>
        <p:nvPicPr>
          <p:cNvPr id="7" name="Image 5" descr="preencoded.png"/>
          <p:cNvPicPr>
            <a:picLocks noChangeAspect="1"/>
          </p:cNvPicPr>
          <p:nvPr/>
        </p:nvPicPr>
        <p:blipFill>
          <a:blip r:embed="rId6"/>
          <a:stretch>
            <a:fillRect/>
          </a:stretch>
        </p:blipFill>
        <p:spPr>
          <a:xfrm>
            <a:off x="450007" y="4646021"/>
            <a:ext cx="6390094" cy="337505"/>
          </a:xfrm>
          <a:prstGeom prst="rect">
            <a:avLst/>
          </a:prstGeom>
        </p:spPr>
      </p:pic>
      <p:pic>
        <p:nvPicPr>
          <p:cNvPr id="8" name="Image 6" descr="preencoded.png"/>
          <p:cNvPicPr>
            <a:picLocks noChangeAspect="1"/>
          </p:cNvPicPr>
          <p:nvPr/>
        </p:nvPicPr>
        <p:blipFill>
          <a:blip r:embed="rId7"/>
          <a:stretch>
            <a:fillRect/>
          </a:stretch>
        </p:blipFill>
        <p:spPr>
          <a:xfrm>
            <a:off x="450007" y="5759788"/>
            <a:ext cx="6390094" cy="337505"/>
          </a:xfrm>
          <a:prstGeom prst="rect">
            <a:avLst/>
          </a:prstGeom>
        </p:spPr>
      </p:pic>
      <p:pic>
        <p:nvPicPr>
          <p:cNvPr id="9" name="Image 7" descr="preencoded.png"/>
          <p:cNvPicPr>
            <a:picLocks noChangeAspect="1"/>
          </p:cNvPicPr>
          <p:nvPr/>
        </p:nvPicPr>
        <p:blipFill>
          <a:blip r:embed="rId8"/>
          <a:stretch>
            <a:fillRect/>
          </a:stretch>
        </p:blipFill>
        <p:spPr>
          <a:xfrm>
            <a:off x="450006" y="5759788"/>
            <a:ext cx="6070519" cy="337505"/>
          </a:xfrm>
          <a:prstGeom prst="rect">
            <a:avLst/>
          </a:prstGeom>
        </p:spPr>
      </p:pic>
      <p:pic>
        <p:nvPicPr>
          <p:cNvPr id="10" name="Image 8" descr="preencoded.png"/>
          <p:cNvPicPr>
            <a:picLocks noChangeAspect="1"/>
          </p:cNvPicPr>
          <p:nvPr/>
        </p:nvPicPr>
        <p:blipFill>
          <a:blip r:embed="rId9"/>
          <a:stretch>
            <a:fillRect/>
          </a:stretch>
        </p:blipFill>
        <p:spPr>
          <a:xfrm>
            <a:off x="450006" y="6997306"/>
            <a:ext cx="337505" cy="405006"/>
          </a:xfrm>
          <a:prstGeom prst="rect">
            <a:avLst/>
          </a:prstGeom>
        </p:spPr>
      </p:pic>
      <p:pic>
        <p:nvPicPr>
          <p:cNvPr id="11" name="Image 9" descr="preencoded.png"/>
          <p:cNvPicPr>
            <a:picLocks noChangeAspect="1"/>
          </p:cNvPicPr>
          <p:nvPr/>
        </p:nvPicPr>
        <p:blipFill>
          <a:blip r:embed="rId10"/>
          <a:stretch>
            <a:fillRect/>
          </a:stretch>
        </p:blipFill>
        <p:spPr>
          <a:xfrm>
            <a:off x="967514" y="7177308"/>
            <a:ext cx="1440021" cy="45001"/>
          </a:xfrm>
          <a:prstGeom prst="rect">
            <a:avLst/>
          </a:prstGeom>
        </p:spPr>
      </p:pic>
      <p:pic>
        <p:nvPicPr>
          <p:cNvPr id="12" name="Image 10" descr="preencoded.png"/>
          <p:cNvPicPr>
            <a:picLocks noChangeAspect="1"/>
          </p:cNvPicPr>
          <p:nvPr/>
        </p:nvPicPr>
        <p:blipFill>
          <a:blip r:embed="rId11"/>
          <a:stretch>
            <a:fillRect/>
          </a:stretch>
        </p:blipFill>
        <p:spPr>
          <a:xfrm>
            <a:off x="7200106" y="1979732"/>
            <a:ext cx="6750100" cy="5962588"/>
          </a:xfrm>
          <a:prstGeom prst="rect">
            <a:avLst/>
          </a:prstGeom>
        </p:spPr>
      </p:pic>
      <p:pic>
        <p:nvPicPr>
          <p:cNvPr id="13" name="Image 11" descr="preencoded.png"/>
          <p:cNvPicPr>
            <a:picLocks noChangeAspect="1"/>
          </p:cNvPicPr>
          <p:nvPr/>
        </p:nvPicPr>
        <p:blipFill>
          <a:blip r:embed="rId12"/>
          <a:stretch>
            <a:fillRect/>
          </a:stretch>
        </p:blipFill>
        <p:spPr>
          <a:xfrm>
            <a:off x="7560112" y="2054616"/>
            <a:ext cx="303754" cy="300063"/>
          </a:xfrm>
          <a:prstGeom prst="rect">
            <a:avLst/>
          </a:prstGeom>
        </p:spPr>
      </p:pic>
      <p:pic>
        <p:nvPicPr>
          <p:cNvPr id="14" name="Image 12" descr="preencoded.png"/>
          <p:cNvPicPr>
            <a:picLocks noChangeAspect="1"/>
          </p:cNvPicPr>
          <p:nvPr/>
        </p:nvPicPr>
        <p:blipFill>
          <a:blip r:embed="rId13"/>
          <a:stretch>
            <a:fillRect/>
          </a:stretch>
        </p:blipFill>
        <p:spPr>
          <a:xfrm>
            <a:off x="7560112" y="4229765"/>
            <a:ext cx="258754" cy="405006"/>
          </a:xfrm>
          <a:prstGeom prst="rect">
            <a:avLst/>
          </a:prstGeom>
        </p:spPr>
      </p:pic>
      <p:pic>
        <p:nvPicPr>
          <p:cNvPr id="15" name="Image 13" descr="preencoded.png"/>
          <p:cNvPicPr>
            <a:picLocks noChangeAspect="1"/>
          </p:cNvPicPr>
          <p:nvPr/>
        </p:nvPicPr>
        <p:blipFill>
          <a:blip r:embed="rId14"/>
          <a:stretch>
            <a:fillRect/>
          </a:stretch>
        </p:blipFill>
        <p:spPr>
          <a:xfrm>
            <a:off x="7998868" y="4409768"/>
            <a:ext cx="1440021" cy="45001"/>
          </a:xfrm>
          <a:prstGeom prst="rect">
            <a:avLst/>
          </a:prstGeom>
        </p:spPr>
      </p:pic>
      <p:pic>
        <p:nvPicPr>
          <p:cNvPr id="16" name="Image 14" descr="preencoded.png"/>
          <p:cNvPicPr>
            <a:picLocks noChangeAspect="1"/>
          </p:cNvPicPr>
          <p:nvPr/>
        </p:nvPicPr>
        <p:blipFill>
          <a:blip r:embed="rId15"/>
          <a:stretch>
            <a:fillRect/>
          </a:stretch>
        </p:blipFill>
        <p:spPr>
          <a:xfrm>
            <a:off x="8634504" y="4252266"/>
            <a:ext cx="168752" cy="360005"/>
          </a:xfrm>
          <a:prstGeom prst="rect">
            <a:avLst/>
          </a:prstGeom>
        </p:spPr>
      </p:pic>
      <p:pic>
        <p:nvPicPr>
          <p:cNvPr id="17" name="Image 15" descr="preencoded.png"/>
          <p:cNvPicPr>
            <a:picLocks noChangeAspect="1"/>
          </p:cNvPicPr>
          <p:nvPr/>
        </p:nvPicPr>
        <p:blipFill>
          <a:blip r:embed="rId16"/>
          <a:stretch>
            <a:fillRect/>
          </a:stretch>
        </p:blipFill>
        <p:spPr>
          <a:xfrm>
            <a:off x="9618892" y="4229765"/>
            <a:ext cx="337505" cy="405006"/>
          </a:xfrm>
          <a:prstGeom prst="rect">
            <a:avLst/>
          </a:prstGeom>
        </p:spPr>
      </p:pic>
      <p:pic>
        <p:nvPicPr>
          <p:cNvPr id="18" name="Image 16" descr="preencoded.png"/>
          <p:cNvPicPr>
            <a:picLocks noChangeAspect="1"/>
          </p:cNvPicPr>
          <p:nvPr/>
        </p:nvPicPr>
        <p:blipFill>
          <a:blip r:embed="rId17"/>
          <a:stretch>
            <a:fillRect/>
          </a:stretch>
        </p:blipFill>
        <p:spPr>
          <a:xfrm>
            <a:off x="7560111" y="5234808"/>
            <a:ext cx="6698814" cy="3539504"/>
          </a:xfrm>
          <a:prstGeom prst="rect">
            <a:avLst/>
          </a:prstGeom>
        </p:spPr>
      </p:pic>
      <p:pic>
        <p:nvPicPr>
          <p:cNvPr id="19" name="Image 17" descr="preencoded.png"/>
          <p:cNvPicPr>
            <a:picLocks noChangeAspect="1"/>
          </p:cNvPicPr>
          <p:nvPr/>
        </p:nvPicPr>
        <p:blipFill>
          <a:blip r:embed="rId18"/>
          <a:stretch>
            <a:fillRect/>
          </a:stretch>
        </p:blipFill>
        <p:spPr>
          <a:xfrm>
            <a:off x="7818866" y="5484076"/>
            <a:ext cx="225003" cy="300063"/>
          </a:xfrm>
          <a:prstGeom prst="rect">
            <a:avLst/>
          </a:prstGeom>
        </p:spPr>
      </p:pic>
      <p:sp>
        <p:nvSpPr>
          <p:cNvPr id="21" name="Text 0"/>
          <p:cNvSpPr/>
          <p:nvPr/>
        </p:nvSpPr>
        <p:spPr>
          <a:xfrm>
            <a:off x="4309328" y="494709"/>
            <a:ext cx="5223548" cy="450007"/>
          </a:xfrm>
          <a:prstGeom prst="rect">
            <a:avLst/>
          </a:prstGeom>
          <a:noFill/>
          <a:ln/>
        </p:spPr>
        <p:txBody>
          <a:bodyPr wrap="square" lIns="0" tIns="0" rIns="0" bIns="0" rtlCol="0" anchor="t"/>
          <a:lstStyle/>
          <a:p>
            <a:pPr algn="ctr"/>
            <a:r>
              <a:rPr lang="es-VE" sz="2400" b="1" noProof="0" dirty="0">
                <a:solidFill>
                  <a:srgbClr val="000000"/>
                </a:solidFill>
                <a:latin typeface="Montserrat" panose="00000500000000000000" pitchFamily="2" charset="0"/>
                <a:ea typeface="Arial" pitchFamily="34" charset="-122"/>
                <a:cs typeface="Mongolian Baiti" panose="03000500000000000000" pitchFamily="66" charset="0"/>
              </a:rPr>
              <a:t>Capitulo V: Conclusiones</a:t>
            </a:r>
            <a:endParaRPr lang="es-VE" sz="2400" dirty="0">
              <a:latin typeface="Montserrat" panose="00000500000000000000" pitchFamily="2" charset="0"/>
              <a:cs typeface="Mongolian Baiti" panose="03000500000000000000" pitchFamily="66" charset="0"/>
            </a:endParaRPr>
          </a:p>
          <a:p>
            <a:pPr algn="ctr"/>
            <a:endParaRPr lang="es-VE" sz="2400" noProof="0" dirty="0">
              <a:latin typeface="Montserrat" panose="00000500000000000000" pitchFamily="2" charset="0"/>
              <a:cs typeface="Mongolian Baiti" panose="03000500000000000000" pitchFamily="66" charset="0"/>
            </a:endParaRPr>
          </a:p>
        </p:txBody>
      </p:sp>
      <p:sp>
        <p:nvSpPr>
          <p:cNvPr id="22" name="Text 1"/>
          <p:cNvSpPr/>
          <p:nvPr/>
        </p:nvSpPr>
        <p:spPr>
          <a:xfrm>
            <a:off x="843763" y="1923480"/>
            <a:ext cx="6221342" cy="450007"/>
          </a:xfrm>
          <a:prstGeom prst="rect">
            <a:avLst/>
          </a:prstGeom>
          <a:noFill/>
          <a:ln/>
        </p:spPr>
        <p:txBody>
          <a:bodyPr wrap="square" lIns="0" tIns="0" rIns="0" bIns="0" rtlCol="0" anchor="t"/>
          <a:lstStyle/>
          <a:p>
            <a:pPr>
              <a:lnSpc>
                <a:spcPts val="3543"/>
              </a:lnSpc>
            </a:pPr>
            <a:r>
              <a:rPr lang="en-US" sz="2362" b="1" dirty="0">
                <a:solidFill>
                  <a:srgbClr val="14532D"/>
                </a:solidFill>
                <a:latin typeface="Montserrat" panose="00000500000000000000" pitchFamily="2" charset="0"/>
                <a:ea typeface="Arial" pitchFamily="34" charset="-122"/>
                <a:cs typeface="Arial" pitchFamily="34" charset="-120"/>
              </a:rPr>
              <a:t>Diagnóstico y Asignación Precisos</a:t>
            </a:r>
            <a:endParaRPr lang="en-US" sz="2362" dirty="0">
              <a:latin typeface="Montserrat" panose="00000500000000000000" pitchFamily="2" charset="0"/>
            </a:endParaRPr>
          </a:p>
        </p:txBody>
      </p:sp>
      <p:sp>
        <p:nvSpPr>
          <p:cNvPr id="23" name="Text 2"/>
          <p:cNvSpPr/>
          <p:nvPr/>
        </p:nvSpPr>
        <p:spPr>
          <a:xfrm>
            <a:off x="450007" y="2609741"/>
            <a:ext cx="6390094" cy="1350020"/>
          </a:xfrm>
          <a:prstGeom prst="rect">
            <a:avLst/>
          </a:prstGeom>
          <a:noFill/>
          <a:ln/>
        </p:spPr>
        <p:txBody>
          <a:bodyPr wrap="square" lIns="0" tIns="0" rIns="0" bIns="0" rtlCol="0" anchor="t"/>
          <a:lstStyle/>
          <a:p>
            <a:pPr>
              <a:lnSpc>
                <a:spcPts val="3543"/>
              </a:lnSpc>
            </a:pPr>
            <a:r>
              <a:rPr lang="en-US" sz="2362" dirty="0">
                <a:latin typeface="Merriweather" panose="00000500000000000000" pitchFamily="2" charset="0"/>
                <a:ea typeface="Arial" pitchFamily="34" charset="-122"/>
                <a:cs typeface="Arial" pitchFamily="34" charset="-120"/>
              </a:rPr>
              <a:t>El sistema es casi perfecto para identificar nudos críticos y asignarlos a la institución correcta.</a:t>
            </a:r>
            <a:endParaRPr lang="en-US" sz="2362" dirty="0">
              <a:latin typeface="Merriweather" panose="00000500000000000000" pitchFamily="2" charset="0"/>
            </a:endParaRPr>
          </a:p>
        </p:txBody>
      </p:sp>
      <p:sp>
        <p:nvSpPr>
          <p:cNvPr id="24" name="Text 3"/>
          <p:cNvSpPr/>
          <p:nvPr/>
        </p:nvSpPr>
        <p:spPr>
          <a:xfrm>
            <a:off x="450007" y="4139764"/>
            <a:ext cx="2040218" cy="450007"/>
          </a:xfrm>
          <a:prstGeom prst="rect">
            <a:avLst/>
          </a:prstGeom>
          <a:noFill/>
          <a:ln/>
        </p:spPr>
        <p:txBody>
          <a:bodyPr wrap="square" lIns="0" tIns="0" rIns="0" bIns="0" rtlCol="0" anchor="t"/>
          <a:lstStyle/>
          <a:p>
            <a:pPr>
              <a:lnSpc>
                <a:spcPts val="3543"/>
              </a:lnSpc>
            </a:pPr>
            <a:r>
              <a:rPr lang="en-US" sz="2362" b="1" dirty="0">
                <a:solidFill>
                  <a:srgbClr val="1F2937"/>
                </a:solidFill>
                <a:latin typeface="Montserrat" panose="00000500000000000000" pitchFamily="2" charset="0"/>
                <a:ea typeface="Arial" pitchFamily="34" charset="-122"/>
                <a:cs typeface="Arial" pitchFamily="34" charset="-120"/>
              </a:rPr>
              <a:t>Electricidad</a:t>
            </a:r>
            <a:endParaRPr lang="en-US" sz="2362" dirty="0">
              <a:latin typeface="Montserrat" panose="00000500000000000000" pitchFamily="2" charset="0"/>
            </a:endParaRPr>
          </a:p>
        </p:txBody>
      </p:sp>
      <p:sp>
        <p:nvSpPr>
          <p:cNvPr id="25" name="Text 4"/>
          <p:cNvSpPr/>
          <p:nvPr/>
        </p:nvSpPr>
        <p:spPr>
          <a:xfrm>
            <a:off x="4429226" y="4139764"/>
            <a:ext cx="2700786" cy="450007"/>
          </a:xfrm>
          <a:prstGeom prst="rect">
            <a:avLst/>
          </a:prstGeom>
          <a:noFill/>
          <a:ln/>
        </p:spPr>
        <p:txBody>
          <a:bodyPr wrap="square" lIns="0" tIns="0" rIns="0" bIns="0" rtlCol="0" anchor="t"/>
          <a:lstStyle/>
          <a:p>
            <a:pPr>
              <a:lnSpc>
                <a:spcPts val="3543"/>
              </a:lnSpc>
            </a:pPr>
            <a:r>
              <a:rPr lang="en-US" sz="2362" b="1" dirty="0">
                <a:solidFill>
                  <a:srgbClr val="14532D"/>
                </a:solidFill>
                <a:latin typeface="Merriweather" panose="00000500000000000000" pitchFamily="2" charset="0"/>
                <a:ea typeface="Arial" pitchFamily="34" charset="-122"/>
                <a:cs typeface="Arial" pitchFamily="34" charset="-120"/>
              </a:rPr>
              <a:t>ρ = 1.0 (Perfecta)</a:t>
            </a:r>
            <a:endParaRPr lang="en-US" sz="2362" dirty="0">
              <a:latin typeface="Merriweather" panose="00000500000000000000" pitchFamily="2" charset="0"/>
            </a:endParaRPr>
          </a:p>
        </p:txBody>
      </p:sp>
      <p:sp>
        <p:nvSpPr>
          <p:cNvPr id="26" name="Text 5"/>
          <p:cNvSpPr/>
          <p:nvPr/>
        </p:nvSpPr>
        <p:spPr>
          <a:xfrm>
            <a:off x="450006" y="5253530"/>
            <a:ext cx="1473631" cy="450007"/>
          </a:xfrm>
          <a:prstGeom prst="rect">
            <a:avLst/>
          </a:prstGeom>
          <a:noFill/>
          <a:ln/>
        </p:spPr>
        <p:txBody>
          <a:bodyPr wrap="square" lIns="0" tIns="0" rIns="0" bIns="0" rtlCol="0" anchor="t"/>
          <a:lstStyle/>
          <a:p>
            <a:pPr>
              <a:lnSpc>
                <a:spcPts val="3543"/>
              </a:lnSpc>
            </a:pPr>
            <a:r>
              <a:rPr lang="en-US" sz="2362" b="1" dirty="0">
                <a:solidFill>
                  <a:srgbClr val="1F2937"/>
                </a:solidFill>
                <a:latin typeface="Montserrat" panose="00000500000000000000" pitchFamily="2" charset="0"/>
                <a:ea typeface="Arial" pitchFamily="34" charset="-122"/>
                <a:cs typeface="Arial" pitchFamily="34" charset="-120"/>
              </a:rPr>
              <a:t>Vivienda</a:t>
            </a:r>
            <a:endParaRPr lang="en-US" sz="2362" dirty="0">
              <a:latin typeface="Montserrat" panose="00000500000000000000" pitchFamily="2" charset="0"/>
            </a:endParaRPr>
          </a:p>
        </p:txBody>
      </p:sp>
      <p:sp>
        <p:nvSpPr>
          <p:cNvPr id="27" name="Text 6"/>
          <p:cNvSpPr/>
          <p:nvPr/>
        </p:nvSpPr>
        <p:spPr>
          <a:xfrm>
            <a:off x="3846327" y="5253530"/>
            <a:ext cx="3353780" cy="450007"/>
          </a:xfrm>
          <a:prstGeom prst="rect">
            <a:avLst/>
          </a:prstGeom>
          <a:noFill/>
          <a:ln/>
        </p:spPr>
        <p:txBody>
          <a:bodyPr wrap="square" lIns="0" tIns="0" rIns="0" bIns="0" rtlCol="0" anchor="t"/>
          <a:lstStyle/>
          <a:p>
            <a:pPr>
              <a:lnSpc>
                <a:spcPts val="3543"/>
              </a:lnSpc>
            </a:pPr>
            <a:r>
              <a:rPr lang="en-US" sz="2362" b="1" dirty="0">
                <a:solidFill>
                  <a:srgbClr val="166534"/>
                </a:solidFill>
                <a:latin typeface="Merriweather" panose="00000500000000000000" pitchFamily="2" charset="0"/>
                <a:ea typeface="Arial" pitchFamily="34" charset="-122"/>
                <a:cs typeface="Arial" pitchFamily="34" charset="-120"/>
              </a:rPr>
              <a:t>ρ = 0.95 (Muy Fuerte)</a:t>
            </a:r>
            <a:endParaRPr lang="en-US" sz="2362" dirty="0">
              <a:latin typeface="Merriweather" panose="00000500000000000000" pitchFamily="2" charset="0"/>
            </a:endParaRPr>
          </a:p>
        </p:txBody>
      </p:sp>
      <p:sp>
        <p:nvSpPr>
          <p:cNvPr id="28" name="Text 7"/>
          <p:cNvSpPr/>
          <p:nvPr/>
        </p:nvSpPr>
        <p:spPr>
          <a:xfrm>
            <a:off x="450006" y="6457298"/>
            <a:ext cx="7668113" cy="450007"/>
          </a:xfrm>
          <a:prstGeom prst="rect">
            <a:avLst/>
          </a:prstGeom>
          <a:noFill/>
          <a:ln/>
        </p:spPr>
        <p:txBody>
          <a:bodyPr wrap="square" lIns="0" tIns="0" rIns="0" bIns="0" rtlCol="0" anchor="t"/>
          <a:lstStyle/>
          <a:p>
            <a:pPr>
              <a:lnSpc>
                <a:spcPts val="3543"/>
              </a:lnSpc>
            </a:pPr>
            <a:r>
              <a:rPr lang="en-US" sz="2362" b="1" dirty="0">
                <a:solidFill>
                  <a:srgbClr val="1F2937"/>
                </a:solidFill>
                <a:latin typeface="Montserrat" panose="00000500000000000000" pitchFamily="2" charset="0"/>
                <a:ea typeface="Arial" pitchFamily="34" charset="-122"/>
                <a:cs typeface="Arial" pitchFamily="34" charset="-120"/>
              </a:rPr>
              <a:t>Diagnóstico Comunal</a:t>
            </a:r>
            <a:endParaRPr lang="en-US" sz="2362" dirty="0">
              <a:latin typeface="Montserrat" panose="00000500000000000000" pitchFamily="2" charset="0"/>
            </a:endParaRPr>
          </a:p>
        </p:txBody>
      </p:sp>
      <p:sp>
        <p:nvSpPr>
          <p:cNvPr id="29" name="Text 8"/>
          <p:cNvSpPr/>
          <p:nvPr/>
        </p:nvSpPr>
        <p:spPr>
          <a:xfrm>
            <a:off x="0" y="7492313"/>
            <a:ext cx="7200107" cy="450007"/>
          </a:xfrm>
          <a:prstGeom prst="rect">
            <a:avLst/>
          </a:prstGeom>
          <a:noFill/>
          <a:ln/>
        </p:spPr>
        <p:txBody>
          <a:bodyPr wrap="square" lIns="0" tIns="0" rIns="0" bIns="0" rtlCol="0" anchor="t"/>
          <a:lstStyle/>
          <a:p>
            <a:pPr algn="ctr">
              <a:lnSpc>
                <a:spcPts val="3543"/>
              </a:lnSpc>
            </a:pPr>
            <a:r>
              <a:rPr lang="en-US" sz="2362" dirty="0">
                <a:solidFill>
                  <a:srgbClr val="1F2937"/>
                </a:solidFill>
                <a:latin typeface="Merriweather" panose="00000500000000000000" pitchFamily="2" charset="0"/>
                <a:ea typeface="Arial" pitchFamily="34" charset="-122"/>
                <a:cs typeface="Arial" pitchFamily="34" charset="-120"/>
              </a:rPr>
              <a:t>Asignación Institucional</a:t>
            </a:r>
            <a:endParaRPr lang="en-US" sz="2362" dirty="0">
              <a:latin typeface="Merriweather" panose="00000500000000000000" pitchFamily="2" charset="0"/>
            </a:endParaRPr>
          </a:p>
        </p:txBody>
      </p:sp>
      <p:sp>
        <p:nvSpPr>
          <p:cNvPr id="30" name="Text 9"/>
          <p:cNvSpPr/>
          <p:nvPr/>
        </p:nvSpPr>
        <p:spPr>
          <a:xfrm>
            <a:off x="7953867" y="1979732"/>
            <a:ext cx="6275343" cy="450007"/>
          </a:xfrm>
          <a:prstGeom prst="rect">
            <a:avLst/>
          </a:prstGeom>
          <a:noFill/>
          <a:ln/>
        </p:spPr>
        <p:txBody>
          <a:bodyPr wrap="square" lIns="0" tIns="0" rIns="0" bIns="0" rtlCol="0" anchor="t"/>
          <a:lstStyle/>
          <a:p>
            <a:pPr>
              <a:lnSpc>
                <a:spcPts val="3543"/>
              </a:lnSpc>
            </a:pPr>
            <a:r>
              <a:rPr lang="en-US" sz="2362" b="1" dirty="0">
                <a:solidFill>
                  <a:srgbClr val="7F1D1D"/>
                </a:solidFill>
                <a:latin typeface="Arial" pitchFamily="34" charset="0"/>
                <a:ea typeface="Arial" pitchFamily="34" charset="-122"/>
                <a:cs typeface="Arial" pitchFamily="34" charset="-120"/>
              </a:rPr>
              <a:t>Falla Sistémica en la Ejecución</a:t>
            </a:r>
            <a:endParaRPr lang="en-US" sz="2362" dirty="0"/>
          </a:p>
        </p:txBody>
      </p:sp>
      <p:sp>
        <p:nvSpPr>
          <p:cNvPr id="31" name="Text 10"/>
          <p:cNvSpPr/>
          <p:nvPr/>
        </p:nvSpPr>
        <p:spPr>
          <a:xfrm>
            <a:off x="7498501" y="2690898"/>
            <a:ext cx="6669099" cy="1350020"/>
          </a:xfrm>
          <a:prstGeom prst="rect">
            <a:avLst/>
          </a:prstGeom>
          <a:noFill/>
          <a:ln/>
        </p:spPr>
        <p:txBody>
          <a:bodyPr wrap="square" lIns="0" tIns="0" rIns="0" bIns="0" rtlCol="0" anchor="t"/>
          <a:lstStyle/>
          <a:p>
            <a:pPr>
              <a:lnSpc>
                <a:spcPts val="3543"/>
              </a:lnSpc>
            </a:pPr>
            <a:r>
              <a:rPr lang="es-VE" sz="2362" noProof="0">
                <a:latin typeface="Merriweather" panose="00000500000000000000" pitchFamily="2" charset="0"/>
                <a:ea typeface="Arial" pitchFamily="34" charset="-122"/>
                <a:cs typeface="Arial" pitchFamily="34" charset="-120"/>
              </a:rPr>
              <a:t>No existe una correlación significativa entre la calidad de la planificación y la tasa de culminación de los proyectos (Ratio ACA).</a:t>
            </a:r>
            <a:endParaRPr lang="es-VE" sz="2362" noProof="0">
              <a:latin typeface="Merriweather" panose="00000500000000000000" pitchFamily="2" charset="0"/>
            </a:endParaRPr>
          </a:p>
        </p:txBody>
      </p:sp>
      <p:sp>
        <p:nvSpPr>
          <p:cNvPr id="32" name="Text 11"/>
          <p:cNvSpPr/>
          <p:nvPr/>
        </p:nvSpPr>
        <p:spPr>
          <a:xfrm>
            <a:off x="7200106" y="4744419"/>
            <a:ext cx="7184111" cy="450007"/>
          </a:xfrm>
          <a:prstGeom prst="rect">
            <a:avLst/>
          </a:prstGeom>
          <a:noFill/>
          <a:ln/>
        </p:spPr>
        <p:txBody>
          <a:bodyPr wrap="square" lIns="0" tIns="0" rIns="0" bIns="0" rtlCol="0" anchor="t"/>
          <a:lstStyle/>
          <a:p>
            <a:pPr algn="ctr">
              <a:lnSpc>
                <a:spcPts val="3543"/>
              </a:lnSpc>
            </a:pPr>
            <a:r>
              <a:rPr lang="en-US" sz="2362" b="1" dirty="0">
                <a:latin typeface="Montserrat" panose="00000500000000000000" pitchFamily="2" charset="0"/>
                <a:ea typeface="Arial" pitchFamily="34" charset="-122"/>
                <a:cs typeface="Arial" pitchFamily="34" charset="-120"/>
              </a:rPr>
              <a:t>Diagnóstico vs. Ejecución</a:t>
            </a:r>
            <a:endParaRPr lang="en-US" sz="2362" b="1" dirty="0">
              <a:latin typeface="Montserrat" panose="00000500000000000000" pitchFamily="2" charset="0"/>
            </a:endParaRPr>
          </a:p>
        </p:txBody>
      </p:sp>
      <p:sp>
        <p:nvSpPr>
          <p:cNvPr id="33" name="Text 12"/>
          <p:cNvSpPr/>
          <p:nvPr/>
        </p:nvSpPr>
        <p:spPr>
          <a:xfrm>
            <a:off x="8118119" y="5444783"/>
            <a:ext cx="6030089" cy="450007"/>
          </a:xfrm>
          <a:prstGeom prst="rect">
            <a:avLst/>
          </a:prstGeom>
          <a:noFill/>
          <a:ln/>
        </p:spPr>
        <p:txBody>
          <a:bodyPr wrap="square" lIns="0" tIns="0" rIns="0" bIns="0" rtlCol="0" anchor="t"/>
          <a:lstStyle/>
          <a:p>
            <a:pPr>
              <a:lnSpc>
                <a:spcPts val="3543"/>
              </a:lnSpc>
            </a:pPr>
            <a:r>
              <a:rPr lang="en-US" sz="2362" b="1" dirty="0">
                <a:latin typeface="Arial" pitchFamily="34" charset="0"/>
                <a:ea typeface="Arial" pitchFamily="34" charset="-122"/>
                <a:cs typeface="Arial" pitchFamily="34" charset="-120"/>
              </a:rPr>
              <a:t>Conclusión</a:t>
            </a:r>
            <a:endParaRPr lang="en-US" sz="2362" dirty="0"/>
          </a:p>
        </p:txBody>
      </p:sp>
      <p:sp>
        <p:nvSpPr>
          <p:cNvPr id="34" name="Text 13"/>
          <p:cNvSpPr/>
          <p:nvPr/>
        </p:nvSpPr>
        <p:spPr>
          <a:xfrm>
            <a:off x="7682646" y="5951432"/>
            <a:ext cx="6465562" cy="2648018"/>
          </a:xfrm>
          <a:prstGeom prst="rect">
            <a:avLst/>
          </a:prstGeom>
          <a:noFill/>
          <a:ln/>
        </p:spPr>
        <p:txBody>
          <a:bodyPr wrap="square" lIns="0" tIns="0" rIns="0" bIns="0" rtlCol="0" anchor="t"/>
          <a:lstStyle/>
          <a:p>
            <a:pPr algn="just"/>
            <a:r>
              <a:rPr lang="es-VE" sz="2400" noProof="0" dirty="0">
                <a:solidFill>
                  <a:srgbClr val="000000"/>
                </a:solidFill>
                <a:latin typeface="Merriweather" panose="00000500000000000000" pitchFamily="2" charset="0"/>
                <a:ea typeface="ui-sans-serif" pitchFamily="34" charset="-122"/>
                <a:cs typeface="ui-sans-serif" pitchFamily="34" charset="-120"/>
              </a:rPr>
              <a:t>Refleja la "burocratización" del sistema (Koerner, 2020), donde el sistema prioriza el procedimiento burocrático sobre la resolución efectiva de problemas</a:t>
            </a:r>
            <a:r>
              <a:rPr lang="es-VE" sz="2400" dirty="0">
                <a:solidFill>
                  <a:srgbClr val="000000"/>
                </a:solidFill>
                <a:latin typeface="Merriweather" panose="00000500000000000000" pitchFamily="2" charset="0"/>
                <a:ea typeface="ui-sans-serif" pitchFamily="34" charset="-122"/>
                <a:cs typeface="Arial" pitchFamily="34" charset="-120"/>
              </a:rPr>
              <a:t>.</a:t>
            </a:r>
          </a:p>
          <a:p>
            <a:pPr algn="just"/>
            <a:endParaRPr lang="en-US" sz="2400" dirty="0">
              <a:latin typeface="Merriweather" panose="00000500000000000000" pitchFamily="2" charset="0"/>
              <a:ea typeface="Arial" pitchFamily="34" charset="-122"/>
              <a:cs typeface="Arial" pitchFamily="34" charset="-120"/>
            </a:endParaRPr>
          </a:p>
          <a:p>
            <a:pPr algn="just"/>
            <a:r>
              <a:rPr lang="es-VE" sz="2400" b="1" i="1" noProof="0" dirty="0">
                <a:latin typeface="Merriweather" panose="00000500000000000000" pitchFamily="2" charset="0"/>
                <a:ea typeface="Arial" pitchFamily="34" charset="-122"/>
                <a:cs typeface="Arial" pitchFamily="34" charset="-120"/>
              </a:rPr>
              <a:t>El problema no es "qué" o "quién", sino "cómo" se ejecuta.</a:t>
            </a:r>
          </a:p>
          <a:p>
            <a:pPr>
              <a:lnSpc>
                <a:spcPts val="3543"/>
              </a:lnSpc>
            </a:pPr>
            <a:endParaRPr lang="en-US" sz="2000" dirty="0">
              <a:latin typeface="Merriweather" panose="00000500000000000000" pitchFamily="2" charset="0"/>
              <a:cs typeface="Arial" pitchFamily="34" charset="-120"/>
            </a:endParaRPr>
          </a:p>
          <a:p>
            <a:pPr>
              <a:lnSpc>
                <a:spcPts val="3543"/>
              </a:lnSpc>
            </a:pPr>
            <a:endParaRPr lang="en-US" sz="2362" dirty="0">
              <a:latin typeface="Merriweather" panose="00000500000000000000" pitchFamily="2" charset="0"/>
            </a:endParaRPr>
          </a:p>
        </p:txBody>
      </p:sp>
      <p:sp>
        <p:nvSpPr>
          <p:cNvPr id="35" name="Text 0">
            <a:extLst>
              <a:ext uri="{FF2B5EF4-FFF2-40B4-BE49-F238E27FC236}">
                <a16:creationId xmlns:a16="http://schemas.microsoft.com/office/drawing/2014/main" id="{C72862BD-1DD5-FB5C-9BCC-0F09878C335B}"/>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V</a:t>
            </a:r>
          </a:p>
          <a:p>
            <a:pPr>
              <a:lnSpc>
                <a:spcPts val="2480"/>
              </a:lnSpc>
            </a:pPr>
            <a:endParaRPr lang="en-US" sz="1594" b="1" kern="0" spc="64" dirty="0">
              <a:latin typeface="Montserrat" panose="00000500000000000000" pitchFamily="2" charset="0"/>
              <a:ea typeface="Arial" pitchFamily="34" charset="-122"/>
              <a:cs typeface="Arial" pitchFamily="34" charset="-120"/>
            </a:endParaRPr>
          </a:p>
        </p:txBody>
      </p:sp>
      <p:sp>
        <p:nvSpPr>
          <p:cNvPr id="37" name="CuadroTexto 36">
            <a:extLst>
              <a:ext uri="{FF2B5EF4-FFF2-40B4-BE49-F238E27FC236}">
                <a16:creationId xmlns:a16="http://schemas.microsoft.com/office/drawing/2014/main" id="{DDCE57AA-1A47-0D9D-1DA6-AE484FBC26DC}"/>
              </a:ext>
            </a:extLst>
          </p:cNvPr>
          <p:cNvSpPr txBox="1"/>
          <p:nvPr/>
        </p:nvSpPr>
        <p:spPr>
          <a:xfrm>
            <a:off x="154131" y="1119562"/>
            <a:ext cx="14104794" cy="461665"/>
          </a:xfrm>
          <a:prstGeom prst="rect">
            <a:avLst/>
          </a:prstGeom>
          <a:noFill/>
        </p:spPr>
        <p:txBody>
          <a:bodyPr wrap="square">
            <a:spAutoFit/>
          </a:bodyPr>
          <a:lstStyle/>
          <a:p>
            <a:pPr algn="ctr"/>
            <a:r>
              <a:rPr lang="es-VE" sz="2400" b="1" i="1" dirty="0">
                <a:solidFill>
                  <a:srgbClr val="000000"/>
                </a:solidFill>
                <a:latin typeface="Merriweather" panose="00000500000000000000" pitchFamily="2" charset="0"/>
                <a:ea typeface="Arial" pitchFamily="34" charset="-122"/>
                <a:cs typeface="Mongolian Baiti" panose="03000500000000000000" pitchFamily="66" charset="0"/>
              </a:rPr>
              <a:t>¿Existe una desconexión entre el diagnóstico y la ejecución de las ACA?</a:t>
            </a:r>
            <a:endParaRPr lang="es-VE" sz="2400" i="1" dirty="0">
              <a:latin typeface="Merriweather" panose="00000500000000000000" pitchFamily="2" charset="0"/>
            </a:endParaRPr>
          </a:p>
        </p:txBody>
      </p:sp>
      <p:pic>
        <p:nvPicPr>
          <p:cNvPr id="39" name="Image 3" descr="preencoded.png">
            <a:extLst>
              <a:ext uri="{FF2B5EF4-FFF2-40B4-BE49-F238E27FC236}">
                <a16:creationId xmlns:a16="http://schemas.microsoft.com/office/drawing/2014/main" id="{7284291B-1DBF-5A63-E584-8FD7A2D0B9FF}"/>
              </a:ext>
            </a:extLst>
          </p:cNvPr>
          <p:cNvPicPr>
            <a:picLocks noChangeAspect="1"/>
          </p:cNvPicPr>
          <p:nvPr/>
        </p:nvPicPr>
        <p:blipFill>
          <a:blip r:embed="rId19"/>
          <a:stretch>
            <a:fillRect/>
          </a:stretch>
        </p:blipFill>
        <p:spPr>
          <a:xfrm>
            <a:off x="18499" y="6153544"/>
            <a:ext cx="2655039" cy="2880043"/>
          </a:xfrm>
          <a:prstGeom prst="rect">
            <a:avLst/>
          </a:prstGeom>
        </p:spPr>
      </p:pic>
      <p:pic>
        <p:nvPicPr>
          <p:cNvPr id="40" name="Image 2" descr="preencoded.png">
            <a:extLst>
              <a:ext uri="{FF2B5EF4-FFF2-40B4-BE49-F238E27FC236}">
                <a16:creationId xmlns:a16="http://schemas.microsoft.com/office/drawing/2014/main" id="{2012E356-180B-6E4E-F2E4-250BD5EF9FC3}"/>
              </a:ext>
            </a:extLst>
          </p:cNvPr>
          <p:cNvPicPr>
            <a:picLocks noChangeAspect="1"/>
          </p:cNvPicPr>
          <p:nvPr/>
        </p:nvPicPr>
        <p:blipFill>
          <a:blip r:embed="rId20"/>
          <a:stretch>
            <a:fillRect/>
          </a:stretch>
        </p:blipFill>
        <p:spPr>
          <a:xfrm>
            <a:off x="-11219" y="64059"/>
            <a:ext cx="3757555" cy="2632539"/>
          </a:xfrm>
          <a:prstGeom prst="rect">
            <a:avLst/>
          </a:prstGeom>
        </p:spPr>
      </p:pic>
      <p:pic>
        <p:nvPicPr>
          <p:cNvPr id="41" name="Image 16" descr="preencoded.png">
            <a:extLst>
              <a:ext uri="{FF2B5EF4-FFF2-40B4-BE49-F238E27FC236}">
                <a16:creationId xmlns:a16="http://schemas.microsoft.com/office/drawing/2014/main" id="{CC7430D6-6BA0-9307-E870-B05D8AF568CA}"/>
              </a:ext>
            </a:extLst>
          </p:cNvPr>
          <p:cNvPicPr>
            <a:picLocks noChangeAspect="1"/>
          </p:cNvPicPr>
          <p:nvPr/>
        </p:nvPicPr>
        <p:blipFill>
          <a:blip r:embed="rId21"/>
          <a:stretch>
            <a:fillRect/>
          </a:stretch>
        </p:blipFill>
        <p:spPr>
          <a:xfrm>
            <a:off x="60218" y="8604364"/>
            <a:ext cx="258067" cy="258067"/>
          </a:xfrm>
          <a:prstGeom prst="rect">
            <a:avLst/>
          </a:prstGeom>
        </p:spPr>
      </p:pic>
      <p:pic>
        <p:nvPicPr>
          <p:cNvPr id="42" name="Image 17" descr="preencoded.png">
            <a:extLst>
              <a:ext uri="{FF2B5EF4-FFF2-40B4-BE49-F238E27FC236}">
                <a16:creationId xmlns:a16="http://schemas.microsoft.com/office/drawing/2014/main" id="{53232A20-8FB5-873F-D347-97254834FF64}"/>
              </a:ext>
            </a:extLst>
          </p:cNvPr>
          <p:cNvPicPr>
            <a:picLocks noChangeAspect="1"/>
          </p:cNvPicPr>
          <p:nvPr/>
        </p:nvPicPr>
        <p:blipFill>
          <a:blip r:embed="rId22"/>
          <a:stretch>
            <a:fillRect/>
          </a:stretch>
        </p:blipFill>
        <p:spPr>
          <a:xfrm>
            <a:off x="-15996" y="-7645"/>
            <a:ext cx="14400213" cy="90001"/>
          </a:xfrm>
          <a:prstGeom prst="rect">
            <a:avLst/>
          </a:prstGeom>
        </p:spPr>
      </p:pic>
      <p:pic>
        <p:nvPicPr>
          <p:cNvPr id="43" name="Image 18" descr="preencoded.png">
            <a:extLst>
              <a:ext uri="{FF2B5EF4-FFF2-40B4-BE49-F238E27FC236}">
                <a16:creationId xmlns:a16="http://schemas.microsoft.com/office/drawing/2014/main" id="{231D13E7-E59F-3072-E127-EF5D6C10EEA1}"/>
              </a:ext>
            </a:extLst>
          </p:cNvPr>
          <p:cNvPicPr>
            <a:picLocks noChangeAspect="1"/>
          </p:cNvPicPr>
          <p:nvPr/>
        </p:nvPicPr>
        <p:blipFill>
          <a:blip r:embed="rId23"/>
          <a:stretch>
            <a:fillRect/>
          </a:stretch>
        </p:blipFill>
        <p:spPr>
          <a:xfrm>
            <a:off x="-1" y="8902813"/>
            <a:ext cx="14400213" cy="90001"/>
          </a:xfrm>
          <a:prstGeom prst="rect">
            <a:avLst/>
          </a:prstGeom>
        </p:spPr>
      </p:pic>
      <p:sp>
        <p:nvSpPr>
          <p:cNvPr id="44" name="Text 7">
            <a:extLst>
              <a:ext uri="{FF2B5EF4-FFF2-40B4-BE49-F238E27FC236}">
                <a16:creationId xmlns:a16="http://schemas.microsoft.com/office/drawing/2014/main" id="{855358E5-8A48-99E2-E77F-BEE1991796D5}"/>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1" y="899716"/>
            <a:ext cx="14400213" cy="810012"/>
          </a:xfrm>
          <a:prstGeom prst="rect">
            <a:avLst/>
          </a:prstGeom>
        </p:spPr>
      </p:pic>
      <p:pic>
        <p:nvPicPr>
          <p:cNvPr id="5" name="Image 3" descr="preencoded.png"/>
          <p:cNvPicPr>
            <a:picLocks noChangeAspect="1"/>
          </p:cNvPicPr>
          <p:nvPr/>
        </p:nvPicPr>
        <p:blipFill>
          <a:blip r:embed="rId4"/>
          <a:stretch>
            <a:fillRect/>
          </a:stretch>
        </p:blipFill>
        <p:spPr>
          <a:xfrm>
            <a:off x="126826" y="2407325"/>
            <a:ext cx="6705099" cy="3150046"/>
          </a:xfrm>
          <a:prstGeom prst="rect">
            <a:avLst/>
          </a:prstGeom>
        </p:spPr>
      </p:pic>
      <p:pic>
        <p:nvPicPr>
          <p:cNvPr id="6" name="Image 4" descr="preencoded.png"/>
          <p:cNvPicPr>
            <a:picLocks noChangeAspect="1"/>
          </p:cNvPicPr>
          <p:nvPr/>
        </p:nvPicPr>
        <p:blipFill>
          <a:blip r:embed="rId5"/>
          <a:stretch>
            <a:fillRect/>
          </a:stretch>
        </p:blipFill>
        <p:spPr>
          <a:xfrm>
            <a:off x="351829" y="2632328"/>
            <a:ext cx="675010" cy="675010"/>
          </a:xfrm>
          <a:prstGeom prst="rect">
            <a:avLst/>
          </a:prstGeom>
        </p:spPr>
      </p:pic>
      <p:pic>
        <p:nvPicPr>
          <p:cNvPr id="8" name="Image 6" descr="preencoded.png"/>
          <p:cNvPicPr>
            <a:picLocks noChangeAspect="1"/>
          </p:cNvPicPr>
          <p:nvPr/>
        </p:nvPicPr>
        <p:blipFill>
          <a:blip r:embed="rId6"/>
          <a:stretch>
            <a:fillRect/>
          </a:stretch>
        </p:blipFill>
        <p:spPr>
          <a:xfrm>
            <a:off x="216507" y="5423885"/>
            <a:ext cx="6255092" cy="112502"/>
          </a:xfrm>
          <a:prstGeom prst="rect">
            <a:avLst/>
          </a:prstGeom>
        </p:spPr>
      </p:pic>
      <p:pic>
        <p:nvPicPr>
          <p:cNvPr id="9" name="Image 7" descr="preencoded.png"/>
          <p:cNvPicPr>
            <a:picLocks noChangeAspect="1"/>
          </p:cNvPicPr>
          <p:nvPr/>
        </p:nvPicPr>
        <p:blipFill>
          <a:blip r:embed="rId7"/>
          <a:stretch>
            <a:fillRect/>
          </a:stretch>
        </p:blipFill>
        <p:spPr>
          <a:xfrm>
            <a:off x="7478607" y="2390655"/>
            <a:ext cx="6705099" cy="3150046"/>
          </a:xfrm>
          <a:prstGeom prst="rect">
            <a:avLst/>
          </a:prstGeom>
        </p:spPr>
      </p:pic>
      <p:pic>
        <p:nvPicPr>
          <p:cNvPr id="10" name="Image 8" descr="preencoded.png"/>
          <p:cNvPicPr>
            <a:picLocks noChangeAspect="1"/>
          </p:cNvPicPr>
          <p:nvPr/>
        </p:nvPicPr>
        <p:blipFill>
          <a:blip r:embed="rId8"/>
          <a:stretch>
            <a:fillRect/>
          </a:stretch>
        </p:blipFill>
        <p:spPr>
          <a:xfrm>
            <a:off x="7703610" y="2615658"/>
            <a:ext cx="675010" cy="675010"/>
          </a:xfrm>
          <a:prstGeom prst="rect">
            <a:avLst/>
          </a:prstGeom>
        </p:spPr>
      </p:pic>
      <p:pic>
        <p:nvPicPr>
          <p:cNvPr id="11" name="Image 9" descr="preencoded.png"/>
          <p:cNvPicPr>
            <a:picLocks noChangeAspect="1"/>
          </p:cNvPicPr>
          <p:nvPr/>
        </p:nvPicPr>
        <p:blipFill>
          <a:blip r:embed="rId9"/>
          <a:stretch>
            <a:fillRect/>
          </a:stretch>
        </p:blipFill>
        <p:spPr>
          <a:xfrm>
            <a:off x="7849862" y="2750660"/>
            <a:ext cx="382506" cy="405006"/>
          </a:xfrm>
          <a:prstGeom prst="rect">
            <a:avLst/>
          </a:prstGeom>
        </p:spPr>
      </p:pic>
      <p:pic>
        <p:nvPicPr>
          <p:cNvPr id="12" name="Image 10" descr="preencoded.png"/>
          <p:cNvPicPr>
            <a:picLocks noChangeAspect="1"/>
          </p:cNvPicPr>
          <p:nvPr/>
        </p:nvPicPr>
        <p:blipFill>
          <a:blip r:embed="rId10"/>
          <a:stretch>
            <a:fillRect/>
          </a:stretch>
        </p:blipFill>
        <p:spPr>
          <a:xfrm>
            <a:off x="7773361" y="5390775"/>
            <a:ext cx="6255092" cy="112502"/>
          </a:xfrm>
          <a:prstGeom prst="rect">
            <a:avLst/>
          </a:prstGeom>
        </p:spPr>
      </p:pic>
      <p:pic>
        <p:nvPicPr>
          <p:cNvPr id="13" name="Image 11" descr="preencoded.png"/>
          <p:cNvPicPr>
            <a:picLocks noChangeAspect="1"/>
          </p:cNvPicPr>
          <p:nvPr/>
        </p:nvPicPr>
        <p:blipFill>
          <a:blip r:embed="rId11"/>
          <a:stretch>
            <a:fillRect/>
          </a:stretch>
        </p:blipFill>
        <p:spPr>
          <a:xfrm>
            <a:off x="7773362" y="5390775"/>
            <a:ext cx="3383839" cy="112502"/>
          </a:xfrm>
          <a:prstGeom prst="rect">
            <a:avLst/>
          </a:prstGeom>
        </p:spPr>
      </p:pic>
      <p:pic>
        <p:nvPicPr>
          <p:cNvPr id="14" name="Image 12" descr="preencoded.png"/>
          <p:cNvPicPr>
            <a:picLocks noChangeAspect="1"/>
          </p:cNvPicPr>
          <p:nvPr/>
        </p:nvPicPr>
        <p:blipFill>
          <a:blip r:embed="rId12"/>
          <a:stretch>
            <a:fillRect/>
          </a:stretch>
        </p:blipFill>
        <p:spPr>
          <a:xfrm>
            <a:off x="31007" y="5699873"/>
            <a:ext cx="14369205" cy="3252418"/>
          </a:xfrm>
          <a:prstGeom prst="rect">
            <a:avLst/>
          </a:prstGeom>
        </p:spPr>
      </p:pic>
      <p:pic>
        <p:nvPicPr>
          <p:cNvPr id="15" name="Image 13" descr="preencoded.png"/>
          <p:cNvPicPr>
            <a:picLocks noChangeAspect="1"/>
          </p:cNvPicPr>
          <p:nvPr/>
        </p:nvPicPr>
        <p:blipFill>
          <a:blip r:embed="rId13"/>
          <a:stretch>
            <a:fillRect/>
          </a:stretch>
        </p:blipFill>
        <p:spPr>
          <a:xfrm>
            <a:off x="585008" y="6344796"/>
            <a:ext cx="675010" cy="675010"/>
          </a:xfrm>
          <a:prstGeom prst="rect">
            <a:avLst/>
          </a:prstGeom>
        </p:spPr>
      </p:pic>
      <p:pic>
        <p:nvPicPr>
          <p:cNvPr id="16" name="Image 14" descr="preencoded.png"/>
          <p:cNvPicPr>
            <a:picLocks noChangeAspect="1"/>
          </p:cNvPicPr>
          <p:nvPr/>
        </p:nvPicPr>
        <p:blipFill>
          <a:blip r:embed="rId14"/>
          <a:stretch>
            <a:fillRect/>
          </a:stretch>
        </p:blipFill>
        <p:spPr>
          <a:xfrm>
            <a:off x="708760" y="6479798"/>
            <a:ext cx="427506" cy="405006"/>
          </a:xfrm>
          <a:prstGeom prst="rect">
            <a:avLst/>
          </a:prstGeom>
        </p:spPr>
      </p:pic>
      <p:pic>
        <p:nvPicPr>
          <p:cNvPr id="17" name="Image 15" descr="preencoded.png"/>
          <p:cNvPicPr>
            <a:picLocks noChangeAspect="1"/>
          </p:cNvPicPr>
          <p:nvPr/>
        </p:nvPicPr>
        <p:blipFill>
          <a:blip r:embed="rId15"/>
          <a:stretch>
            <a:fillRect/>
          </a:stretch>
        </p:blipFill>
        <p:spPr>
          <a:xfrm>
            <a:off x="3361280" y="8135605"/>
            <a:ext cx="303754" cy="360005"/>
          </a:xfrm>
          <a:prstGeom prst="rect">
            <a:avLst/>
          </a:prstGeom>
        </p:spPr>
      </p:pic>
      <p:pic>
        <p:nvPicPr>
          <p:cNvPr id="18" name="Image 16" descr="preencoded.png"/>
          <p:cNvPicPr>
            <a:picLocks noChangeAspect="1"/>
          </p:cNvPicPr>
          <p:nvPr/>
        </p:nvPicPr>
        <p:blipFill>
          <a:blip r:embed="rId16"/>
          <a:stretch>
            <a:fillRect/>
          </a:stretch>
        </p:blipFill>
        <p:spPr>
          <a:xfrm>
            <a:off x="7145274" y="8135605"/>
            <a:ext cx="213753" cy="405006"/>
          </a:xfrm>
          <a:prstGeom prst="rect">
            <a:avLst/>
          </a:prstGeom>
        </p:spPr>
      </p:pic>
      <p:pic>
        <p:nvPicPr>
          <p:cNvPr id="19" name="Image 17" descr="preencoded.png"/>
          <p:cNvPicPr>
            <a:picLocks noChangeAspect="1"/>
          </p:cNvPicPr>
          <p:nvPr/>
        </p:nvPicPr>
        <p:blipFill>
          <a:blip r:embed="rId17"/>
          <a:stretch>
            <a:fillRect/>
          </a:stretch>
        </p:blipFill>
        <p:spPr>
          <a:xfrm>
            <a:off x="8382459" y="8134967"/>
            <a:ext cx="270004" cy="360005"/>
          </a:xfrm>
          <a:prstGeom prst="rect">
            <a:avLst/>
          </a:prstGeom>
        </p:spPr>
      </p:pic>
      <p:sp>
        <p:nvSpPr>
          <p:cNvPr id="21" name="Text 0"/>
          <p:cNvSpPr/>
          <p:nvPr/>
        </p:nvSpPr>
        <p:spPr>
          <a:xfrm>
            <a:off x="0" y="1079718"/>
            <a:ext cx="14384217" cy="450007"/>
          </a:xfrm>
          <a:prstGeom prst="rect">
            <a:avLst/>
          </a:prstGeom>
          <a:noFill/>
          <a:ln/>
        </p:spPr>
        <p:txBody>
          <a:bodyPr wrap="square" lIns="0" tIns="0" rIns="0" bIns="0" rtlCol="0" anchor="t"/>
          <a:lstStyle/>
          <a:p>
            <a:pPr algn="ctr">
              <a:lnSpc>
                <a:spcPts val="3543"/>
              </a:lnSpc>
            </a:pPr>
            <a:r>
              <a:rPr lang="en-US" sz="2400" b="1" dirty="0">
                <a:solidFill>
                  <a:srgbClr val="000000"/>
                </a:solidFill>
                <a:latin typeface="Montserrat" panose="00000500000000000000" pitchFamily="2" charset="0"/>
                <a:ea typeface="Arial" pitchFamily="34" charset="-122"/>
                <a:cs typeface="Arial" pitchFamily="34" charset="-120"/>
              </a:rPr>
              <a:t>¿Gestionan todas las comunas sus proyectos de la misma manera?</a:t>
            </a:r>
            <a:endParaRPr lang="en-US" sz="2400" dirty="0">
              <a:latin typeface="Montserrat" panose="00000500000000000000" pitchFamily="2" charset="0"/>
            </a:endParaRPr>
          </a:p>
        </p:txBody>
      </p:sp>
      <p:sp>
        <p:nvSpPr>
          <p:cNvPr id="22" name="Text 1"/>
          <p:cNvSpPr/>
          <p:nvPr/>
        </p:nvSpPr>
        <p:spPr>
          <a:xfrm>
            <a:off x="150922" y="1866429"/>
            <a:ext cx="14416210" cy="450007"/>
          </a:xfrm>
          <a:prstGeom prst="rect">
            <a:avLst/>
          </a:prstGeom>
          <a:noFill/>
          <a:ln/>
        </p:spPr>
        <p:txBody>
          <a:bodyPr wrap="square" lIns="0" tIns="0" rIns="0" bIns="0" rtlCol="0" anchor="t"/>
          <a:lstStyle/>
          <a:p>
            <a:pPr algn="ctr">
              <a:lnSpc>
                <a:spcPts val="3543"/>
              </a:lnSpc>
            </a:pPr>
            <a:r>
              <a:rPr lang="en-US" sz="2100" b="1" dirty="0">
                <a:solidFill>
                  <a:srgbClr val="1F2937"/>
                </a:solidFill>
                <a:latin typeface="Merriweather" panose="00000500000000000000" pitchFamily="2" charset="0"/>
                <a:ea typeface="Arial" pitchFamily="34" charset="-122"/>
                <a:cs typeface="Arial" pitchFamily="34" charset="-120"/>
              </a:rPr>
              <a:t>No, existen modelos de gestión territorial claramente diferenciados</a:t>
            </a:r>
            <a:endParaRPr lang="en-US" sz="2100" dirty="0">
              <a:latin typeface="Merriweather" panose="00000500000000000000" pitchFamily="2" charset="0"/>
            </a:endParaRPr>
          </a:p>
        </p:txBody>
      </p:sp>
      <p:sp>
        <p:nvSpPr>
          <p:cNvPr id="23" name="Text 2"/>
          <p:cNvSpPr/>
          <p:nvPr/>
        </p:nvSpPr>
        <p:spPr>
          <a:xfrm>
            <a:off x="1161841" y="2744829"/>
            <a:ext cx="4579943" cy="450007"/>
          </a:xfrm>
          <a:prstGeom prst="rect">
            <a:avLst/>
          </a:prstGeom>
          <a:noFill/>
          <a:ln/>
        </p:spPr>
        <p:txBody>
          <a:bodyPr wrap="square" lIns="0" tIns="0" rIns="0" bIns="0" rtlCol="0" anchor="t"/>
          <a:lstStyle/>
          <a:p>
            <a:pPr>
              <a:lnSpc>
                <a:spcPts val="3543"/>
              </a:lnSpc>
            </a:pPr>
            <a:r>
              <a:rPr lang="en-US" sz="2362" b="1" dirty="0">
                <a:solidFill>
                  <a:srgbClr val="14532D"/>
                </a:solidFill>
                <a:latin typeface="Montserrat" panose="00000500000000000000" pitchFamily="2" charset="0"/>
                <a:ea typeface="Arial" pitchFamily="34" charset="-122"/>
                <a:cs typeface="Arial" pitchFamily="34" charset="-120"/>
              </a:rPr>
              <a:t>Comunas Rurales y Mixtas</a:t>
            </a:r>
            <a:endParaRPr lang="en-US" sz="2362" dirty="0">
              <a:latin typeface="Montserrat" panose="00000500000000000000" pitchFamily="2" charset="0"/>
            </a:endParaRPr>
          </a:p>
        </p:txBody>
      </p:sp>
      <p:sp>
        <p:nvSpPr>
          <p:cNvPr id="24" name="Text 3"/>
          <p:cNvSpPr/>
          <p:nvPr/>
        </p:nvSpPr>
        <p:spPr>
          <a:xfrm>
            <a:off x="312702" y="3354008"/>
            <a:ext cx="6491313" cy="1235849"/>
          </a:xfrm>
          <a:prstGeom prst="rect">
            <a:avLst/>
          </a:prstGeom>
          <a:noFill/>
          <a:ln/>
        </p:spPr>
        <p:txBody>
          <a:bodyPr wrap="square" lIns="0" tIns="0" rIns="0" bIns="0" rtlCol="0" anchor="t"/>
          <a:lstStyle/>
          <a:p>
            <a:pPr>
              <a:lnSpc>
                <a:spcPts val="3543"/>
              </a:lnSpc>
            </a:pPr>
            <a:r>
              <a:rPr lang="en-US" sz="2362" dirty="0">
                <a:solidFill>
                  <a:srgbClr val="1F2937"/>
                </a:solidFill>
                <a:latin typeface="Merriweather" panose="00000500000000000000" pitchFamily="2" charset="0"/>
                <a:ea typeface="Arial" pitchFamily="34" charset="-122"/>
                <a:cs typeface="Arial" pitchFamily="34" charset="-120"/>
              </a:rPr>
              <a:t>Operan con una eficiencia casi perfecta. A más proyectos, mayor diversidad institucional.</a:t>
            </a:r>
            <a:endParaRPr lang="en-US" sz="2362" dirty="0">
              <a:latin typeface="Merriweather" panose="00000500000000000000" pitchFamily="2" charset="0"/>
            </a:endParaRPr>
          </a:p>
        </p:txBody>
      </p:sp>
      <p:sp>
        <p:nvSpPr>
          <p:cNvPr id="25" name="Text 4"/>
          <p:cNvSpPr/>
          <p:nvPr/>
        </p:nvSpPr>
        <p:spPr>
          <a:xfrm>
            <a:off x="216507" y="4883877"/>
            <a:ext cx="2119743" cy="450007"/>
          </a:xfrm>
          <a:prstGeom prst="rect">
            <a:avLst/>
          </a:prstGeom>
          <a:noFill/>
          <a:ln/>
        </p:spPr>
        <p:txBody>
          <a:bodyPr wrap="square" lIns="0" tIns="0" rIns="0" bIns="0" rtlCol="0" anchor="t"/>
          <a:lstStyle/>
          <a:p>
            <a:pPr>
              <a:lnSpc>
                <a:spcPts val="3543"/>
              </a:lnSpc>
            </a:pPr>
            <a:r>
              <a:rPr lang="en-US" sz="2362" b="1" dirty="0">
                <a:solidFill>
                  <a:srgbClr val="1F2937"/>
                </a:solidFill>
                <a:latin typeface="Merriweather" panose="00000500000000000000" pitchFamily="2" charset="0"/>
                <a:ea typeface="Arial" pitchFamily="34" charset="-122"/>
                <a:cs typeface="Arial" pitchFamily="34" charset="-120"/>
              </a:rPr>
              <a:t>Correlación:</a:t>
            </a:r>
            <a:endParaRPr lang="en-US" sz="2362" dirty="0">
              <a:latin typeface="Merriweather" panose="00000500000000000000" pitchFamily="2" charset="0"/>
            </a:endParaRPr>
          </a:p>
        </p:txBody>
      </p:sp>
      <p:sp>
        <p:nvSpPr>
          <p:cNvPr id="26" name="Text 5"/>
          <p:cNvSpPr/>
          <p:nvPr/>
        </p:nvSpPr>
        <p:spPr>
          <a:xfrm>
            <a:off x="2072960" y="4883877"/>
            <a:ext cx="2880394" cy="450007"/>
          </a:xfrm>
          <a:prstGeom prst="rect">
            <a:avLst/>
          </a:prstGeom>
          <a:noFill/>
          <a:ln/>
        </p:spPr>
        <p:txBody>
          <a:bodyPr wrap="square" lIns="0" tIns="0" rIns="0" bIns="0" rtlCol="0" anchor="t"/>
          <a:lstStyle/>
          <a:p>
            <a:pPr>
              <a:lnSpc>
                <a:spcPts val="3543"/>
              </a:lnSpc>
            </a:pPr>
            <a:r>
              <a:rPr lang="en-US" sz="2362" b="1" dirty="0">
                <a:solidFill>
                  <a:srgbClr val="14532D"/>
                </a:solidFill>
                <a:latin typeface="Merriweather" panose="00000500000000000000" pitchFamily="2" charset="0"/>
                <a:ea typeface="Arial" pitchFamily="34" charset="-122"/>
                <a:cs typeface="Arial" pitchFamily="34" charset="-120"/>
              </a:rPr>
              <a:t> ρ ≈ 1.0 (Perfecta)</a:t>
            </a:r>
            <a:endParaRPr lang="en-US" sz="2362" dirty="0">
              <a:latin typeface="Merriweather" panose="00000500000000000000" pitchFamily="2" charset="0"/>
            </a:endParaRPr>
          </a:p>
        </p:txBody>
      </p:sp>
      <p:sp>
        <p:nvSpPr>
          <p:cNvPr id="27" name="Text 6"/>
          <p:cNvSpPr/>
          <p:nvPr/>
        </p:nvSpPr>
        <p:spPr>
          <a:xfrm>
            <a:off x="8513623" y="2728159"/>
            <a:ext cx="4960057" cy="450007"/>
          </a:xfrm>
          <a:prstGeom prst="rect">
            <a:avLst/>
          </a:prstGeom>
          <a:noFill/>
          <a:ln/>
        </p:spPr>
        <p:txBody>
          <a:bodyPr wrap="square" lIns="0" tIns="0" rIns="0" bIns="0" rtlCol="0" anchor="t"/>
          <a:lstStyle/>
          <a:p>
            <a:pPr>
              <a:lnSpc>
                <a:spcPts val="3543"/>
              </a:lnSpc>
            </a:pPr>
            <a:r>
              <a:rPr lang="en-US" sz="2362" b="1" dirty="0">
                <a:solidFill>
                  <a:srgbClr val="1D4ED8"/>
                </a:solidFill>
                <a:latin typeface="Montserrat" panose="00000500000000000000" pitchFamily="2" charset="0"/>
                <a:ea typeface="Arial" pitchFamily="34" charset="-122"/>
                <a:cs typeface="Arial" pitchFamily="34" charset="-120"/>
              </a:rPr>
              <a:t>Comunas "En Construcción"</a:t>
            </a:r>
            <a:endParaRPr lang="en-US" sz="2362" dirty="0">
              <a:latin typeface="Montserrat" panose="00000500000000000000" pitchFamily="2" charset="0"/>
            </a:endParaRPr>
          </a:p>
        </p:txBody>
      </p:sp>
      <p:sp>
        <p:nvSpPr>
          <p:cNvPr id="28" name="Text 7"/>
          <p:cNvSpPr/>
          <p:nvPr/>
        </p:nvSpPr>
        <p:spPr>
          <a:xfrm>
            <a:off x="7664482" y="3380669"/>
            <a:ext cx="6491313" cy="900013"/>
          </a:xfrm>
          <a:prstGeom prst="rect">
            <a:avLst/>
          </a:prstGeom>
          <a:noFill/>
          <a:ln/>
        </p:spPr>
        <p:txBody>
          <a:bodyPr wrap="square" lIns="0" tIns="0" rIns="0" bIns="0" rtlCol="0" anchor="t"/>
          <a:lstStyle/>
          <a:p>
            <a:pPr>
              <a:lnSpc>
                <a:spcPts val="3543"/>
              </a:lnSpc>
            </a:pPr>
            <a:r>
              <a:rPr lang="en-US" sz="2362" dirty="0">
                <a:solidFill>
                  <a:srgbClr val="1F2937"/>
                </a:solidFill>
                <a:latin typeface="Merriweather" panose="00000500000000000000" pitchFamily="2" charset="0"/>
                <a:ea typeface="Arial" pitchFamily="34" charset="-122"/>
                <a:cs typeface="Arial" pitchFamily="34" charset="-120"/>
              </a:rPr>
              <a:t>Muestran un "ciclo virtuoso". A más proyectos, mayor es su efectividad para culminarlos.</a:t>
            </a:r>
            <a:endParaRPr lang="en-US" sz="2362" dirty="0">
              <a:latin typeface="Merriweather" panose="00000500000000000000" pitchFamily="2" charset="0"/>
            </a:endParaRPr>
          </a:p>
        </p:txBody>
      </p:sp>
      <p:sp>
        <p:nvSpPr>
          <p:cNvPr id="29" name="Text 8"/>
          <p:cNvSpPr/>
          <p:nvPr/>
        </p:nvSpPr>
        <p:spPr>
          <a:xfrm>
            <a:off x="7773362" y="4850767"/>
            <a:ext cx="2119743" cy="450007"/>
          </a:xfrm>
          <a:prstGeom prst="rect">
            <a:avLst/>
          </a:prstGeom>
          <a:noFill/>
          <a:ln/>
        </p:spPr>
        <p:txBody>
          <a:bodyPr wrap="square" lIns="0" tIns="0" rIns="0" bIns="0" rtlCol="0" anchor="t"/>
          <a:lstStyle/>
          <a:p>
            <a:pPr>
              <a:lnSpc>
                <a:spcPts val="3543"/>
              </a:lnSpc>
            </a:pPr>
            <a:r>
              <a:rPr lang="en-US" sz="2362" b="1" dirty="0">
                <a:solidFill>
                  <a:srgbClr val="1F2937"/>
                </a:solidFill>
                <a:latin typeface="Merriweather" panose="00000500000000000000" pitchFamily="2" charset="0"/>
                <a:ea typeface="Arial" pitchFamily="34" charset="-122"/>
                <a:cs typeface="Arial" pitchFamily="34" charset="-120"/>
              </a:rPr>
              <a:t>Correlación: </a:t>
            </a:r>
            <a:endParaRPr lang="en-US" sz="2362" dirty="0">
              <a:latin typeface="Merriweather" panose="00000500000000000000" pitchFamily="2" charset="0"/>
            </a:endParaRPr>
          </a:p>
        </p:txBody>
      </p:sp>
      <p:sp>
        <p:nvSpPr>
          <p:cNvPr id="30" name="Text 9"/>
          <p:cNvSpPr/>
          <p:nvPr/>
        </p:nvSpPr>
        <p:spPr>
          <a:xfrm>
            <a:off x="9629815" y="4850767"/>
            <a:ext cx="3572701" cy="450007"/>
          </a:xfrm>
          <a:prstGeom prst="rect">
            <a:avLst/>
          </a:prstGeom>
          <a:noFill/>
          <a:ln/>
        </p:spPr>
        <p:txBody>
          <a:bodyPr wrap="square" lIns="0" tIns="0" rIns="0" bIns="0" rtlCol="0" anchor="t"/>
          <a:lstStyle/>
          <a:p>
            <a:pPr>
              <a:lnSpc>
                <a:spcPts val="3543"/>
              </a:lnSpc>
            </a:pPr>
            <a:r>
              <a:rPr lang="en-US" sz="2362" b="1" dirty="0">
                <a:solidFill>
                  <a:srgbClr val="1D4ED8"/>
                </a:solidFill>
                <a:latin typeface="Merriweather" panose="00000500000000000000" pitchFamily="2" charset="0"/>
                <a:ea typeface="Arial" pitchFamily="34" charset="-122"/>
                <a:cs typeface="Arial" pitchFamily="34" charset="-120"/>
              </a:rPr>
              <a:t> ρ = 0.541 (Moderada)</a:t>
            </a:r>
            <a:endParaRPr lang="en-US" sz="2362" dirty="0">
              <a:latin typeface="Merriweather" panose="00000500000000000000" pitchFamily="2" charset="0"/>
            </a:endParaRPr>
          </a:p>
        </p:txBody>
      </p:sp>
      <p:sp>
        <p:nvSpPr>
          <p:cNvPr id="31" name="Text 10"/>
          <p:cNvSpPr/>
          <p:nvPr/>
        </p:nvSpPr>
        <p:spPr>
          <a:xfrm>
            <a:off x="1395020" y="6457298"/>
            <a:ext cx="3179719" cy="450007"/>
          </a:xfrm>
          <a:prstGeom prst="rect">
            <a:avLst/>
          </a:prstGeom>
          <a:noFill/>
          <a:ln/>
        </p:spPr>
        <p:txBody>
          <a:bodyPr wrap="square" lIns="0" tIns="0" rIns="0" bIns="0" rtlCol="0" anchor="t"/>
          <a:lstStyle/>
          <a:p>
            <a:pPr>
              <a:lnSpc>
                <a:spcPts val="3543"/>
              </a:lnSpc>
            </a:pPr>
            <a:r>
              <a:rPr lang="en-US" sz="2362" b="1" dirty="0">
                <a:solidFill>
                  <a:srgbClr val="7F1D1D"/>
                </a:solidFill>
                <a:latin typeface="Montserrat" panose="00000500000000000000" pitchFamily="2" charset="0"/>
                <a:ea typeface="Arial" pitchFamily="34" charset="-122"/>
                <a:cs typeface="Arial" pitchFamily="34" charset="-120"/>
              </a:rPr>
              <a:t>Comunas Urbanas</a:t>
            </a:r>
            <a:endParaRPr lang="en-US" sz="2362" dirty="0">
              <a:latin typeface="Montserrat" panose="00000500000000000000" pitchFamily="2" charset="0"/>
            </a:endParaRPr>
          </a:p>
        </p:txBody>
      </p:sp>
      <p:sp>
        <p:nvSpPr>
          <p:cNvPr id="32" name="Text 11"/>
          <p:cNvSpPr/>
          <p:nvPr/>
        </p:nvSpPr>
        <p:spPr>
          <a:xfrm>
            <a:off x="545882" y="7109807"/>
            <a:ext cx="13729828" cy="900013"/>
          </a:xfrm>
          <a:prstGeom prst="rect">
            <a:avLst/>
          </a:prstGeom>
          <a:noFill/>
          <a:ln/>
        </p:spPr>
        <p:txBody>
          <a:bodyPr wrap="square" lIns="0" tIns="0" rIns="0" bIns="0" rtlCol="0" anchor="t"/>
          <a:lstStyle/>
          <a:p>
            <a:pPr>
              <a:lnSpc>
                <a:spcPts val="3543"/>
              </a:lnSpc>
            </a:pPr>
            <a:r>
              <a:rPr lang="en-US" sz="2362" dirty="0">
                <a:solidFill>
                  <a:srgbClr val="1F2937"/>
                </a:solidFill>
                <a:latin typeface="Merriweather" panose="00000500000000000000" pitchFamily="2" charset="0"/>
                <a:ea typeface="Arial" pitchFamily="34" charset="-122"/>
                <a:cs typeface="Arial" pitchFamily="34" charset="-120"/>
              </a:rPr>
              <a:t>Revelan una parálisis funcional. No se encontraron correlaciones significativas, sugiriendo una desconexión total.</a:t>
            </a:r>
            <a:endParaRPr lang="en-US" sz="2362" dirty="0">
              <a:latin typeface="Merriweather" panose="00000500000000000000" pitchFamily="2" charset="0"/>
            </a:endParaRPr>
          </a:p>
        </p:txBody>
      </p:sp>
      <p:sp>
        <p:nvSpPr>
          <p:cNvPr id="33" name="Text 12"/>
          <p:cNvSpPr/>
          <p:nvPr/>
        </p:nvSpPr>
        <p:spPr>
          <a:xfrm>
            <a:off x="3774641" y="8047799"/>
            <a:ext cx="1600195" cy="450007"/>
          </a:xfrm>
          <a:prstGeom prst="rect">
            <a:avLst/>
          </a:prstGeom>
          <a:noFill/>
          <a:ln/>
        </p:spPr>
        <p:txBody>
          <a:bodyPr wrap="square" lIns="0" tIns="0" rIns="0" bIns="0" rtlCol="0" anchor="t"/>
          <a:lstStyle/>
          <a:p>
            <a:pPr>
              <a:lnSpc>
                <a:spcPts val="3543"/>
              </a:lnSpc>
            </a:pPr>
            <a:r>
              <a:rPr lang="en-US" sz="2362" dirty="0">
                <a:solidFill>
                  <a:srgbClr val="6B7280"/>
                </a:solidFill>
                <a:latin typeface="Arial" pitchFamily="34" charset="0"/>
                <a:ea typeface="Arial" pitchFamily="34" charset="-122"/>
                <a:cs typeface="Arial" pitchFamily="34" charset="-120"/>
              </a:rPr>
              <a:t>Proyectos</a:t>
            </a:r>
            <a:endParaRPr lang="en-US" sz="2362" dirty="0"/>
          </a:p>
        </p:txBody>
      </p:sp>
      <p:sp>
        <p:nvSpPr>
          <p:cNvPr id="34" name="Text 13"/>
          <p:cNvSpPr/>
          <p:nvPr/>
        </p:nvSpPr>
        <p:spPr>
          <a:xfrm>
            <a:off x="8798567" y="8089965"/>
            <a:ext cx="1980310" cy="450007"/>
          </a:xfrm>
          <a:prstGeom prst="rect">
            <a:avLst/>
          </a:prstGeom>
          <a:noFill/>
          <a:ln/>
        </p:spPr>
        <p:txBody>
          <a:bodyPr wrap="square" lIns="0" tIns="0" rIns="0" bIns="0" rtlCol="0" anchor="t"/>
          <a:lstStyle/>
          <a:p>
            <a:pPr>
              <a:lnSpc>
                <a:spcPts val="3543"/>
              </a:lnSpc>
            </a:pPr>
            <a:r>
              <a:rPr lang="en-US" sz="2362" dirty="0">
                <a:solidFill>
                  <a:srgbClr val="6B7280"/>
                </a:solidFill>
                <a:latin typeface="Arial" pitchFamily="34" charset="0"/>
                <a:ea typeface="Arial" pitchFamily="34" charset="-122"/>
                <a:cs typeface="Arial" pitchFamily="34" charset="-120"/>
              </a:rPr>
              <a:t>Culminación</a:t>
            </a:r>
            <a:endParaRPr lang="en-US" sz="2362" dirty="0"/>
          </a:p>
        </p:txBody>
      </p:sp>
      <p:sp>
        <p:nvSpPr>
          <p:cNvPr id="36" name="Text 0">
            <a:extLst>
              <a:ext uri="{FF2B5EF4-FFF2-40B4-BE49-F238E27FC236}">
                <a16:creationId xmlns:a16="http://schemas.microsoft.com/office/drawing/2014/main" id="{AAEB39FB-B30D-1340-A90A-5A16C2F736B2}"/>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V</a:t>
            </a:r>
          </a:p>
          <a:p>
            <a:pPr>
              <a:lnSpc>
                <a:spcPts val="2480"/>
              </a:lnSpc>
            </a:pPr>
            <a:endParaRPr lang="en-US" sz="1594" b="1" kern="0" spc="64" dirty="0">
              <a:latin typeface="Montserrat" panose="00000500000000000000" pitchFamily="2" charset="0"/>
              <a:ea typeface="Arial" pitchFamily="34" charset="-122"/>
              <a:cs typeface="Arial" pitchFamily="34" charset="-120"/>
            </a:endParaRPr>
          </a:p>
        </p:txBody>
      </p:sp>
      <p:pic>
        <p:nvPicPr>
          <p:cNvPr id="37" name="Image 2" descr="preencoded.png">
            <a:extLst>
              <a:ext uri="{FF2B5EF4-FFF2-40B4-BE49-F238E27FC236}">
                <a16:creationId xmlns:a16="http://schemas.microsoft.com/office/drawing/2014/main" id="{D34D46D0-4106-459F-A972-970181D58E36}"/>
              </a:ext>
            </a:extLst>
          </p:cNvPr>
          <p:cNvPicPr>
            <a:picLocks noChangeAspect="1"/>
          </p:cNvPicPr>
          <p:nvPr/>
        </p:nvPicPr>
        <p:blipFill>
          <a:blip r:embed="rId18"/>
          <a:stretch>
            <a:fillRect/>
          </a:stretch>
        </p:blipFill>
        <p:spPr>
          <a:xfrm>
            <a:off x="11157201" y="105737"/>
            <a:ext cx="3227793" cy="2261388"/>
          </a:xfrm>
          <a:prstGeom prst="rect">
            <a:avLst/>
          </a:prstGeom>
        </p:spPr>
      </p:pic>
      <p:pic>
        <p:nvPicPr>
          <p:cNvPr id="40" name="Image 16" descr="preencoded.png">
            <a:extLst>
              <a:ext uri="{FF2B5EF4-FFF2-40B4-BE49-F238E27FC236}">
                <a16:creationId xmlns:a16="http://schemas.microsoft.com/office/drawing/2014/main" id="{AB1B0BC6-25BC-721F-F992-0F69049B48BD}"/>
              </a:ext>
            </a:extLst>
          </p:cNvPr>
          <p:cNvPicPr>
            <a:picLocks noChangeAspect="1"/>
          </p:cNvPicPr>
          <p:nvPr/>
        </p:nvPicPr>
        <p:blipFill>
          <a:blip r:embed="rId19"/>
          <a:stretch>
            <a:fillRect/>
          </a:stretch>
        </p:blipFill>
        <p:spPr>
          <a:xfrm>
            <a:off x="0" y="9691681"/>
            <a:ext cx="258067" cy="258067"/>
          </a:xfrm>
          <a:prstGeom prst="rect">
            <a:avLst/>
          </a:prstGeom>
        </p:spPr>
      </p:pic>
      <p:pic>
        <p:nvPicPr>
          <p:cNvPr id="41" name="Image 17" descr="preencoded.png">
            <a:extLst>
              <a:ext uri="{FF2B5EF4-FFF2-40B4-BE49-F238E27FC236}">
                <a16:creationId xmlns:a16="http://schemas.microsoft.com/office/drawing/2014/main" id="{24F5B9C8-5CFB-ECA2-87D9-7D1BCC76E02F}"/>
              </a:ext>
            </a:extLst>
          </p:cNvPr>
          <p:cNvPicPr>
            <a:picLocks noChangeAspect="1"/>
          </p:cNvPicPr>
          <p:nvPr/>
        </p:nvPicPr>
        <p:blipFill>
          <a:blip r:embed="rId20"/>
          <a:stretch>
            <a:fillRect/>
          </a:stretch>
        </p:blipFill>
        <p:spPr>
          <a:xfrm>
            <a:off x="-15996" y="-7645"/>
            <a:ext cx="14400213" cy="90001"/>
          </a:xfrm>
          <a:prstGeom prst="rect">
            <a:avLst/>
          </a:prstGeom>
        </p:spPr>
      </p:pic>
      <p:pic>
        <p:nvPicPr>
          <p:cNvPr id="42" name="Image 18" descr="preencoded.png">
            <a:extLst>
              <a:ext uri="{FF2B5EF4-FFF2-40B4-BE49-F238E27FC236}">
                <a16:creationId xmlns:a16="http://schemas.microsoft.com/office/drawing/2014/main" id="{206752AB-56AB-23FF-65EF-6A8C6D73DF04}"/>
              </a:ext>
            </a:extLst>
          </p:cNvPr>
          <p:cNvPicPr>
            <a:picLocks noChangeAspect="1"/>
          </p:cNvPicPr>
          <p:nvPr/>
        </p:nvPicPr>
        <p:blipFill>
          <a:blip r:embed="rId21"/>
          <a:stretch>
            <a:fillRect/>
          </a:stretch>
        </p:blipFill>
        <p:spPr>
          <a:xfrm>
            <a:off x="0" y="9974545"/>
            <a:ext cx="14400213" cy="90001"/>
          </a:xfrm>
          <a:prstGeom prst="rect">
            <a:avLst/>
          </a:prstGeom>
        </p:spPr>
      </p:pic>
      <p:sp>
        <p:nvSpPr>
          <p:cNvPr id="43" name="Text 7">
            <a:extLst>
              <a:ext uri="{FF2B5EF4-FFF2-40B4-BE49-F238E27FC236}">
                <a16:creationId xmlns:a16="http://schemas.microsoft.com/office/drawing/2014/main" id="{AA432E26-847F-849C-5366-2DB6C0551B86}"/>
              </a:ext>
            </a:extLst>
          </p:cNvPr>
          <p:cNvSpPr/>
          <p:nvPr/>
        </p:nvSpPr>
        <p:spPr>
          <a:xfrm>
            <a:off x="393090" y="9760660"/>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pic>
        <p:nvPicPr>
          <p:cNvPr id="44" name="Image 16" descr="preencoded.png">
            <a:extLst>
              <a:ext uri="{FF2B5EF4-FFF2-40B4-BE49-F238E27FC236}">
                <a16:creationId xmlns:a16="http://schemas.microsoft.com/office/drawing/2014/main" id="{0CA248F6-02B4-5672-74CF-513F2CDE3108}"/>
              </a:ext>
            </a:extLst>
          </p:cNvPr>
          <p:cNvPicPr>
            <a:picLocks noChangeAspect="1"/>
          </p:cNvPicPr>
          <p:nvPr/>
        </p:nvPicPr>
        <p:blipFill>
          <a:blip r:embed="rId19"/>
          <a:stretch>
            <a:fillRect/>
          </a:stretch>
        </p:blipFill>
        <p:spPr>
          <a:xfrm>
            <a:off x="60218" y="8604364"/>
            <a:ext cx="258067" cy="258067"/>
          </a:xfrm>
          <a:prstGeom prst="rect">
            <a:avLst/>
          </a:prstGeom>
        </p:spPr>
      </p:pic>
      <p:pic>
        <p:nvPicPr>
          <p:cNvPr id="45" name="Image 18" descr="preencoded.png">
            <a:extLst>
              <a:ext uri="{FF2B5EF4-FFF2-40B4-BE49-F238E27FC236}">
                <a16:creationId xmlns:a16="http://schemas.microsoft.com/office/drawing/2014/main" id="{1A60F22C-1EFB-DE3D-6EF3-AEB1AFA2AE05}"/>
              </a:ext>
            </a:extLst>
          </p:cNvPr>
          <p:cNvPicPr>
            <a:picLocks noChangeAspect="1"/>
          </p:cNvPicPr>
          <p:nvPr/>
        </p:nvPicPr>
        <p:blipFill>
          <a:blip r:embed="rId21"/>
          <a:stretch>
            <a:fillRect/>
          </a:stretch>
        </p:blipFill>
        <p:spPr>
          <a:xfrm>
            <a:off x="-1" y="8902813"/>
            <a:ext cx="14400213" cy="90001"/>
          </a:xfrm>
          <a:prstGeom prst="rect">
            <a:avLst/>
          </a:prstGeom>
        </p:spPr>
      </p:pic>
      <p:sp>
        <p:nvSpPr>
          <p:cNvPr id="46" name="Text 7">
            <a:extLst>
              <a:ext uri="{FF2B5EF4-FFF2-40B4-BE49-F238E27FC236}">
                <a16:creationId xmlns:a16="http://schemas.microsoft.com/office/drawing/2014/main" id="{76D4D354-118F-A816-ECC4-AF60ABECFC43}"/>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pic>
        <p:nvPicPr>
          <p:cNvPr id="47" name="Image 4" descr="preencoded.png">
            <a:extLst>
              <a:ext uri="{FF2B5EF4-FFF2-40B4-BE49-F238E27FC236}">
                <a16:creationId xmlns:a16="http://schemas.microsoft.com/office/drawing/2014/main" id="{C38912B7-2799-246B-F1BD-D50C7B1F226F}"/>
              </a:ext>
            </a:extLst>
          </p:cNvPr>
          <p:cNvPicPr>
            <a:picLocks noChangeAspect="1"/>
          </p:cNvPicPr>
          <p:nvPr/>
        </p:nvPicPr>
        <p:blipFill>
          <a:blip r:embed="rId22"/>
          <a:stretch>
            <a:fillRect/>
          </a:stretch>
        </p:blipFill>
        <p:spPr>
          <a:xfrm>
            <a:off x="506415" y="2794214"/>
            <a:ext cx="361950" cy="3429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1" y="899716"/>
            <a:ext cx="14400213" cy="810012"/>
          </a:xfrm>
          <a:prstGeom prst="rect">
            <a:avLst/>
          </a:prstGeom>
        </p:spPr>
      </p:pic>
      <p:pic>
        <p:nvPicPr>
          <p:cNvPr id="5" name="Image 3" descr="preencoded.png"/>
          <p:cNvPicPr>
            <a:picLocks noChangeAspect="1"/>
          </p:cNvPicPr>
          <p:nvPr/>
        </p:nvPicPr>
        <p:blipFill>
          <a:blip r:embed="rId4"/>
          <a:stretch>
            <a:fillRect/>
          </a:stretch>
        </p:blipFill>
        <p:spPr>
          <a:xfrm>
            <a:off x="450006" y="2625545"/>
            <a:ext cx="337505" cy="300063"/>
          </a:xfrm>
          <a:prstGeom prst="rect">
            <a:avLst/>
          </a:prstGeom>
        </p:spPr>
      </p:pic>
      <p:pic>
        <p:nvPicPr>
          <p:cNvPr id="6" name="Image 4" descr="preencoded.png"/>
          <p:cNvPicPr>
            <a:picLocks noChangeAspect="1"/>
          </p:cNvPicPr>
          <p:nvPr/>
        </p:nvPicPr>
        <p:blipFill>
          <a:blip r:embed="rId5"/>
          <a:stretch>
            <a:fillRect/>
          </a:stretch>
        </p:blipFill>
        <p:spPr>
          <a:xfrm>
            <a:off x="450007" y="4533578"/>
            <a:ext cx="303754" cy="300063"/>
          </a:xfrm>
          <a:prstGeom prst="rect">
            <a:avLst/>
          </a:prstGeom>
        </p:spPr>
      </p:pic>
      <p:pic>
        <p:nvPicPr>
          <p:cNvPr id="7" name="Image 5" descr="preencoded.png"/>
          <p:cNvPicPr>
            <a:picLocks noChangeAspect="1"/>
          </p:cNvPicPr>
          <p:nvPr/>
        </p:nvPicPr>
        <p:blipFill>
          <a:blip r:embed="rId6"/>
          <a:stretch>
            <a:fillRect/>
          </a:stretch>
        </p:blipFill>
        <p:spPr>
          <a:xfrm>
            <a:off x="60218" y="6576210"/>
            <a:ext cx="6989998" cy="1800027"/>
          </a:xfrm>
          <a:prstGeom prst="rect">
            <a:avLst/>
          </a:prstGeom>
        </p:spPr>
      </p:pic>
      <p:pic>
        <p:nvPicPr>
          <p:cNvPr id="8" name="Image 6" descr="preencoded.png"/>
          <p:cNvPicPr>
            <a:picLocks noChangeAspect="1"/>
          </p:cNvPicPr>
          <p:nvPr/>
        </p:nvPicPr>
        <p:blipFill>
          <a:blip r:embed="rId7"/>
          <a:stretch>
            <a:fillRect/>
          </a:stretch>
        </p:blipFill>
        <p:spPr>
          <a:xfrm>
            <a:off x="358540" y="6651095"/>
            <a:ext cx="337505" cy="300063"/>
          </a:xfrm>
          <a:prstGeom prst="rect">
            <a:avLst/>
          </a:prstGeom>
        </p:spPr>
      </p:pic>
      <p:pic>
        <p:nvPicPr>
          <p:cNvPr id="9" name="Image 7" descr="preencoded.png"/>
          <p:cNvPicPr>
            <a:picLocks noChangeAspect="1"/>
          </p:cNvPicPr>
          <p:nvPr/>
        </p:nvPicPr>
        <p:blipFill>
          <a:blip r:embed="rId8"/>
          <a:stretch>
            <a:fillRect/>
          </a:stretch>
        </p:blipFill>
        <p:spPr>
          <a:xfrm>
            <a:off x="10712757" y="3344606"/>
            <a:ext cx="45719" cy="800077"/>
          </a:xfrm>
          <a:prstGeom prst="rect">
            <a:avLst/>
          </a:prstGeom>
        </p:spPr>
      </p:pic>
      <p:pic>
        <p:nvPicPr>
          <p:cNvPr id="10" name="Image 8" descr="preencoded.png"/>
          <p:cNvPicPr>
            <a:picLocks noChangeAspect="1"/>
          </p:cNvPicPr>
          <p:nvPr/>
        </p:nvPicPr>
        <p:blipFill>
          <a:blip r:embed="rId9"/>
          <a:stretch>
            <a:fillRect/>
          </a:stretch>
        </p:blipFill>
        <p:spPr>
          <a:xfrm>
            <a:off x="10195967" y="4222012"/>
            <a:ext cx="1125017" cy="1125017"/>
          </a:xfrm>
          <a:prstGeom prst="rect">
            <a:avLst/>
          </a:prstGeom>
        </p:spPr>
      </p:pic>
      <p:pic>
        <p:nvPicPr>
          <p:cNvPr id="11" name="Image 9" descr="preencoded.png"/>
          <p:cNvPicPr>
            <a:picLocks noChangeAspect="1"/>
          </p:cNvPicPr>
          <p:nvPr/>
        </p:nvPicPr>
        <p:blipFill>
          <a:blip r:embed="rId10"/>
          <a:stretch>
            <a:fillRect/>
          </a:stretch>
        </p:blipFill>
        <p:spPr>
          <a:xfrm>
            <a:off x="10696601" y="4578697"/>
            <a:ext cx="168752" cy="360005"/>
          </a:xfrm>
          <a:prstGeom prst="rect">
            <a:avLst/>
          </a:prstGeom>
        </p:spPr>
      </p:pic>
      <p:pic>
        <p:nvPicPr>
          <p:cNvPr id="12" name="Image 10" descr="preencoded.png"/>
          <p:cNvPicPr>
            <a:picLocks noChangeAspect="1"/>
          </p:cNvPicPr>
          <p:nvPr/>
        </p:nvPicPr>
        <p:blipFill>
          <a:blip r:embed="rId8"/>
          <a:stretch>
            <a:fillRect/>
          </a:stretch>
        </p:blipFill>
        <p:spPr>
          <a:xfrm>
            <a:off x="10785107" y="5506865"/>
            <a:ext cx="45001" cy="787512"/>
          </a:xfrm>
          <a:prstGeom prst="rect">
            <a:avLst/>
          </a:prstGeom>
        </p:spPr>
      </p:pic>
      <p:pic>
        <p:nvPicPr>
          <p:cNvPr id="13" name="Image 11" descr="preencoded.png"/>
          <p:cNvPicPr>
            <a:picLocks noChangeAspect="1"/>
          </p:cNvPicPr>
          <p:nvPr/>
        </p:nvPicPr>
        <p:blipFill>
          <a:blip r:embed="rId11"/>
          <a:stretch>
            <a:fillRect/>
          </a:stretch>
        </p:blipFill>
        <p:spPr>
          <a:xfrm>
            <a:off x="10638854" y="6568610"/>
            <a:ext cx="337505" cy="405006"/>
          </a:xfrm>
          <a:prstGeom prst="rect">
            <a:avLst/>
          </a:prstGeom>
        </p:spPr>
      </p:pic>
      <p:pic>
        <p:nvPicPr>
          <p:cNvPr id="14" name="Image 12" descr="preencoded.png"/>
          <p:cNvPicPr>
            <a:picLocks noChangeAspect="1"/>
          </p:cNvPicPr>
          <p:nvPr/>
        </p:nvPicPr>
        <p:blipFill>
          <a:blip r:embed="rId12"/>
          <a:stretch>
            <a:fillRect/>
          </a:stretch>
        </p:blipFill>
        <p:spPr>
          <a:xfrm>
            <a:off x="7741581" y="7076057"/>
            <a:ext cx="6598414" cy="1625217"/>
          </a:xfrm>
          <a:prstGeom prst="rect">
            <a:avLst/>
          </a:prstGeom>
        </p:spPr>
      </p:pic>
      <p:pic>
        <p:nvPicPr>
          <p:cNvPr id="15" name="Image 13" descr="preencoded.png"/>
          <p:cNvPicPr>
            <a:picLocks noChangeAspect="1"/>
          </p:cNvPicPr>
          <p:nvPr/>
        </p:nvPicPr>
        <p:blipFill>
          <a:blip r:embed="rId13"/>
          <a:stretch>
            <a:fillRect/>
          </a:stretch>
        </p:blipFill>
        <p:spPr>
          <a:xfrm>
            <a:off x="8299875" y="7686955"/>
            <a:ext cx="180003" cy="180003"/>
          </a:xfrm>
          <a:prstGeom prst="rect">
            <a:avLst/>
          </a:prstGeom>
        </p:spPr>
      </p:pic>
      <p:pic>
        <p:nvPicPr>
          <p:cNvPr id="16" name="Image 14" descr="preencoded.png"/>
          <p:cNvPicPr>
            <a:picLocks noChangeAspect="1"/>
          </p:cNvPicPr>
          <p:nvPr/>
        </p:nvPicPr>
        <p:blipFill>
          <a:blip r:embed="rId14"/>
          <a:stretch>
            <a:fillRect/>
          </a:stretch>
        </p:blipFill>
        <p:spPr>
          <a:xfrm>
            <a:off x="8299875" y="8226963"/>
            <a:ext cx="180003" cy="180003"/>
          </a:xfrm>
          <a:prstGeom prst="rect">
            <a:avLst/>
          </a:prstGeom>
        </p:spPr>
      </p:pic>
      <p:sp>
        <p:nvSpPr>
          <p:cNvPr id="18" name="Text 0"/>
          <p:cNvSpPr/>
          <p:nvPr/>
        </p:nvSpPr>
        <p:spPr>
          <a:xfrm>
            <a:off x="272004" y="1079719"/>
            <a:ext cx="14396211" cy="337506"/>
          </a:xfrm>
          <a:prstGeom prst="rect">
            <a:avLst/>
          </a:prstGeom>
          <a:noFill/>
          <a:ln/>
        </p:spPr>
        <p:txBody>
          <a:bodyPr wrap="square" lIns="0" tIns="0" rIns="0" bIns="0" rtlCol="0" anchor="t"/>
          <a:lstStyle/>
          <a:p>
            <a:pPr algn="ctr">
              <a:lnSpc>
                <a:spcPts val="3543"/>
              </a:lnSpc>
            </a:pPr>
            <a:r>
              <a:rPr lang="en-US" sz="2362" b="1" dirty="0">
                <a:latin typeface="Montserrat" panose="00000500000000000000" pitchFamily="2" charset="0"/>
                <a:ea typeface="Arial" pitchFamily="34" charset="-122"/>
                <a:cs typeface="Arial" pitchFamily="34" charset="-120"/>
              </a:rPr>
              <a:t>¿Las ACA fomentan una planificación realmente descentralizada?</a:t>
            </a:r>
            <a:endParaRPr lang="en-US" sz="2362" dirty="0">
              <a:latin typeface="Montserrat" panose="00000500000000000000" pitchFamily="2" charset="0"/>
            </a:endParaRPr>
          </a:p>
        </p:txBody>
      </p:sp>
      <p:sp>
        <p:nvSpPr>
          <p:cNvPr id="19" name="Text 1"/>
          <p:cNvSpPr/>
          <p:nvPr/>
        </p:nvSpPr>
        <p:spPr>
          <a:xfrm>
            <a:off x="0" y="1923481"/>
            <a:ext cx="14384994" cy="450007"/>
          </a:xfrm>
          <a:prstGeom prst="rect">
            <a:avLst/>
          </a:prstGeom>
          <a:noFill/>
          <a:ln/>
        </p:spPr>
        <p:txBody>
          <a:bodyPr wrap="square" lIns="0" tIns="0" rIns="0" bIns="0" rtlCol="0" anchor="t"/>
          <a:lstStyle/>
          <a:p>
            <a:pPr algn="ctr">
              <a:lnSpc>
                <a:spcPts val="3543"/>
              </a:lnSpc>
            </a:pPr>
            <a:r>
              <a:rPr lang="en-US" sz="2100" b="1" dirty="0">
                <a:solidFill>
                  <a:srgbClr val="7F1D1D"/>
                </a:solidFill>
                <a:latin typeface="Merriweather" panose="00000500000000000000" pitchFamily="2" charset="0"/>
                <a:ea typeface="Arial" pitchFamily="34" charset="-122"/>
                <a:cs typeface="Arial" pitchFamily="34" charset="-120"/>
              </a:rPr>
              <a:t>No, para problemas estructurales, operan con una lógica de "centralización funcional"</a:t>
            </a:r>
            <a:endParaRPr lang="en-US" sz="2100" dirty="0">
              <a:latin typeface="Merriweather" panose="00000500000000000000" pitchFamily="2" charset="0"/>
            </a:endParaRPr>
          </a:p>
        </p:txBody>
      </p:sp>
      <p:sp>
        <p:nvSpPr>
          <p:cNvPr id="20" name="Text 2"/>
          <p:cNvSpPr/>
          <p:nvPr/>
        </p:nvSpPr>
        <p:spPr>
          <a:xfrm>
            <a:off x="877513" y="2550660"/>
            <a:ext cx="5538505" cy="450007"/>
          </a:xfrm>
          <a:prstGeom prst="rect">
            <a:avLst/>
          </a:prstGeom>
          <a:noFill/>
          <a:ln/>
        </p:spPr>
        <p:txBody>
          <a:bodyPr wrap="square" lIns="0" tIns="0" rIns="0" bIns="0" rtlCol="0" anchor="t"/>
          <a:lstStyle/>
          <a:p>
            <a:pPr>
              <a:lnSpc>
                <a:spcPts val="3543"/>
              </a:lnSpc>
            </a:pPr>
            <a:r>
              <a:rPr lang="en-US" sz="2362" b="1" dirty="0">
                <a:solidFill>
                  <a:srgbClr val="1F2937"/>
                </a:solidFill>
                <a:latin typeface="Montserrat" panose="00000500000000000000" pitchFamily="2" charset="0"/>
                <a:ea typeface="Arial" pitchFamily="34" charset="-122"/>
                <a:cs typeface="Arial" pitchFamily="34" charset="-120"/>
              </a:rPr>
              <a:t>Escalamiento Inteligente</a:t>
            </a:r>
            <a:endParaRPr lang="en-US" sz="2362" dirty="0">
              <a:latin typeface="Montserrat" panose="00000500000000000000" pitchFamily="2" charset="0"/>
            </a:endParaRPr>
          </a:p>
        </p:txBody>
      </p:sp>
      <p:sp>
        <p:nvSpPr>
          <p:cNvPr id="21" name="Text 3"/>
          <p:cNvSpPr/>
          <p:nvPr/>
        </p:nvSpPr>
        <p:spPr>
          <a:xfrm>
            <a:off x="450006" y="3090668"/>
            <a:ext cx="7951618" cy="1181708"/>
          </a:xfrm>
          <a:prstGeom prst="rect">
            <a:avLst/>
          </a:prstGeom>
          <a:noFill/>
          <a:ln/>
        </p:spPr>
        <p:txBody>
          <a:bodyPr wrap="square" lIns="0" tIns="0" rIns="0" bIns="0" rtlCol="0" anchor="t"/>
          <a:lstStyle/>
          <a:p>
            <a:pPr algn="just"/>
            <a:r>
              <a:rPr lang="en-US" sz="2362" dirty="0">
                <a:solidFill>
                  <a:srgbClr val="1F2937"/>
                </a:solidFill>
                <a:latin typeface="Merriweather" panose="00000500000000000000" pitchFamily="2" charset="0"/>
                <a:ea typeface="Arial" pitchFamily="34" charset="-122"/>
                <a:cs typeface="Arial" pitchFamily="34" charset="-120"/>
              </a:rPr>
              <a:t>Las comunidades escalan los problemas más complejos (ej. Vivienda) a los niveles altos del Estado (Ministerios, Gobernación).</a:t>
            </a:r>
            <a:endParaRPr lang="en-US" sz="2362" dirty="0">
              <a:latin typeface="Merriweather" panose="00000500000000000000" pitchFamily="2" charset="0"/>
            </a:endParaRPr>
          </a:p>
        </p:txBody>
      </p:sp>
      <p:sp>
        <p:nvSpPr>
          <p:cNvPr id="22" name="Text 4"/>
          <p:cNvSpPr/>
          <p:nvPr/>
        </p:nvSpPr>
        <p:spPr>
          <a:xfrm>
            <a:off x="843762" y="4458694"/>
            <a:ext cx="7776115" cy="450007"/>
          </a:xfrm>
          <a:prstGeom prst="rect">
            <a:avLst/>
          </a:prstGeom>
          <a:noFill/>
          <a:ln/>
        </p:spPr>
        <p:txBody>
          <a:bodyPr wrap="square" lIns="0" tIns="0" rIns="0" bIns="0" rtlCol="0" anchor="t"/>
          <a:lstStyle/>
          <a:p>
            <a:pPr>
              <a:lnSpc>
                <a:spcPts val="3543"/>
              </a:lnSpc>
            </a:pPr>
            <a:r>
              <a:rPr lang="en-US" sz="2362" b="1" dirty="0">
                <a:solidFill>
                  <a:srgbClr val="1F2937"/>
                </a:solidFill>
                <a:latin typeface="Montserrat" panose="00000500000000000000" pitchFamily="2" charset="0"/>
                <a:ea typeface="Arial" pitchFamily="34" charset="-122"/>
                <a:cs typeface="Arial" pitchFamily="34" charset="-120"/>
              </a:rPr>
              <a:t>Creación de un Cuello de Botella</a:t>
            </a:r>
            <a:endParaRPr lang="en-US" sz="2362" dirty="0">
              <a:latin typeface="Montserrat" panose="00000500000000000000" pitchFamily="2" charset="0"/>
            </a:endParaRPr>
          </a:p>
        </p:txBody>
      </p:sp>
      <p:sp>
        <p:nvSpPr>
          <p:cNvPr id="23" name="Text 5"/>
          <p:cNvSpPr/>
          <p:nvPr/>
        </p:nvSpPr>
        <p:spPr>
          <a:xfrm>
            <a:off x="450005" y="4983920"/>
            <a:ext cx="7984869" cy="1350672"/>
          </a:xfrm>
          <a:prstGeom prst="rect">
            <a:avLst/>
          </a:prstGeom>
          <a:noFill/>
          <a:ln/>
        </p:spPr>
        <p:txBody>
          <a:bodyPr wrap="square" lIns="0" tIns="0" rIns="0" bIns="0" rtlCol="0" anchor="t"/>
          <a:lstStyle/>
          <a:p>
            <a:pPr algn="just">
              <a:lnSpc>
                <a:spcPts val="3543"/>
              </a:lnSpc>
            </a:pPr>
            <a:r>
              <a:rPr lang="en-US" sz="2362" dirty="0">
                <a:solidFill>
                  <a:srgbClr val="1F2937"/>
                </a:solidFill>
                <a:latin typeface="Merriweather" panose="00000500000000000000" pitchFamily="2" charset="0"/>
                <a:ea typeface="Arial" pitchFamily="34" charset="-122"/>
                <a:cs typeface="Arial" pitchFamily="34" charset="-120"/>
              </a:rPr>
              <a:t>Esta dependencia del poder central, cuya capacidad de respuesta es limitada y burocrática, deja los proyectos más importantes en un limbo institucional.</a:t>
            </a:r>
            <a:endParaRPr lang="en-US" sz="2362" dirty="0">
              <a:latin typeface="Merriweather" panose="00000500000000000000" pitchFamily="2" charset="0"/>
            </a:endParaRPr>
          </a:p>
        </p:txBody>
      </p:sp>
      <p:sp>
        <p:nvSpPr>
          <p:cNvPr id="24" name="Text 6"/>
          <p:cNvSpPr/>
          <p:nvPr/>
        </p:nvSpPr>
        <p:spPr>
          <a:xfrm>
            <a:off x="786047" y="6576210"/>
            <a:ext cx="5872586" cy="450007"/>
          </a:xfrm>
          <a:prstGeom prst="rect">
            <a:avLst/>
          </a:prstGeom>
          <a:noFill/>
          <a:ln/>
        </p:spPr>
        <p:txBody>
          <a:bodyPr wrap="square" lIns="0" tIns="0" rIns="0" bIns="0" rtlCol="0" anchor="t"/>
          <a:lstStyle/>
          <a:p>
            <a:pPr algn="ctr">
              <a:lnSpc>
                <a:spcPts val="3543"/>
              </a:lnSpc>
            </a:pPr>
            <a:r>
              <a:rPr lang="en-US" sz="2100" b="1" dirty="0">
                <a:solidFill>
                  <a:srgbClr val="1F2937"/>
                </a:solidFill>
                <a:latin typeface="Arial" pitchFamily="34" charset="0"/>
                <a:ea typeface="Arial" pitchFamily="34" charset="-122"/>
                <a:cs typeface="Arial" pitchFamily="34" charset="-120"/>
              </a:rPr>
              <a:t>Impacto Estadístico</a:t>
            </a:r>
            <a:endParaRPr lang="en-US" sz="2100" dirty="0"/>
          </a:p>
        </p:txBody>
      </p:sp>
      <p:sp>
        <p:nvSpPr>
          <p:cNvPr id="25" name="Text 7"/>
          <p:cNvSpPr/>
          <p:nvPr/>
        </p:nvSpPr>
        <p:spPr>
          <a:xfrm>
            <a:off x="205703" y="7076057"/>
            <a:ext cx="6452930" cy="1350020"/>
          </a:xfrm>
          <a:prstGeom prst="rect">
            <a:avLst/>
          </a:prstGeom>
          <a:noFill/>
          <a:ln/>
        </p:spPr>
        <p:txBody>
          <a:bodyPr wrap="square" lIns="0" tIns="0" rIns="0" bIns="0" rtlCol="0" anchor="t"/>
          <a:lstStyle/>
          <a:p>
            <a:pPr algn="just">
              <a:lnSpc>
                <a:spcPts val="3543"/>
              </a:lnSpc>
            </a:pPr>
            <a:r>
              <a:rPr lang="en-US" sz="2100" dirty="0">
                <a:solidFill>
                  <a:srgbClr val="1F2937"/>
                </a:solidFill>
                <a:latin typeface="Merriweather" panose="00000500000000000000" pitchFamily="2" charset="0"/>
                <a:ea typeface="Arial" pitchFamily="34" charset="-122"/>
                <a:cs typeface="Arial" pitchFamily="34" charset="-120"/>
              </a:rPr>
              <a:t>El </a:t>
            </a:r>
            <a:r>
              <a:rPr lang="en-US" sz="2100" b="1" dirty="0">
                <a:solidFill>
                  <a:srgbClr val="7F1D1D"/>
                </a:solidFill>
                <a:latin typeface="Merriweather" panose="00000500000000000000" pitchFamily="2" charset="0"/>
                <a:ea typeface="Arial" pitchFamily="34" charset="-122"/>
                <a:cs typeface="Arial" pitchFamily="34" charset="-120"/>
              </a:rPr>
              <a:t>49%</a:t>
            </a:r>
            <a:r>
              <a:rPr lang="en-US" sz="2100" dirty="0">
                <a:solidFill>
                  <a:srgbClr val="1F2937"/>
                </a:solidFill>
                <a:latin typeface="Merriweather" panose="00000500000000000000" pitchFamily="2" charset="0"/>
                <a:ea typeface="Arial" pitchFamily="34" charset="-122"/>
                <a:cs typeface="Arial" pitchFamily="34" charset="-120"/>
              </a:rPr>
              <a:t> de los proyectos fueron clasificados como "No Considerados", evidenciando esta parálisis.</a:t>
            </a:r>
            <a:endParaRPr lang="en-US" sz="2100" dirty="0">
              <a:latin typeface="Merriweather" panose="00000500000000000000" pitchFamily="2" charset="0"/>
            </a:endParaRPr>
          </a:p>
        </p:txBody>
      </p:sp>
      <p:sp>
        <p:nvSpPr>
          <p:cNvPr id="26" name="Text 8"/>
          <p:cNvSpPr/>
          <p:nvPr/>
        </p:nvSpPr>
        <p:spPr>
          <a:xfrm>
            <a:off x="9599784" y="2682867"/>
            <a:ext cx="2220571" cy="450007"/>
          </a:xfrm>
          <a:prstGeom prst="rect">
            <a:avLst/>
          </a:prstGeom>
          <a:noFill/>
          <a:ln/>
        </p:spPr>
        <p:txBody>
          <a:bodyPr wrap="square" lIns="0" tIns="0" rIns="0" bIns="0" rtlCol="0" anchor="t"/>
          <a:lstStyle/>
          <a:p>
            <a:pPr algn="ctr">
              <a:lnSpc>
                <a:spcPts val="3543"/>
              </a:lnSpc>
            </a:pPr>
            <a:r>
              <a:rPr lang="en-US" sz="2362" dirty="0">
                <a:solidFill>
                  <a:srgbClr val="000000"/>
                </a:solidFill>
                <a:latin typeface="Merriweather" panose="00000500000000000000" pitchFamily="2" charset="0"/>
                <a:ea typeface="Arial" pitchFamily="34" charset="-122"/>
                <a:cs typeface="Arial" pitchFamily="34" charset="-120"/>
              </a:rPr>
              <a:t>Comunidades</a:t>
            </a:r>
            <a:endParaRPr lang="en-US" sz="2362" dirty="0">
              <a:latin typeface="Merriweather" panose="00000500000000000000" pitchFamily="2" charset="0"/>
            </a:endParaRPr>
          </a:p>
        </p:txBody>
      </p:sp>
      <p:sp>
        <p:nvSpPr>
          <p:cNvPr id="27" name="Text 9"/>
          <p:cNvSpPr/>
          <p:nvPr/>
        </p:nvSpPr>
        <p:spPr>
          <a:xfrm>
            <a:off x="8401624" y="7160743"/>
            <a:ext cx="5440369" cy="450007"/>
          </a:xfrm>
          <a:prstGeom prst="rect">
            <a:avLst/>
          </a:prstGeom>
          <a:noFill/>
          <a:ln/>
        </p:spPr>
        <p:txBody>
          <a:bodyPr wrap="square" lIns="0" tIns="0" rIns="0" bIns="0" rtlCol="0" anchor="t"/>
          <a:lstStyle/>
          <a:p>
            <a:pPr algn="ctr">
              <a:lnSpc>
                <a:spcPts val="3543"/>
              </a:lnSpc>
            </a:pPr>
            <a:r>
              <a:rPr lang="en-US" sz="2362" dirty="0">
                <a:solidFill>
                  <a:srgbClr val="000000"/>
                </a:solidFill>
                <a:latin typeface="Merriweather" panose="00000500000000000000" pitchFamily="2" charset="0"/>
                <a:ea typeface="Arial" pitchFamily="34" charset="-122"/>
                <a:cs typeface="Arial" pitchFamily="34" charset="-120"/>
              </a:rPr>
              <a:t>Estado (Ministerios, Gobernación)</a:t>
            </a:r>
            <a:endParaRPr lang="en-US" sz="2362" dirty="0">
              <a:latin typeface="Merriweather" panose="00000500000000000000" pitchFamily="2" charset="0"/>
            </a:endParaRPr>
          </a:p>
        </p:txBody>
      </p:sp>
      <p:sp>
        <p:nvSpPr>
          <p:cNvPr id="28" name="Text 10"/>
          <p:cNvSpPr/>
          <p:nvPr/>
        </p:nvSpPr>
        <p:spPr>
          <a:xfrm>
            <a:off x="8569879" y="7551953"/>
            <a:ext cx="4520457" cy="450007"/>
          </a:xfrm>
          <a:prstGeom prst="rect">
            <a:avLst/>
          </a:prstGeom>
          <a:noFill/>
          <a:ln/>
        </p:spPr>
        <p:txBody>
          <a:bodyPr wrap="square" lIns="0" tIns="0" rIns="0" bIns="0" rtlCol="0" anchor="t"/>
          <a:lstStyle/>
          <a:p>
            <a:pPr>
              <a:lnSpc>
                <a:spcPts val="3543"/>
              </a:lnSpc>
            </a:pPr>
            <a:r>
              <a:rPr lang="en-US" sz="2362" dirty="0">
                <a:solidFill>
                  <a:srgbClr val="1F2937"/>
                </a:solidFill>
                <a:latin typeface="Arial" pitchFamily="34" charset="0"/>
                <a:ea typeface="Arial" pitchFamily="34" charset="-122"/>
                <a:cs typeface="Arial" pitchFamily="34" charset="-120"/>
              </a:rPr>
              <a:t>Proyectos de Infraestructura</a:t>
            </a:r>
            <a:endParaRPr lang="en-US" sz="2362" dirty="0"/>
          </a:p>
        </p:txBody>
      </p:sp>
      <p:sp>
        <p:nvSpPr>
          <p:cNvPr id="29" name="Text 11"/>
          <p:cNvSpPr/>
          <p:nvPr/>
        </p:nvSpPr>
        <p:spPr>
          <a:xfrm>
            <a:off x="8569880" y="8091961"/>
            <a:ext cx="2720923" cy="450007"/>
          </a:xfrm>
          <a:prstGeom prst="rect">
            <a:avLst/>
          </a:prstGeom>
          <a:noFill/>
          <a:ln/>
        </p:spPr>
        <p:txBody>
          <a:bodyPr wrap="square" lIns="0" tIns="0" rIns="0" bIns="0" rtlCol="0" anchor="t"/>
          <a:lstStyle/>
          <a:p>
            <a:pPr>
              <a:lnSpc>
                <a:spcPts val="3543"/>
              </a:lnSpc>
            </a:pPr>
            <a:r>
              <a:rPr lang="en-US" sz="2362" dirty="0">
                <a:solidFill>
                  <a:srgbClr val="1F2937"/>
                </a:solidFill>
                <a:latin typeface="Arial" pitchFamily="34" charset="0"/>
                <a:ea typeface="Arial" pitchFamily="34" charset="-122"/>
                <a:cs typeface="Arial" pitchFamily="34" charset="-120"/>
              </a:rPr>
              <a:t>Cuello de Botella</a:t>
            </a:r>
            <a:endParaRPr lang="en-US" sz="2362" dirty="0"/>
          </a:p>
        </p:txBody>
      </p:sp>
      <p:sp>
        <p:nvSpPr>
          <p:cNvPr id="31" name="Text 0">
            <a:extLst>
              <a:ext uri="{FF2B5EF4-FFF2-40B4-BE49-F238E27FC236}">
                <a16:creationId xmlns:a16="http://schemas.microsoft.com/office/drawing/2014/main" id="{70B5F1DD-ED5E-0D54-DC49-34E72207190A}"/>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V</a:t>
            </a:r>
          </a:p>
          <a:p>
            <a:pPr>
              <a:lnSpc>
                <a:spcPts val="2480"/>
              </a:lnSpc>
            </a:pPr>
            <a:endParaRPr lang="en-US" sz="1594" b="1" kern="0" spc="64" dirty="0">
              <a:latin typeface="Montserrat" panose="00000500000000000000" pitchFamily="2" charset="0"/>
              <a:ea typeface="Arial" pitchFamily="34" charset="-122"/>
              <a:cs typeface="Arial" pitchFamily="34" charset="-120"/>
            </a:endParaRPr>
          </a:p>
        </p:txBody>
      </p:sp>
      <p:pic>
        <p:nvPicPr>
          <p:cNvPr id="33" name="Image 3" descr="preencoded.png">
            <a:extLst>
              <a:ext uri="{FF2B5EF4-FFF2-40B4-BE49-F238E27FC236}">
                <a16:creationId xmlns:a16="http://schemas.microsoft.com/office/drawing/2014/main" id="{F83A5332-DFED-C8D2-969D-9D40AF5B6332}"/>
              </a:ext>
            </a:extLst>
          </p:cNvPr>
          <p:cNvPicPr>
            <a:picLocks noChangeAspect="1"/>
          </p:cNvPicPr>
          <p:nvPr/>
        </p:nvPicPr>
        <p:blipFill>
          <a:blip r:embed="rId15"/>
          <a:stretch>
            <a:fillRect/>
          </a:stretch>
        </p:blipFill>
        <p:spPr>
          <a:xfrm>
            <a:off x="15219" y="6299498"/>
            <a:ext cx="2655039" cy="2880043"/>
          </a:xfrm>
          <a:prstGeom prst="rect">
            <a:avLst/>
          </a:prstGeom>
        </p:spPr>
      </p:pic>
      <p:pic>
        <p:nvPicPr>
          <p:cNvPr id="34" name="Image 2" descr="preencoded.png">
            <a:extLst>
              <a:ext uri="{FF2B5EF4-FFF2-40B4-BE49-F238E27FC236}">
                <a16:creationId xmlns:a16="http://schemas.microsoft.com/office/drawing/2014/main" id="{491EB88E-A91A-449D-D538-7C5FB286F3F1}"/>
              </a:ext>
            </a:extLst>
          </p:cNvPr>
          <p:cNvPicPr>
            <a:picLocks noChangeAspect="1"/>
          </p:cNvPicPr>
          <p:nvPr/>
        </p:nvPicPr>
        <p:blipFill>
          <a:blip r:embed="rId16"/>
          <a:stretch>
            <a:fillRect/>
          </a:stretch>
        </p:blipFill>
        <p:spPr>
          <a:xfrm>
            <a:off x="15219" y="20721"/>
            <a:ext cx="3757555" cy="2632539"/>
          </a:xfrm>
          <a:prstGeom prst="rect">
            <a:avLst/>
          </a:prstGeom>
        </p:spPr>
      </p:pic>
      <p:pic>
        <p:nvPicPr>
          <p:cNvPr id="35" name="Image 16" descr="preencoded.png">
            <a:extLst>
              <a:ext uri="{FF2B5EF4-FFF2-40B4-BE49-F238E27FC236}">
                <a16:creationId xmlns:a16="http://schemas.microsoft.com/office/drawing/2014/main" id="{C82EA739-7C20-E0D4-3816-AEFD64B03EE7}"/>
              </a:ext>
            </a:extLst>
          </p:cNvPr>
          <p:cNvPicPr>
            <a:picLocks noChangeAspect="1"/>
          </p:cNvPicPr>
          <p:nvPr/>
        </p:nvPicPr>
        <p:blipFill>
          <a:blip r:embed="rId17"/>
          <a:stretch>
            <a:fillRect/>
          </a:stretch>
        </p:blipFill>
        <p:spPr>
          <a:xfrm>
            <a:off x="60218" y="8604364"/>
            <a:ext cx="258067" cy="258067"/>
          </a:xfrm>
          <a:prstGeom prst="rect">
            <a:avLst/>
          </a:prstGeom>
        </p:spPr>
      </p:pic>
      <p:pic>
        <p:nvPicPr>
          <p:cNvPr id="36" name="Image 17" descr="preencoded.png">
            <a:extLst>
              <a:ext uri="{FF2B5EF4-FFF2-40B4-BE49-F238E27FC236}">
                <a16:creationId xmlns:a16="http://schemas.microsoft.com/office/drawing/2014/main" id="{9F5A14A7-16AE-6C6A-7825-52ECC0DF0300}"/>
              </a:ext>
            </a:extLst>
          </p:cNvPr>
          <p:cNvPicPr>
            <a:picLocks noChangeAspect="1"/>
          </p:cNvPicPr>
          <p:nvPr/>
        </p:nvPicPr>
        <p:blipFill>
          <a:blip r:embed="rId18"/>
          <a:stretch>
            <a:fillRect/>
          </a:stretch>
        </p:blipFill>
        <p:spPr>
          <a:xfrm>
            <a:off x="-15996" y="-7645"/>
            <a:ext cx="14400213" cy="90001"/>
          </a:xfrm>
          <a:prstGeom prst="rect">
            <a:avLst/>
          </a:prstGeom>
        </p:spPr>
      </p:pic>
      <p:pic>
        <p:nvPicPr>
          <p:cNvPr id="37" name="Image 18" descr="preencoded.png">
            <a:extLst>
              <a:ext uri="{FF2B5EF4-FFF2-40B4-BE49-F238E27FC236}">
                <a16:creationId xmlns:a16="http://schemas.microsoft.com/office/drawing/2014/main" id="{54978DD3-43CF-2F18-674C-F0917D2483A3}"/>
              </a:ext>
            </a:extLst>
          </p:cNvPr>
          <p:cNvPicPr>
            <a:picLocks noChangeAspect="1"/>
          </p:cNvPicPr>
          <p:nvPr/>
        </p:nvPicPr>
        <p:blipFill>
          <a:blip r:embed="rId19"/>
          <a:stretch>
            <a:fillRect/>
          </a:stretch>
        </p:blipFill>
        <p:spPr>
          <a:xfrm>
            <a:off x="-1" y="8902813"/>
            <a:ext cx="14400213" cy="90001"/>
          </a:xfrm>
          <a:prstGeom prst="rect">
            <a:avLst/>
          </a:prstGeom>
        </p:spPr>
      </p:pic>
      <p:sp>
        <p:nvSpPr>
          <p:cNvPr id="38" name="Text 7">
            <a:extLst>
              <a:ext uri="{FF2B5EF4-FFF2-40B4-BE49-F238E27FC236}">
                <a16:creationId xmlns:a16="http://schemas.microsoft.com/office/drawing/2014/main" id="{40AC2EA4-A29B-CDD2-6046-98C5CCF105B8}"/>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1" y="899716"/>
            <a:ext cx="14400213" cy="810012"/>
          </a:xfrm>
          <a:prstGeom prst="rect">
            <a:avLst/>
          </a:prstGeom>
        </p:spPr>
      </p:pic>
      <p:pic>
        <p:nvPicPr>
          <p:cNvPr id="5" name="Image 3" descr="preencoded.png"/>
          <p:cNvPicPr>
            <a:picLocks noChangeAspect="1"/>
          </p:cNvPicPr>
          <p:nvPr/>
        </p:nvPicPr>
        <p:blipFill>
          <a:blip r:embed="rId4"/>
          <a:stretch>
            <a:fillRect/>
          </a:stretch>
        </p:blipFill>
        <p:spPr>
          <a:xfrm>
            <a:off x="432333" y="1996095"/>
            <a:ext cx="337505" cy="300063"/>
          </a:xfrm>
          <a:prstGeom prst="rect">
            <a:avLst/>
          </a:prstGeom>
        </p:spPr>
      </p:pic>
      <p:pic>
        <p:nvPicPr>
          <p:cNvPr id="6" name="Image 4" descr="preencoded.png"/>
          <p:cNvPicPr>
            <a:picLocks noChangeAspect="1"/>
          </p:cNvPicPr>
          <p:nvPr/>
        </p:nvPicPr>
        <p:blipFill>
          <a:blip r:embed="rId5"/>
          <a:stretch>
            <a:fillRect/>
          </a:stretch>
        </p:blipFill>
        <p:spPr>
          <a:xfrm>
            <a:off x="2353764" y="2974988"/>
            <a:ext cx="1742400" cy="1742400"/>
          </a:xfrm>
          <a:prstGeom prst="rect">
            <a:avLst/>
          </a:prstGeom>
        </p:spPr>
      </p:pic>
      <p:pic>
        <p:nvPicPr>
          <p:cNvPr id="7" name="Image 5" descr="preencoded.png"/>
          <p:cNvPicPr>
            <a:picLocks noChangeAspect="1"/>
          </p:cNvPicPr>
          <p:nvPr/>
        </p:nvPicPr>
        <p:blipFill>
          <a:blip r:embed="rId6"/>
          <a:stretch>
            <a:fillRect/>
          </a:stretch>
        </p:blipFill>
        <p:spPr>
          <a:xfrm>
            <a:off x="2848771" y="3316763"/>
            <a:ext cx="675010" cy="675010"/>
          </a:xfrm>
          <a:prstGeom prst="rect">
            <a:avLst/>
          </a:prstGeom>
        </p:spPr>
      </p:pic>
      <p:pic>
        <p:nvPicPr>
          <p:cNvPr id="8" name="Image 6" descr="preencoded.png"/>
          <p:cNvPicPr>
            <a:picLocks noChangeAspect="1"/>
          </p:cNvPicPr>
          <p:nvPr/>
        </p:nvPicPr>
        <p:blipFill>
          <a:blip r:embed="rId7"/>
          <a:stretch>
            <a:fillRect/>
          </a:stretch>
        </p:blipFill>
        <p:spPr>
          <a:xfrm>
            <a:off x="3085024" y="3474265"/>
            <a:ext cx="202503" cy="360005"/>
          </a:xfrm>
          <a:prstGeom prst="rect">
            <a:avLst/>
          </a:prstGeom>
        </p:spPr>
      </p:pic>
      <p:pic>
        <p:nvPicPr>
          <p:cNvPr id="9" name="Image 7" descr="preencoded.png"/>
          <p:cNvPicPr>
            <a:picLocks noChangeAspect="1"/>
          </p:cNvPicPr>
          <p:nvPr/>
        </p:nvPicPr>
        <p:blipFill>
          <a:blip r:embed="rId8"/>
          <a:stretch>
            <a:fillRect/>
          </a:stretch>
        </p:blipFill>
        <p:spPr>
          <a:xfrm>
            <a:off x="4606457" y="2975861"/>
            <a:ext cx="1742400" cy="1742400"/>
          </a:xfrm>
          <a:prstGeom prst="rect">
            <a:avLst/>
          </a:prstGeom>
        </p:spPr>
      </p:pic>
      <p:pic>
        <p:nvPicPr>
          <p:cNvPr id="10" name="Image 8" descr="preencoded.png"/>
          <p:cNvPicPr>
            <a:picLocks noChangeAspect="1"/>
          </p:cNvPicPr>
          <p:nvPr/>
        </p:nvPicPr>
        <p:blipFill>
          <a:blip r:embed="rId9"/>
          <a:stretch>
            <a:fillRect/>
          </a:stretch>
        </p:blipFill>
        <p:spPr>
          <a:xfrm>
            <a:off x="5099876" y="3242466"/>
            <a:ext cx="675010" cy="675010"/>
          </a:xfrm>
          <a:prstGeom prst="rect">
            <a:avLst/>
          </a:prstGeom>
        </p:spPr>
      </p:pic>
      <p:pic>
        <p:nvPicPr>
          <p:cNvPr id="11" name="Image 9" descr="preencoded.png"/>
          <p:cNvPicPr>
            <a:picLocks noChangeAspect="1"/>
          </p:cNvPicPr>
          <p:nvPr/>
        </p:nvPicPr>
        <p:blipFill>
          <a:blip r:embed="rId10"/>
          <a:stretch>
            <a:fillRect/>
          </a:stretch>
        </p:blipFill>
        <p:spPr>
          <a:xfrm>
            <a:off x="5285505" y="3399968"/>
            <a:ext cx="303754" cy="360005"/>
          </a:xfrm>
          <a:prstGeom prst="rect">
            <a:avLst/>
          </a:prstGeom>
        </p:spPr>
      </p:pic>
      <p:pic>
        <p:nvPicPr>
          <p:cNvPr id="12" name="Image 10" descr="preencoded.png"/>
          <p:cNvPicPr>
            <a:picLocks noChangeAspect="1"/>
          </p:cNvPicPr>
          <p:nvPr/>
        </p:nvPicPr>
        <p:blipFill>
          <a:blip r:embed="rId11"/>
          <a:stretch>
            <a:fillRect/>
          </a:stretch>
        </p:blipFill>
        <p:spPr>
          <a:xfrm>
            <a:off x="6992666" y="2975861"/>
            <a:ext cx="1742400" cy="1742400"/>
          </a:xfrm>
          <a:prstGeom prst="rect">
            <a:avLst/>
          </a:prstGeom>
        </p:spPr>
      </p:pic>
      <p:pic>
        <p:nvPicPr>
          <p:cNvPr id="13" name="Image 11" descr="preencoded.png"/>
          <p:cNvPicPr>
            <a:picLocks noChangeAspect="1"/>
          </p:cNvPicPr>
          <p:nvPr/>
        </p:nvPicPr>
        <p:blipFill>
          <a:blip r:embed="rId12"/>
          <a:stretch>
            <a:fillRect/>
          </a:stretch>
        </p:blipFill>
        <p:spPr>
          <a:xfrm>
            <a:off x="7563711" y="3172249"/>
            <a:ext cx="675010" cy="675010"/>
          </a:xfrm>
          <a:prstGeom prst="rect">
            <a:avLst/>
          </a:prstGeom>
        </p:spPr>
      </p:pic>
      <p:pic>
        <p:nvPicPr>
          <p:cNvPr id="14" name="Image 12" descr="preencoded.png"/>
          <p:cNvPicPr>
            <a:picLocks noChangeAspect="1"/>
          </p:cNvPicPr>
          <p:nvPr/>
        </p:nvPicPr>
        <p:blipFill>
          <a:blip r:embed="rId13"/>
          <a:stretch>
            <a:fillRect/>
          </a:stretch>
        </p:blipFill>
        <p:spPr>
          <a:xfrm>
            <a:off x="7749341" y="3329751"/>
            <a:ext cx="303754" cy="360005"/>
          </a:xfrm>
          <a:prstGeom prst="rect">
            <a:avLst/>
          </a:prstGeom>
        </p:spPr>
      </p:pic>
      <p:pic>
        <p:nvPicPr>
          <p:cNvPr id="15" name="Image 13" descr="preencoded.png"/>
          <p:cNvPicPr>
            <a:picLocks noChangeAspect="1"/>
          </p:cNvPicPr>
          <p:nvPr/>
        </p:nvPicPr>
        <p:blipFill>
          <a:blip r:embed="rId14"/>
          <a:stretch>
            <a:fillRect/>
          </a:stretch>
        </p:blipFill>
        <p:spPr>
          <a:xfrm>
            <a:off x="9236354" y="2975861"/>
            <a:ext cx="1741527" cy="1741527"/>
          </a:xfrm>
          <a:prstGeom prst="rect">
            <a:avLst/>
          </a:prstGeom>
        </p:spPr>
      </p:pic>
      <p:pic>
        <p:nvPicPr>
          <p:cNvPr id="16" name="Image 14" descr="preencoded.png"/>
          <p:cNvPicPr>
            <a:picLocks noChangeAspect="1"/>
          </p:cNvPicPr>
          <p:nvPr/>
        </p:nvPicPr>
        <p:blipFill>
          <a:blip r:embed="rId15"/>
          <a:stretch>
            <a:fillRect/>
          </a:stretch>
        </p:blipFill>
        <p:spPr>
          <a:xfrm>
            <a:off x="9776345" y="3227985"/>
            <a:ext cx="675010" cy="675010"/>
          </a:xfrm>
          <a:prstGeom prst="rect">
            <a:avLst/>
          </a:prstGeom>
        </p:spPr>
      </p:pic>
      <p:pic>
        <p:nvPicPr>
          <p:cNvPr id="17" name="Image 15" descr="preencoded.png"/>
          <p:cNvPicPr>
            <a:picLocks noChangeAspect="1"/>
          </p:cNvPicPr>
          <p:nvPr/>
        </p:nvPicPr>
        <p:blipFill>
          <a:blip r:embed="rId16"/>
          <a:stretch>
            <a:fillRect/>
          </a:stretch>
        </p:blipFill>
        <p:spPr>
          <a:xfrm>
            <a:off x="10012599" y="3385487"/>
            <a:ext cx="202503" cy="360005"/>
          </a:xfrm>
          <a:prstGeom prst="rect">
            <a:avLst/>
          </a:prstGeom>
        </p:spPr>
      </p:pic>
      <p:pic>
        <p:nvPicPr>
          <p:cNvPr id="18" name="Image 16" descr="preencoded.png"/>
          <p:cNvPicPr>
            <a:picLocks noChangeAspect="1"/>
          </p:cNvPicPr>
          <p:nvPr/>
        </p:nvPicPr>
        <p:blipFill>
          <a:blip r:embed="rId17"/>
          <a:stretch>
            <a:fillRect/>
          </a:stretch>
        </p:blipFill>
        <p:spPr>
          <a:xfrm>
            <a:off x="1890028" y="4882274"/>
            <a:ext cx="11324874" cy="450007"/>
          </a:xfrm>
          <a:prstGeom prst="rect">
            <a:avLst/>
          </a:prstGeom>
        </p:spPr>
      </p:pic>
      <p:pic>
        <p:nvPicPr>
          <p:cNvPr id="19" name="Image 17" descr="preencoded.png"/>
          <p:cNvPicPr>
            <a:picLocks noChangeAspect="1"/>
          </p:cNvPicPr>
          <p:nvPr/>
        </p:nvPicPr>
        <p:blipFill>
          <a:blip r:embed="rId18"/>
          <a:stretch>
            <a:fillRect/>
          </a:stretch>
        </p:blipFill>
        <p:spPr>
          <a:xfrm>
            <a:off x="1890028" y="4882274"/>
            <a:ext cx="7134539" cy="450007"/>
          </a:xfrm>
          <a:prstGeom prst="rect">
            <a:avLst/>
          </a:prstGeom>
        </p:spPr>
      </p:pic>
      <p:pic>
        <p:nvPicPr>
          <p:cNvPr id="20" name="Image 18" descr="preencoded.png"/>
          <p:cNvPicPr>
            <a:picLocks noChangeAspect="1"/>
          </p:cNvPicPr>
          <p:nvPr/>
        </p:nvPicPr>
        <p:blipFill>
          <a:blip r:embed="rId19"/>
          <a:stretch>
            <a:fillRect/>
          </a:stretch>
        </p:blipFill>
        <p:spPr>
          <a:xfrm>
            <a:off x="450006" y="5782288"/>
            <a:ext cx="6570097" cy="2340035"/>
          </a:xfrm>
          <a:prstGeom prst="rect">
            <a:avLst/>
          </a:prstGeom>
        </p:spPr>
      </p:pic>
      <p:pic>
        <p:nvPicPr>
          <p:cNvPr id="21" name="Image 19" descr="preencoded.png"/>
          <p:cNvPicPr>
            <a:picLocks noChangeAspect="1"/>
          </p:cNvPicPr>
          <p:nvPr/>
        </p:nvPicPr>
        <p:blipFill>
          <a:blip r:embed="rId20"/>
          <a:stretch>
            <a:fillRect/>
          </a:stretch>
        </p:blipFill>
        <p:spPr>
          <a:xfrm>
            <a:off x="630010" y="6037175"/>
            <a:ext cx="303754" cy="300063"/>
          </a:xfrm>
          <a:prstGeom prst="rect">
            <a:avLst/>
          </a:prstGeom>
        </p:spPr>
      </p:pic>
      <p:pic>
        <p:nvPicPr>
          <p:cNvPr id="22" name="Image 20" descr="preencoded.png"/>
          <p:cNvPicPr>
            <a:picLocks noChangeAspect="1"/>
          </p:cNvPicPr>
          <p:nvPr/>
        </p:nvPicPr>
        <p:blipFill>
          <a:blip r:embed="rId21"/>
          <a:stretch>
            <a:fillRect/>
          </a:stretch>
        </p:blipFill>
        <p:spPr>
          <a:xfrm>
            <a:off x="630010" y="7567198"/>
            <a:ext cx="303754" cy="300063"/>
          </a:xfrm>
          <a:prstGeom prst="rect">
            <a:avLst/>
          </a:prstGeom>
        </p:spPr>
      </p:pic>
      <p:pic>
        <p:nvPicPr>
          <p:cNvPr id="23" name="Image 21" descr="preencoded.png"/>
          <p:cNvPicPr>
            <a:picLocks noChangeAspect="1"/>
          </p:cNvPicPr>
          <p:nvPr/>
        </p:nvPicPr>
        <p:blipFill>
          <a:blip r:embed="rId22"/>
          <a:stretch>
            <a:fillRect/>
          </a:stretch>
        </p:blipFill>
        <p:spPr>
          <a:xfrm>
            <a:off x="7380109" y="5782288"/>
            <a:ext cx="6570097" cy="2340035"/>
          </a:xfrm>
          <a:prstGeom prst="rect">
            <a:avLst/>
          </a:prstGeom>
        </p:spPr>
      </p:pic>
      <p:pic>
        <p:nvPicPr>
          <p:cNvPr id="24" name="Image 22" descr="preencoded.png"/>
          <p:cNvPicPr>
            <a:picLocks noChangeAspect="1"/>
          </p:cNvPicPr>
          <p:nvPr/>
        </p:nvPicPr>
        <p:blipFill>
          <a:blip r:embed="rId23"/>
          <a:stretch>
            <a:fillRect/>
          </a:stretch>
        </p:blipFill>
        <p:spPr>
          <a:xfrm>
            <a:off x="7560112" y="6037175"/>
            <a:ext cx="303754" cy="300063"/>
          </a:xfrm>
          <a:prstGeom prst="rect">
            <a:avLst/>
          </a:prstGeom>
        </p:spPr>
      </p:pic>
      <p:pic>
        <p:nvPicPr>
          <p:cNvPr id="25" name="Image 23" descr="preencoded.png"/>
          <p:cNvPicPr>
            <a:picLocks noChangeAspect="1"/>
          </p:cNvPicPr>
          <p:nvPr/>
        </p:nvPicPr>
        <p:blipFill>
          <a:blip r:embed="rId24"/>
          <a:stretch>
            <a:fillRect/>
          </a:stretch>
        </p:blipFill>
        <p:spPr>
          <a:xfrm>
            <a:off x="7560112" y="7567198"/>
            <a:ext cx="303754" cy="300063"/>
          </a:xfrm>
          <a:prstGeom prst="rect">
            <a:avLst/>
          </a:prstGeom>
        </p:spPr>
      </p:pic>
      <p:sp>
        <p:nvSpPr>
          <p:cNvPr id="27" name="Text 0"/>
          <p:cNvSpPr/>
          <p:nvPr/>
        </p:nvSpPr>
        <p:spPr>
          <a:xfrm>
            <a:off x="1" y="1079718"/>
            <a:ext cx="14411430" cy="450007"/>
          </a:xfrm>
          <a:prstGeom prst="rect">
            <a:avLst/>
          </a:prstGeom>
          <a:noFill/>
          <a:ln/>
        </p:spPr>
        <p:txBody>
          <a:bodyPr wrap="square" lIns="0" tIns="0" rIns="0" bIns="0" rtlCol="0" anchor="t"/>
          <a:lstStyle/>
          <a:p>
            <a:pPr algn="ctr">
              <a:lnSpc>
                <a:spcPts val="3543"/>
              </a:lnSpc>
            </a:pPr>
            <a:r>
              <a:rPr lang="en-US" sz="2362" b="1" dirty="0">
                <a:solidFill>
                  <a:srgbClr val="000000"/>
                </a:solidFill>
                <a:latin typeface="Montserrat" panose="00000500000000000000" pitchFamily="2" charset="0"/>
                <a:ea typeface="Arial" pitchFamily="34" charset="-122"/>
                <a:cs typeface="Arial" pitchFamily="34" charset="-120"/>
              </a:rPr>
              <a:t>¿Por qué los problemas más importantes son los menos resueltos?</a:t>
            </a:r>
            <a:endParaRPr lang="en-US" sz="2362" dirty="0">
              <a:latin typeface="Montserrat" panose="00000500000000000000" pitchFamily="2" charset="0"/>
            </a:endParaRPr>
          </a:p>
        </p:txBody>
      </p:sp>
      <p:sp>
        <p:nvSpPr>
          <p:cNvPr id="28" name="Text 1"/>
          <p:cNvSpPr/>
          <p:nvPr/>
        </p:nvSpPr>
        <p:spPr>
          <a:xfrm>
            <a:off x="859840" y="1921211"/>
            <a:ext cx="13500199" cy="450007"/>
          </a:xfrm>
          <a:prstGeom prst="rect">
            <a:avLst/>
          </a:prstGeom>
          <a:noFill/>
          <a:ln/>
        </p:spPr>
        <p:txBody>
          <a:bodyPr wrap="square" lIns="0" tIns="0" rIns="0" bIns="0" rtlCol="0" anchor="t"/>
          <a:lstStyle/>
          <a:p>
            <a:pPr>
              <a:lnSpc>
                <a:spcPts val="3543"/>
              </a:lnSpc>
            </a:pPr>
            <a:r>
              <a:rPr lang="en-US" sz="2362" b="1" dirty="0">
                <a:latin typeface="Montserrat" panose="00000500000000000000" pitchFamily="2" charset="0"/>
                <a:ea typeface="Arial" pitchFamily="34" charset="-122"/>
                <a:cs typeface="Arial" pitchFamily="34" charset="-120"/>
              </a:rPr>
              <a:t>La "Paradoja de Pareto"</a:t>
            </a:r>
            <a:endParaRPr lang="en-US" sz="2362" dirty="0">
              <a:latin typeface="Montserrat" panose="00000500000000000000" pitchFamily="2" charset="0"/>
            </a:endParaRPr>
          </a:p>
        </p:txBody>
      </p:sp>
      <p:sp>
        <p:nvSpPr>
          <p:cNvPr id="29" name="Text 2"/>
          <p:cNvSpPr/>
          <p:nvPr/>
        </p:nvSpPr>
        <p:spPr>
          <a:xfrm>
            <a:off x="60218" y="2484966"/>
            <a:ext cx="14299821" cy="450007"/>
          </a:xfrm>
          <a:prstGeom prst="rect">
            <a:avLst/>
          </a:prstGeom>
          <a:noFill/>
          <a:ln/>
        </p:spPr>
        <p:txBody>
          <a:bodyPr wrap="square" lIns="0" tIns="0" rIns="0" bIns="0" rtlCol="0" anchor="t"/>
          <a:lstStyle/>
          <a:p>
            <a:pPr algn="ctr">
              <a:lnSpc>
                <a:spcPts val="3543"/>
              </a:lnSpc>
            </a:pPr>
            <a:r>
              <a:rPr lang="en-US" sz="2362" dirty="0">
                <a:latin typeface="Merriweather" panose="00000500000000000000" pitchFamily="2" charset="0"/>
                <a:ea typeface="Arial" pitchFamily="34" charset="-122"/>
                <a:cs typeface="Arial" pitchFamily="34" charset="-120"/>
              </a:rPr>
              <a:t>El 63% de los nudos críticos se concentra en 4 áreas clave, pero son los menos resueltos.</a:t>
            </a:r>
            <a:endParaRPr lang="en-US" sz="2362" dirty="0">
              <a:latin typeface="Merriweather" panose="00000500000000000000" pitchFamily="2" charset="0"/>
            </a:endParaRPr>
          </a:p>
        </p:txBody>
      </p:sp>
      <p:sp>
        <p:nvSpPr>
          <p:cNvPr id="30" name="Text 3"/>
          <p:cNvSpPr/>
          <p:nvPr/>
        </p:nvSpPr>
        <p:spPr>
          <a:xfrm>
            <a:off x="2884294" y="3936095"/>
            <a:ext cx="899661" cy="450007"/>
          </a:xfrm>
          <a:prstGeom prst="rect">
            <a:avLst/>
          </a:prstGeom>
          <a:noFill/>
          <a:ln/>
        </p:spPr>
        <p:txBody>
          <a:bodyPr wrap="square" lIns="0" tIns="0" rIns="0" bIns="0" rtlCol="0" anchor="t"/>
          <a:lstStyle/>
          <a:p>
            <a:pPr>
              <a:lnSpc>
                <a:spcPts val="3543"/>
              </a:lnSpc>
            </a:pPr>
            <a:r>
              <a:rPr lang="en-US" b="1" dirty="0">
                <a:solidFill>
                  <a:srgbClr val="000000"/>
                </a:solidFill>
                <a:latin typeface="Merriweather" panose="00000500000000000000" pitchFamily="2" charset="0"/>
                <a:ea typeface="Arial" pitchFamily="34" charset="-122"/>
                <a:cs typeface="Arial" pitchFamily="34" charset="-120"/>
              </a:rPr>
              <a:t>Agua</a:t>
            </a:r>
            <a:endParaRPr lang="en-US" dirty="0">
              <a:latin typeface="Merriweather" panose="00000500000000000000" pitchFamily="2" charset="0"/>
            </a:endParaRPr>
          </a:p>
        </p:txBody>
      </p:sp>
      <p:sp>
        <p:nvSpPr>
          <p:cNvPr id="31" name="Text 4"/>
          <p:cNvSpPr/>
          <p:nvPr/>
        </p:nvSpPr>
        <p:spPr>
          <a:xfrm>
            <a:off x="4975423" y="3849974"/>
            <a:ext cx="1373434" cy="450007"/>
          </a:xfrm>
          <a:prstGeom prst="rect">
            <a:avLst/>
          </a:prstGeom>
          <a:noFill/>
          <a:ln/>
        </p:spPr>
        <p:txBody>
          <a:bodyPr wrap="square" lIns="0" tIns="0" rIns="0" bIns="0" rtlCol="0" anchor="t"/>
          <a:lstStyle/>
          <a:p>
            <a:pPr>
              <a:lnSpc>
                <a:spcPts val="3543"/>
              </a:lnSpc>
            </a:pPr>
            <a:r>
              <a:rPr lang="en-US" b="1" dirty="0">
                <a:solidFill>
                  <a:srgbClr val="000000"/>
                </a:solidFill>
                <a:latin typeface="Merriweather" panose="00000500000000000000" pitchFamily="2" charset="0"/>
                <a:ea typeface="Arial" pitchFamily="34" charset="-122"/>
                <a:cs typeface="Arial" pitchFamily="34" charset="-120"/>
              </a:rPr>
              <a:t>Vialidad</a:t>
            </a:r>
            <a:endParaRPr lang="en-US" dirty="0">
              <a:latin typeface="Merriweather" panose="00000500000000000000" pitchFamily="2" charset="0"/>
            </a:endParaRPr>
          </a:p>
        </p:txBody>
      </p:sp>
      <p:sp>
        <p:nvSpPr>
          <p:cNvPr id="32" name="Text 5"/>
          <p:cNvSpPr/>
          <p:nvPr/>
        </p:nvSpPr>
        <p:spPr>
          <a:xfrm>
            <a:off x="7360613" y="3850863"/>
            <a:ext cx="1473631" cy="450007"/>
          </a:xfrm>
          <a:prstGeom prst="rect">
            <a:avLst/>
          </a:prstGeom>
          <a:noFill/>
          <a:ln/>
        </p:spPr>
        <p:txBody>
          <a:bodyPr wrap="square" lIns="0" tIns="0" rIns="0" bIns="0" rtlCol="0" anchor="t"/>
          <a:lstStyle/>
          <a:p>
            <a:pPr>
              <a:lnSpc>
                <a:spcPts val="3543"/>
              </a:lnSpc>
            </a:pPr>
            <a:r>
              <a:rPr lang="en-US" b="1" dirty="0">
                <a:solidFill>
                  <a:srgbClr val="000000"/>
                </a:solidFill>
                <a:latin typeface="Merriweather" panose="00000500000000000000" pitchFamily="2" charset="0"/>
                <a:ea typeface="Arial" pitchFamily="34" charset="-122"/>
                <a:cs typeface="Arial" pitchFamily="34" charset="-120"/>
              </a:rPr>
              <a:t>Vivienda</a:t>
            </a:r>
            <a:endParaRPr lang="en-US" dirty="0">
              <a:latin typeface="Merriweather" panose="00000500000000000000" pitchFamily="2" charset="0"/>
            </a:endParaRPr>
          </a:p>
        </p:txBody>
      </p:sp>
      <p:sp>
        <p:nvSpPr>
          <p:cNvPr id="33" name="Text 6"/>
          <p:cNvSpPr/>
          <p:nvPr/>
        </p:nvSpPr>
        <p:spPr>
          <a:xfrm>
            <a:off x="9423982" y="3835493"/>
            <a:ext cx="2040218" cy="450007"/>
          </a:xfrm>
          <a:prstGeom prst="rect">
            <a:avLst/>
          </a:prstGeom>
          <a:noFill/>
          <a:ln/>
        </p:spPr>
        <p:txBody>
          <a:bodyPr wrap="square" lIns="0" tIns="0" rIns="0" bIns="0" rtlCol="0" anchor="t"/>
          <a:lstStyle/>
          <a:p>
            <a:pPr>
              <a:lnSpc>
                <a:spcPts val="3543"/>
              </a:lnSpc>
            </a:pPr>
            <a:r>
              <a:rPr lang="en-US" b="1" dirty="0">
                <a:solidFill>
                  <a:srgbClr val="000000"/>
                </a:solidFill>
                <a:latin typeface="Merriweather" panose="00000500000000000000" pitchFamily="2" charset="0"/>
                <a:ea typeface="Arial" pitchFamily="34" charset="-122"/>
                <a:cs typeface="Arial" pitchFamily="34" charset="-120"/>
              </a:rPr>
              <a:t>Electricidad</a:t>
            </a:r>
            <a:endParaRPr lang="en-US" dirty="0">
              <a:latin typeface="Merriweather" panose="00000500000000000000" pitchFamily="2" charset="0"/>
            </a:endParaRPr>
          </a:p>
        </p:txBody>
      </p:sp>
      <p:sp>
        <p:nvSpPr>
          <p:cNvPr id="34" name="Text 7"/>
          <p:cNvSpPr/>
          <p:nvPr/>
        </p:nvSpPr>
        <p:spPr>
          <a:xfrm>
            <a:off x="97267" y="4390958"/>
            <a:ext cx="2178032" cy="450007"/>
          </a:xfrm>
          <a:prstGeom prst="rect">
            <a:avLst/>
          </a:prstGeom>
          <a:noFill/>
          <a:ln/>
        </p:spPr>
        <p:txBody>
          <a:bodyPr wrap="square" lIns="0" tIns="0" rIns="0" bIns="0" rtlCol="0" anchor="t"/>
          <a:lstStyle/>
          <a:p>
            <a:pPr>
              <a:lnSpc>
                <a:spcPts val="3543"/>
              </a:lnSpc>
            </a:pPr>
            <a:r>
              <a:rPr lang="en-US" sz="2126" b="1" dirty="0">
                <a:latin typeface="Montserrat" panose="00000500000000000000" pitchFamily="2" charset="0"/>
                <a:ea typeface="Arial" pitchFamily="34" charset="-122"/>
                <a:cs typeface="Arial" pitchFamily="34" charset="-120"/>
              </a:rPr>
              <a:t>Concentración</a:t>
            </a:r>
            <a:endParaRPr lang="en-US" sz="2126" dirty="0">
              <a:latin typeface="Montserrat" panose="00000500000000000000" pitchFamily="2" charset="0"/>
            </a:endParaRPr>
          </a:p>
        </p:txBody>
      </p:sp>
      <p:sp>
        <p:nvSpPr>
          <p:cNvPr id="35" name="Text 8"/>
          <p:cNvSpPr/>
          <p:nvPr/>
        </p:nvSpPr>
        <p:spPr>
          <a:xfrm>
            <a:off x="13349904" y="4882274"/>
            <a:ext cx="720363" cy="450007"/>
          </a:xfrm>
          <a:prstGeom prst="rect">
            <a:avLst/>
          </a:prstGeom>
          <a:noFill/>
          <a:ln/>
        </p:spPr>
        <p:txBody>
          <a:bodyPr wrap="square" lIns="0" tIns="0" rIns="0" bIns="0" rtlCol="0" anchor="t"/>
          <a:lstStyle/>
          <a:p>
            <a:pPr>
              <a:lnSpc>
                <a:spcPts val="3543"/>
              </a:lnSpc>
            </a:pPr>
            <a:r>
              <a:rPr lang="en-US" sz="2362" b="1" dirty="0">
                <a:solidFill>
                  <a:srgbClr val="9333EA"/>
                </a:solidFill>
                <a:latin typeface="Arial" pitchFamily="34" charset="0"/>
                <a:ea typeface="Arial" pitchFamily="34" charset="-122"/>
                <a:cs typeface="Arial" pitchFamily="34" charset="-120"/>
              </a:rPr>
              <a:t>63%</a:t>
            </a:r>
            <a:endParaRPr lang="en-US" sz="2362" dirty="0"/>
          </a:p>
        </p:txBody>
      </p:sp>
      <p:sp>
        <p:nvSpPr>
          <p:cNvPr id="36" name="Text 9"/>
          <p:cNvSpPr/>
          <p:nvPr/>
        </p:nvSpPr>
        <p:spPr>
          <a:xfrm>
            <a:off x="1023765" y="5962290"/>
            <a:ext cx="7452110" cy="450007"/>
          </a:xfrm>
          <a:prstGeom prst="rect">
            <a:avLst/>
          </a:prstGeom>
          <a:noFill/>
          <a:ln/>
        </p:spPr>
        <p:txBody>
          <a:bodyPr wrap="square" lIns="0" tIns="0" rIns="0" bIns="0" rtlCol="0" anchor="t"/>
          <a:lstStyle/>
          <a:p>
            <a:pPr>
              <a:lnSpc>
                <a:spcPts val="3543"/>
              </a:lnSpc>
            </a:pPr>
            <a:r>
              <a:rPr lang="en-US" sz="2362" b="1" dirty="0">
                <a:solidFill>
                  <a:srgbClr val="15803D"/>
                </a:solidFill>
                <a:latin typeface="Montserrat" panose="00000500000000000000" pitchFamily="2" charset="0"/>
                <a:ea typeface="Arial" pitchFamily="34" charset="-122"/>
                <a:cs typeface="Arial" pitchFamily="34" charset="-120"/>
              </a:rPr>
              <a:t>Mejor Diagnosticados</a:t>
            </a:r>
            <a:endParaRPr lang="en-US" sz="2362" dirty="0">
              <a:latin typeface="Montserrat" panose="00000500000000000000" pitchFamily="2" charset="0"/>
            </a:endParaRPr>
          </a:p>
        </p:txBody>
      </p:sp>
      <p:sp>
        <p:nvSpPr>
          <p:cNvPr id="37" name="Text 10"/>
          <p:cNvSpPr/>
          <p:nvPr/>
        </p:nvSpPr>
        <p:spPr>
          <a:xfrm>
            <a:off x="773206" y="6485604"/>
            <a:ext cx="6606903" cy="1349043"/>
          </a:xfrm>
          <a:prstGeom prst="rect">
            <a:avLst/>
          </a:prstGeom>
          <a:noFill/>
          <a:ln/>
        </p:spPr>
        <p:txBody>
          <a:bodyPr wrap="square" lIns="0" tIns="0" rIns="0" bIns="0" rtlCol="0" anchor="t"/>
          <a:lstStyle/>
          <a:p>
            <a:pPr algn="just">
              <a:lnSpc>
                <a:spcPts val="3543"/>
              </a:lnSpc>
            </a:pPr>
            <a:r>
              <a:rPr lang="en-US" sz="2362" dirty="0">
                <a:latin typeface="Merriweather" panose="00000500000000000000" pitchFamily="2" charset="0"/>
                <a:ea typeface="Arial" pitchFamily="34" charset="-122"/>
                <a:cs typeface="Arial" pitchFamily="34" charset="-120"/>
              </a:rPr>
              <a:t>Estos son los problemas mejor identificados y categorizados por las comunidades.</a:t>
            </a:r>
            <a:endParaRPr lang="en-US" sz="2362" dirty="0">
              <a:latin typeface="Merriweather" panose="00000500000000000000" pitchFamily="2" charset="0"/>
            </a:endParaRPr>
          </a:p>
        </p:txBody>
      </p:sp>
      <p:sp>
        <p:nvSpPr>
          <p:cNvPr id="38" name="Text 11"/>
          <p:cNvSpPr/>
          <p:nvPr/>
        </p:nvSpPr>
        <p:spPr>
          <a:xfrm>
            <a:off x="1023765" y="7492313"/>
            <a:ext cx="3180352" cy="450007"/>
          </a:xfrm>
          <a:prstGeom prst="rect">
            <a:avLst/>
          </a:prstGeom>
          <a:noFill/>
          <a:ln/>
        </p:spPr>
        <p:txBody>
          <a:bodyPr wrap="square" lIns="0" tIns="0" rIns="0" bIns="0" rtlCol="0" anchor="t"/>
          <a:lstStyle/>
          <a:p>
            <a:pPr>
              <a:lnSpc>
                <a:spcPts val="3543"/>
              </a:lnSpc>
            </a:pPr>
            <a:r>
              <a:rPr lang="en-US" sz="2362" dirty="0">
                <a:latin typeface="Merriweather" panose="00000500000000000000" pitchFamily="2" charset="0"/>
                <a:ea typeface="Arial" pitchFamily="34" charset="-122"/>
                <a:cs typeface="Arial" pitchFamily="34" charset="-120"/>
              </a:rPr>
              <a:t>Diagnóstico Preciso</a:t>
            </a:r>
            <a:endParaRPr lang="en-US" sz="2362" dirty="0">
              <a:latin typeface="Merriweather" panose="00000500000000000000" pitchFamily="2" charset="0"/>
            </a:endParaRPr>
          </a:p>
        </p:txBody>
      </p:sp>
      <p:sp>
        <p:nvSpPr>
          <p:cNvPr id="39" name="Text 12"/>
          <p:cNvSpPr/>
          <p:nvPr/>
        </p:nvSpPr>
        <p:spPr>
          <a:xfrm>
            <a:off x="7953867" y="5962290"/>
            <a:ext cx="6210092" cy="450007"/>
          </a:xfrm>
          <a:prstGeom prst="rect">
            <a:avLst/>
          </a:prstGeom>
          <a:noFill/>
          <a:ln/>
        </p:spPr>
        <p:txBody>
          <a:bodyPr wrap="square" lIns="0" tIns="0" rIns="0" bIns="0" rtlCol="0" anchor="t"/>
          <a:lstStyle/>
          <a:p>
            <a:pPr>
              <a:lnSpc>
                <a:spcPts val="3543"/>
              </a:lnSpc>
            </a:pPr>
            <a:r>
              <a:rPr lang="en-US" sz="2362" b="1" dirty="0">
                <a:solidFill>
                  <a:srgbClr val="B91C1C"/>
                </a:solidFill>
                <a:latin typeface="Montserrat" panose="00000500000000000000" pitchFamily="2" charset="0"/>
                <a:ea typeface="Arial" pitchFamily="34" charset="-122"/>
                <a:cs typeface="Arial" pitchFamily="34" charset="-120"/>
              </a:rPr>
              <a:t>Menos Resueltos</a:t>
            </a:r>
            <a:endParaRPr lang="en-US" sz="2362" dirty="0">
              <a:latin typeface="Montserrat" panose="00000500000000000000" pitchFamily="2" charset="0"/>
            </a:endParaRPr>
          </a:p>
        </p:txBody>
      </p:sp>
      <p:sp>
        <p:nvSpPr>
          <p:cNvPr id="40" name="Text 13"/>
          <p:cNvSpPr/>
          <p:nvPr/>
        </p:nvSpPr>
        <p:spPr>
          <a:xfrm>
            <a:off x="7609940" y="6473169"/>
            <a:ext cx="6210092" cy="900013"/>
          </a:xfrm>
          <a:prstGeom prst="rect">
            <a:avLst/>
          </a:prstGeom>
          <a:noFill/>
          <a:ln/>
        </p:spPr>
        <p:txBody>
          <a:bodyPr wrap="square" lIns="0" tIns="0" rIns="0" bIns="0" rtlCol="0" anchor="t"/>
          <a:lstStyle/>
          <a:p>
            <a:pPr algn="just">
              <a:lnSpc>
                <a:spcPts val="3543"/>
              </a:lnSpc>
            </a:pPr>
            <a:r>
              <a:rPr lang="en-US" sz="2362" dirty="0">
                <a:latin typeface="Merriweather" panose="00000500000000000000" pitchFamily="2" charset="0"/>
                <a:ea typeface="Arial" pitchFamily="34" charset="-122"/>
                <a:cs typeface="Arial" pitchFamily="34" charset="-120"/>
              </a:rPr>
              <a:t>Son los problemas que más dependen del ineficaz aparato central del Estado.</a:t>
            </a:r>
            <a:endParaRPr lang="en-US" sz="2362" dirty="0">
              <a:latin typeface="Merriweather" panose="00000500000000000000" pitchFamily="2" charset="0"/>
            </a:endParaRPr>
          </a:p>
        </p:txBody>
      </p:sp>
      <p:sp>
        <p:nvSpPr>
          <p:cNvPr id="41" name="Text 14"/>
          <p:cNvSpPr/>
          <p:nvPr/>
        </p:nvSpPr>
        <p:spPr>
          <a:xfrm>
            <a:off x="7953867" y="7492313"/>
            <a:ext cx="5596044" cy="450007"/>
          </a:xfrm>
          <a:prstGeom prst="rect">
            <a:avLst/>
          </a:prstGeom>
          <a:noFill/>
          <a:ln/>
        </p:spPr>
        <p:txBody>
          <a:bodyPr wrap="square" lIns="0" tIns="0" rIns="0" bIns="0" rtlCol="0" anchor="t"/>
          <a:lstStyle/>
          <a:p>
            <a:pPr>
              <a:lnSpc>
                <a:spcPts val="3543"/>
              </a:lnSpc>
            </a:pPr>
            <a:r>
              <a:rPr lang="en-US" sz="2362" dirty="0">
                <a:latin typeface="Merriweather" panose="00000500000000000000" pitchFamily="2" charset="0"/>
                <a:ea typeface="Arial" pitchFamily="34" charset="-122"/>
                <a:cs typeface="Arial" pitchFamily="34" charset="-120"/>
              </a:rPr>
              <a:t>Víctimas de la "Gran Desconexión"</a:t>
            </a:r>
            <a:endParaRPr lang="en-US" sz="2362" dirty="0">
              <a:latin typeface="Merriweather" panose="00000500000000000000" pitchFamily="2" charset="0"/>
            </a:endParaRPr>
          </a:p>
        </p:txBody>
      </p:sp>
      <p:sp>
        <p:nvSpPr>
          <p:cNvPr id="43" name="Text 0">
            <a:extLst>
              <a:ext uri="{FF2B5EF4-FFF2-40B4-BE49-F238E27FC236}">
                <a16:creationId xmlns:a16="http://schemas.microsoft.com/office/drawing/2014/main" id="{EAB339F0-B027-AE8C-B141-B9D1E1038883}"/>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V</a:t>
            </a:r>
          </a:p>
          <a:p>
            <a:pPr>
              <a:lnSpc>
                <a:spcPts val="2480"/>
              </a:lnSpc>
            </a:pPr>
            <a:endParaRPr lang="en-US" sz="1594" b="1" kern="0" spc="64" dirty="0">
              <a:latin typeface="Montserrat" panose="00000500000000000000" pitchFamily="2" charset="0"/>
              <a:ea typeface="Arial" pitchFamily="34" charset="-122"/>
              <a:cs typeface="Arial" pitchFamily="34" charset="-120"/>
            </a:endParaRPr>
          </a:p>
        </p:txBody>
      </p:sp>
      <p:pic>
        <p:nvPicPr>
          <p:cNvPr id="44" name="Image 2" descr="preencoded.png">
            <a:extLst>
              <a:ext uri="{FF2B5EF4-FFF2-40B4-BE49-F238E27FC236}">
                <a16:creationId xmlns:a16="http://schemas.microsoft.com/office/drawing/2014/main" id="{30AD2D3E-12CB-89A4-8FCD-538E4F59870D}"/>
              </a:ext>
            </a:extLst>
          </p:cNvPr>
          <p:cNvPicPr>
            <a:picLocks noChangeAspect="1"/>
          </p:cNvPicPr>
          <p:nvPr/>
        </p:nvPicPr>
        <p:blipFill>
          <a:blip r:embed="rId25"/>
          <a:stretch>
            <a:fillRect/>
          </a:stretch>
        </p:blipFill>
        <p:spPr>
          <a:xfrm>
            <a:off x="10627439" y="105736"/>
            <a:ext cx="3757555" cy="2632539"/>
          </a:xfrm>
          <a:prstGeom prst="rect">
            <a:avLst/>
          </a:prstGeom>
        </p:spPr>
      </p:pic>
      <p:pic>
        <p:nvPicPr>
          <p:cNvPr id="46" name="Image 2" descr="preencoded.png">
            <a:extLst>
              <a:ext uri="{FF2B5EF4-FFF2-40B4-BE49-F238E27FC236}">
                <a16:creationId xmlns:a16="http://schemas.microsoft.com/office/drawing/2014/main" id="{DCACDC5D-36DF-11EA-CAC7-BB5A9AB43CE1}"/>
              </a:ext>
            </a:extLst>
          </p:cNvPr>
          <p:cNvPicPr>
            <a:picLocks noChangeAspect="1"/>
          </p:cNvPicPr>
          <p:nvPr/>
        </p:nvPicPr>
        <p:blipFill>
          <a:blip r:embed="rId26"/>
          <a:stretch>
            <a:fillRect/>
          </a:stretch>
        </p:blipFill>
        <p:spPr>
          <a:xfrm>
            <a:off x="-1" y="108411"/>
            <a:ext cx="3757555" cy="2632539"/>
          </a:xfrm>
          <a:prstGeom prst="rect">
            <a:avLst/>
          </a:prstGeom>
        </p:spPr>
      </p:pic>
      <p:pic>
        <p:nvPicPr>
          <p:cNvPr id="47" name="Image 16" descr="preencoded.png">
            <a:extLst>
              <a:ext uri="{FF2B5EF4-FFF2-40B4-BE49-F238E27FC236}">
                <a16:creationId xmlns:a16="http://schemas.microsoft.com/office/drawing/2014/main" id="{6144FA6F-CA49-22C6-8407-29558A75C2A1}"/>
              </a:ext>
            </a:extLst>
          </p:cNvPr>
          <p:cNvPicPr>
            <a:picLocks noChangeAspect="1"/>
          </p:cNvPicPr>
          <p:nvPr/>
        </p:nvPicPr>
        <p:blipFill>
          <a:blip r:embed="rId27"/>
          <a:stretch>
            <a:fillRect/>
          </a:stretch>
        </p:blipFill>
        <p:spPr>
          <a:xfrm>
            <a:off x="60218" y="8604364"/>
            <a:ext cx="258067" cy="258067"/>
          </a:xfrm>
          <a:prstGeom prst="rect">
            <a:avLst/>
          </a:prstGeom>
        </p:spPr>
      </p:pic>
      <p:pic>
        <p:nvPicPr>
          <p:cNvPr id="49" name="Image 18" descr="preencoded.png">
            <a:extLst>
              <a:ext uri="{FF2B5EF4-FFF2-40B4-BE49-F238E27FC236}">
                <a16:creationId xmlns:a16="http://schemas.microsoft.com/office/drawing/2014/main" id="{2C6D36E0-BA59-EFE7-4928-7F7D9F20E420}"/>
              </a:ext>
            </a:extLst>
          </p:cNvPr>
          <p:cNvPicPr>
            <a:picLocks noChangeAspect="1"/>
          </p:cNvPicPr>
          <p:nvPr/>
        </p:nvPicPr>
        <p:blipFill>
          <a:blip r:embed="rId28"/>
          <a:stretch>
            <a:fillRect/>
          </a:stretch>
        </p:blipFill>
        <p:spPr>
          <a:xfrm>
            <a:off x="-1" y="8902813"/>
            <a:ext cx="14400213" cy="90001"/>
          </a:xfrm>
          <a:prstGeom prst="rect">
            <a:avLst/>
          </a:prstGeom>
        </p:spPr>
      </p:pic>
      <p:sp>
        <p:nvSpPr>
          <p:cNvPr id="50" name="Text 7">
            <a:extLst>
              <a:ext uri="{FF2B5EF4-FFF2-40B4-BE49-F238E27FC236}">
                <a16:creationId xmlns:a16="http://schemas.microsoft.com/office/drawing/2014/main" id="{B10C89C9-41B7-586F-680B-E2339F1F3105}"/>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pic>
        <p:nvPicPr>
          <p:cNvPr id="51" name="Image 17" descr="preencoded.png">
            <a:extLst>
              <a:ext uri="{FF2B5EF4-FFF2-40B4-BE49-F238E27FC236}">
                <a16:creationId xmlns:a16="http://schemas.microsoft.com/office/drawing/2014/main" id="{FA5139DE-F8A5-7294-5BF7-B3586F9C5F8B}"/>
              </a:ext>
            </a:extLst>
          </p:cNvPr>
          <p:cNvPicPr>
            <a:picLocks noChangeAspect="1"/>
          </p:cNvPicPr>
          <p:nvPr/>
        </p:nvPicPr>
        <p:blipFill>
          <a:blip r:embed="rId29"/>
          <a:stretch>
            <a:fillRect/>
          </a:stretch>
        </p:blipFill>
        <p:spPr>
          <a:xfrm>
            <a:off x="-15996" y="-7645"/>
            <a:ext cx="14400213" cy="900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50006" y="2534242"/>
            <a:ext cx="6615098" cy="1980029"/>
          </a:xfrm>
          <a:prstGeom prst="rect">
            <a:avLst/>
          </a:prstGeom>
        </p:spPr>
      </p:pic>
      <p:pic>
        <p:nvPicPr>
          <p:cNvPr id="4" name="Image 2" descr="preencoded.png"/>
          <p:cNvPicPr>
            <a:picLocks noChangeAspect="1"/>
          </p:cNvPicPr>
          <p:nvPr/>
        </p:nvPicPr>
        <p:blipFill>
          <a:blip r:embed="rId4"/>
          <a:stretch>
            <a:fillRect/>
          </a:stretch>
        </p:blipFill>
        <p:spPr>
          <a:xfrm>
            <a:off x="630009" y="2714246"/>
            <a:ext cx="562508" cy="562508"/>
          </a:xfrm>
          <a:prstGeom prst="rect">
            <a:avLst/>
          </a:prstGeom>
        </p:spPr>
      </p:pic>
      <p:pic>
        <p:nvPicPr>
          <p:cNvPr id="5" name="Image 3" descr="preencoded.png"/>
          <p:cNvPicPr>
            <a:picLocks noChangeAspect="1"/>
          </p:cNvPicPr>
          <p:nvPr/>
        </p:nvPicPr>
        <p:blipFill>
          <a:blip r:embed="rId5"/>
          <a:stretch>
            <a:fillRect/>
          </a:stretch>
        </p:blipFill>
        <p:spPr>
          <a:xfrm>
            <a:off x="810012" y="2815497"/>
            <a:ext cx="202503" cy="360005"/>
          </a:xfrm>
          <a:prstGeom prst="rect">
            <a:avLst/>
          </a:prstGeom>
        </p:spPr>
      </p:pic>
      <p:pic>
        <p:nvPicPr>
          <p:cNvPr id="6" name="Image 4" descr="preencoded.png"/>
          <p:cNvPicPr>
            <a:picLocks noChangeAspect="1"/>
          </p:cNvPicPr>
          <p:nvPr/>
        </p:nvPicPr>
        <p:blipFill>
          <a:blip r:embed="rId3"/>
          <a:stretch>
            <a:fillRect/>
          </a:stretch>
        </p:blipFill>
        <p:spPr>
          <a:xfrm>
            <a:off x="450006" y="4657271"/>
            <a:ext cx="6615098" cy="1755026"/>
          </a:xfrm>
          <a:prstGeom prst="rect">
            <a:avLst/>
          </a:prstGeom>
        </p:spPr>
      </p:pic>
      <p:pic>
        <p:nvPicPr>
          <p:cNvPr id="7" name="Image 5" descr="preencoded.png"/>
          <p:cNvPicPr>
            <a:picLocks noChangeAspect="1"/>
          </p:cNvPicPr>
          <p:nvPr/>
        </p:nvPicPr>
        <p:blipFill>
          <a:blip r:embed="rId6"/>
          <a:stretch>
            <a:fillRect/>
          </a:stretch>
        </p:blipFill>
        <p:spPr>
          <a:xfrm>
            <a:off x="630009" y="4837274"/>
            <a:ext cx="562508" cy="562508"/>
          </a:xfrm>
          <a:prstGeom prst="rect">
            <a:avLst/>
          </a:prstGeom>
        </p:spPr>
      </p:pic>
      <p:pic>
        <p:nvPicPr>
          <p:cNvPr id="8" name="Image 6" descr="preencoded.png"/>
          <p:cNvPicPr>
            <a:picLocks noChangeAspect="1"/>
          </p:cNvPicPr>
          <p:nvPr/>
        </p:nvPicPr>
        <p:blipFill>
          <a:blip r:embed="rId7"/>
          <a:stretch>
            <a:fillRect/>
          </a:stretch>
        </p:blipFill>
        <p:spPr>
          <a:xfrm>
            <a:off x="776261" y="4938526"/>
            <a:ext cx="270004" cy="360005"/>
          </a:xfrm>
          <a:prstGeom prst="rect">
            <a:avLst/>
          </a:prstGeom>
        </p:spPr>
      </p:pic>
      <p:pic>
        <p:nvPicPr>
          <p:cNvPr id="9" name="Image 7" descr="preencoded.png"/>
          <p:cNvPicPr>
            <a:picLocks noChangeAspect="1"/>
          </p:cNvPicPr>
          <p:nvPr/>
        </p:nvPicPr>
        <p:blipFill>
          <a:blip r:embed="rId3"/>
          <a:stretch>
            <a:fillRect/>
          </a:stretch>
        </p:blipFill>
        <p:spPr>
          <a:xfrm>
            <a:off x="450006" y="6637300"/>
            <a:ext cx="6615098" cy="1755026"/>
          </a:xfrm>
          <a:prstGeom prst="rect">
            <a:avLst/>
          </a:prstGeom>
        </p:spPr>
      </p:pic>
      <p:pic>
        <p:nvPicPr>
          <p:cNvPr id="10" name="Image 8" descr="preencoded.png"/>
          <p:cNvPicPr>
            <a:picLocks noChangeAspect="1"/>
          </p:cNvPicPr>
          <p:nvPr/>
        </p:nvPicPr>
        <p:blipFill>
          <a:blip r:embed="rId8"/>
          <a:stretch>
            <a:fillRect/>
          </a:stretch>
        </p:blipFill>
        <p:spPr>
          <a:xfrm>
            <a:off x="630009" y="6817303"/>
            <a:ext cx="562508" cy="562508"/>
          </a:xfrm>
          <a:prstGeom prst="rect">
            <a:avLst/>
          </a:prstGeom>
        </p:spPr>
      </p:pic>
      <p:pic>
        <p:nvPicPr>
          <p:cNvPr id="11" name="Image 9" descr="preencoded.png"/>
          <p:cNvPicPr>
            <a:picLocks noChangeAspect="1"/>
          </p:cNvPicPr>
          <p:nvPr/>
        </p:nvPicPr>
        <p:blipFill>
          <a:blip r:embed="rId9"/>
          <a:stretch>
            <a:fillRect/>
          </a:stretch>
        </p:blipFill>
        <p:spPr>
          <a:xfrm>
            <a:off x="759387" y="6918555"/>
            <a:ext cx="303754" cy="360005"/>
          </a:xfrm>
          <a:prstGeom prst="rect">
            <a:avLst/>
          </a:prstGeom>
        </p:spPr>
      </p:pic>
      <p:pic>
        <p:nvPicPr>
          <p:cNvPr id="12" name="Image 10" descr="preencoded.png"/>
          <p:cNvPicPr>
            <a:picLocks noChangeAspect="1"/>
          </p:cNvPicPr>
          <p:nvPr/>
        </p:nvPicPr>
        <p:blipFill>
          <a:blip r:embed="rId10"/>
          <a:stretch>
            <a:fillRect/>
          </a:stretch>
        </p:blipFill>
        <p:spPr>
          <a:xfrm>
            <a:off x="7595374" y="7309753"/>
            <a:ext cx="6615098" cy="1417521"/>
          </a:xfrm>
          <a:prstGeom prst="rect">
            <a:avLst/>
          </a:prstGeom>
        </p:spPr>
      </p:pic>
      <p:pic>
        <p:nvPicPr>
          <p:cNvPr id="13" name="Image 11" descr="preencoded.png"/>
          <p:cNvPicPr>
            <a:picLocks noChangeAspect="1"/>
          </p:cNvPicPr>
          <p:nvPr/>
        </p:nvPicPr>
        <p:blipFill>
          <a:blip r:embed="rId11"/>
          <a:stretch>
            <a:fillRect/>
          </a:stretch>
        </p:blipFill>
        <p:spPr>
          <a:xfrm>
            <a:off x="7775377" y="7489756"/>
            <a:ext cx="562508" cy="562508"/>
          </a:xfrm>
          <a:prstGeom prst="rect">
            <a:avLst/>
          </a:prstGeom>
        </p:spPr>
      </p:pic>
      <p:pic>
        <p:nvPicPr>
          <p:cNvPr id="14" name="Image 12" descr="preencoded.png"/>
          <p:cNvPicPr>
            <a:picLocks noChangeAspect="1"/>
          </p:cNvPicPr>
          <p:nvPr/>
        </p:nvPicPr>
        <p:blipFill>
          <a:blip r:embed="rId12"/>
          <a:stretch>
            <a:fillRect/>
          </a:stretch>
        </p:blipFill>
        <p:spPr>
          <a:xfrm>
            <a:off x="7887879" y="7591007"/>
            <a:ext cx="337505" cy="360005"/>
          </a:xfrm>
          <a:prstGeom prst="rect">
            <a:avLst/>
          </a:prstGeom>
        </p:spPr>
      </p:pic>
      <p:sp>
        <p:nvSpPr>
          <p:cNvPr id="22" name="Text 0"/>
          <p:cNvSpPr/>
          <p:nvPr/>
        </p:nvSpPr>
        <p:spPr>
          <a:xfrm>
            <a:off x="-15996" y="533558"/>
            <a:ext cx="14384216" cy="540008"/>
          </a:xfrm>
          <a:prstGeom prst="rect">
            <a:avLst/>
          </a:prstGeom>
          <a:noFill/>
          <a:ln/>
        </p:spPr>
        <p:txBody>
          <a:bodyPr wrap="square" lIns="0" tIns="0" rIns="0" bIns="0" rtlCol="0" anchor="t"/>
          <a:lstStyle/>
          <a:p>
            <a:pPr algn="ctr">
              <a:lnSpc>
                <a:spcPts val="4252"/>
              </a:lnSpc>
            </a:pPr>
            <a:r>
              <a:rPr lang="en-US" sz="2835" b="1" dirty="0">
                <a:solidFill>
                  <a:srgbClr val="000000"/>
                </a:solidFill>
                <a:latin typeface="Montserrat" panose="00000500000000000000" pitchFamily="2" charset="0"/>
                <a:ea typeface="ui-sans-serif" pitchFamily="34" charset="-122"/>
                <a:cs typeface="ui-sans-serif" pitchFamily="34" charset="-120"/>
              </a:rPr>
              <a:t>Limitaciones Metodológicas</a:t>
            </a:r>
            <a:endParaRPr lang="en-US" sz="2835" dirty="0">
              <a:latin typeface="Montserrat" panose="00000500000000000000" pitchFamily="2" charset="0"/>
            </a:endParaRPr>
          </a:p>
        </p:txBody>
      </p:sp>
      <p:sp>
        <p:nvSpPr>
          <p:cNvPr id="23" name="Text 1"/>
          <p:cNvSpPr/>
          <p:nvPr/>
        </p:nvSpPr>
        <p:spPr>
          <a:xfrm>
            <a:off x="143002" y="1161961"/>
            <a:ext cx="14384216" cy="234735"/>
          </a:xfrm>
          <a:prstGeom prst="rect">
            <a:avLst/>
          </a:prstGeom>
          <a:noFill/>
          <a:ln/>
        </p:spPr>
        <p:txBody>
          <a:bodyPr wrap="square" lIns="0" tIns="0" rIns="0" bIns="0" rtlCol="0" anchor="t"/>
          <a:lstStyle/>
          <a:p>
            <a:pPr algn="ctr">
              <a:lnSpc>
                <a:spcPts val="2480"/>
              </a:lnSpc>
            </a:pPr>
            <a:r>
              <a:rPr lang="en-US" sz="2000" dirty="0">
                <a:latin typeface="Merriweather" panose="00000500000000000000" pitchFamily="2" charset="0"/>
                <a:ea typeface="ui-sans-serif" pitchFamily="34" charset="-122"/>
                <a:cs typeface="ui-sans-serif" pitchFamily="34" charset="-120"/>
              </a:rPr>
              <a:t>Una exploración cuantitativa con fronteras claras</a:t>
            </a:r>
            <a:endParaRPr lang="en-US" sz="2000" dirty="0">
              <a:latin typeface="Merriweather" panose="00000500000000000000" pitchFamily="2" charset="0"/>
            </a:endParaRPr>
          </a:p>
        </p:txBody>
      </p:sp>
      <p:sp>
        <p:nvSpPr>
          <p:cNvPr id="24" name="Text 2"/>
          <p:cNvSpPr/>
          <p:nvPr/>
        </p:nvSpPr>
        <p:spPr>
          <a:xfrm>
            <a:off x="1372520" y="2714246"/>
            <a:ext cx="5512581" cy="337505"/>
          </a:xfrm>
          <a:prstGeom prst="rect">
            <a:avLst/>
          </a:prstGeom>
          <a:noFill/>
          <a:ln/>
        </p:spPr>
        <p:txBody>
          <a:bodyPr wrap="square" lIns="0" tIns="0" rIns="0" bIns="0" rtlCol="0" anchor="t"/>
          <a:lstStyle/>
          <a:p>
            <a:pPr>
              <a:lnSpc>
                <a:spcPts val="2657"/>
              </a:lnSpc>
            </a:pPr>
            <a:r>
              <a:rPr lang="en-US" sz="2200" b="1" dirty="0">
                <a:latin typeface="Merriweather" panose="00000500000000000000" pitchFamily="2" charset="0"/>
                <a:ea typeface="ui-sans-serif" pitchFamily="34" charset="-122"/>
                <a:cs typeface="ui-sans-serif" pitchFamily="34" charset="-120"/>
              </a:rPr>
              <a:t>Carácter Documental</a:t>
            </a:r>
            <a:endParaRPr lang="en-US" sz="2200" dirty="0">
              <a:latin typeface="Merriweather" panose="00000500000000000000" pitchFamily="2" charset="0"/>
            </a:endParaRPr>
          </a:p>
        </p:txBody>
      </p:sp>
      <p:sp>
        <p:nvSpPr>
          <p:cNvPr id="25" name="Text 3"/>
          <p:cNvSpPr/>
          <p:nvPr/>
        </p:nvSpPr>
        <p:spPr>
          <a:xfrm>
            <a:off x="1372520" y="3096751"/>
            <a:ext cx="5692584" cy="1012515"/>
          </a:xfrm>
          <a:prstGeom prst="rect">
            <a:avLst/>
          </a:prstGeom>
          <a:noFill/>
          <a:ln/>
        </p:spPr>
        <p:txBody>
          <a:bodyPr wrap="square" lIns="0" tIns="0" rIns="0" bIns="0" rtlCol="0" anchor="t"/>
          <a:lstStyle/>
          <a:p>
            <a:pPr algn="just">
              <a:lnSpc>
                <a:spcPts val="2657"/>
              </a:lnSpc>
            </a:pPr>
            <a:r>
              <a:rPr lang="en-US" sz="2200" dirty="0">
                <a:latin typeface="Merriweather" panose="00000500000000000000" pitchFamily="2" charset="0"/>
                <a:ea typeface="ui-sans-serif" pitchFamily="34" charset="-122"/>
                <a:cs typeface="ui-sans-serif" pitchFamily="34" charset="-120"/>
              </a:rPr>
              <a:t>Ausencia de validación cualitativa en campo. No se pudo corroborar las causas últimas de la desconexión ejecutiva.</a:t>
            </a:r>
            <a:endParaRPr lang="en-US" sz="2200" dirty="0">
              <a:latin typeface="Merriweather" panose="00000500000000000000" pitchFamily="2" charset="0"/>
            </a:endParaRPr>
          </a:p>
        </p:txBody>
      </p:sp>
      <p:sp>
        <p:nvSpPr>
          <p:cNvPr id="26" name="Text 4"/>
          <p:cNvSpPr/>
          <p:nvPr/>
        </p:nvSpPr>
        <p:spPr>
          <a:xfrm>
            <a:off x="1372520" y="4837274"/>
            <a:ext cx="5512581" cy="337505"/>
          </a:xfrm>
          <a:prstGeom prst="rect">
            <a:avLst/>
          </a:prstGeom>
          <a:noFill/>
          <a:ln/>
        </p:spPr>
        <p:txBody>
          <a:bodyPr wrap="square" lIns="0" tIns="0" rIns="0" bIns="0" rtlCol="0" anchor="t"/>
          <a:lstStyle/>
          <a:p>
            <a:pPr>
              <a:lnSpc>
                <a:spcPts val="2657"/>
              </a:lnSpc>
            </a:pPr>
            <a:r>
              <a:rPr lang="en-US" sz="2200" b="1" dirty="0">
                <a:latin typeface="Merriweather" panose="00000500000000000000" pitchFamily="2" charset="0"/>
                <a:ea typeface="ui-sans-serif" pitchFamily="34" charset="-122"/>
                <a:cs typeface="ui-sans-serif" pitchFamily="34" charset="-120"/>
              </a:rPr>
              <a:t>Exclusión de Datos</a:t>
            </a:r>
            <a:endParaRPr lang="en-US" sz="2200" dirty="0">
              <a:latin typeface="Merriweather" panose="00000500000000000000" pitchFamily="2" charset="0"/>
            </a:endParaRPr>
          </a:p>
        </p:txBody>
      </p:sp>
      <p:sp>
        <p:nvSpPr>
          <p:cNvPr id="27" name="Text 5"/>
          <p:cNvSpPr/>
          <p:nvPr/>
        </p:nvSpPr>
        <p:spPr>
          <a:xfrm>
            <a:off x="1372520" y="5219780"/>
            <a:ext cx="5962590" cy="1012515"/>
          </a:xfrm>
          <a:prstGeom prst="rect">
            <a:avLst/>
          </a:prstGeom>
          <a:noFill/>
          <a:ln/>
        </p:spPr>
        <p:txBody>
          <a:bodyPr wrap="square" lIns="0" tIns="0" rIns="0" bIns="0" rtlCol="0" anchor="t"/>
          <a:lstStyle/>
          <a:p>
            <a:pPr algn="just">
              <a:lnSpc>
                <a:spcPts val="2657"/>
              </a:lnSpc>
            </a:pPr>
            <a:r>
              <a:rPr lang="en-US" sz="2200" dirty="0">
                <a:latin typeface="Merriweather" panose="00000500000000000000" pitchFamily="2" charset="0"/>
                <a:ea typeface="ui-sans-serif" pitchFamily="34" charset="-122"/>
                <a:cs typeface="ui-sans-serif" pitchFamily="34" charset="-120"/>
              </a:rPr>
              <a:t>Se descartó el 18.4% de las comunas y el 12% de los proyectos, lo que podría sesgar la muestra hacia casos con mejor registro.</a:t>
            </a:r>
            <a:endParaRPr lang="en-US" sz="2200" dirty="0">
              <a:latin typeface="Merriweather" panose="00000500000000000000" pitchFamily="2" charset="0"/>
            </a:endParaRPr>
          </a:p>
        </p:txBody>
      </p:sp>
      <p:sp>
        <p:nvSpPr>
          <p:cNvPr id="28" name="Text 6"/>
          <p:cNvSpPr/>
          <p:nvPr/>
        </p:nvSpPr>
        <p:spPr>
          <a:xfrm>
            <a:off x="1372520" y="6817303"/>
            <a:ext cx="5512581" cy="337505"/>
          </a:xfrm>
          <a:prstGeom prst="rect">
            <a:avLst/>
          </a:prstGeom>
          <a:noFill/>
          <a:ln/>
        </p:spPr>
        <p:txBody>
          <a:bodyPr wrap="square" lIns="0" tIns="0" rIns="0" bIns="0" rtlCol="0" anchor="t"/>
          <a:lstStyle/>
          <a:p>
            <a:pPr algn="just">
              <a:lnSpc>
                <a:spcPts val="2657"/>
              </a:lnSpc>
            </a:pPr>
            <a:r>
              <a:rPr lang="en-US" sz="2200" b="1" dirty="0">
                <a:latin typeface="Merriweather" panose="00000500000000000000" pitchFamily="2" charset="0"/>
                <a:ea typeface="ui-sans-serif" pitchFamily="34" charset="-122"/>
                <a:cs typeface="ui-sans-serif" pitchFamily="34" charset="-120"/>
              </a:rPr>
              <a:t>Limitación del PCA</a:t>
            </a:r>
            <a:endParaRPr lang="en-US" sz="2200" dirty="0">
              <a:latin typeface="Merriweather" panose="00000500000000000000" pitchFamily="2" charset="0"/>
            </a:endParaRPr>
          </a:p>
        </p:txBody>
      </p:sp>
      <p:sp>
        <p:nvSpPr>
          <p:cNvPr id="29" name="Text 7"/>
          <p:cNvSpPr/>
          <p:nvPr/>
        </p:nvSpPr>
        <p:spPr>
          <a:xfrm>
            <a:off x="1372520" y="7199809"/>
            <a:ext cx="5962590" cy="1012515"/>
          </a:xfrm>
          <a:prstGeom prst="rect">
            <a:avLst/>
          </a:prstGeom>
          <a:noFill/>
          <a:ln/>
        </p:spPr>
        <p:txBody>
          <a:bodyPr wrap="square" lIns="0" tIns="0" rIns="0" bIns="0" rtlCol="0" anchor="t"/>
          <a:lstStyle/>
          <a:p>
            <a:pPr algn="just">
              <a:lnSpc>
                <a:spcPts val="2657"/>
              </a:lnSpc>
            </a:pPr>
            <a:r>
              <a:rPr lang="en-US" sz="2200" dirty="0">
                <a:latin typeface="Merriweather" panose="00000500000000000000" pitchFamily="2" charset="0"/>
                <a:ea typeface="ui-sans-serif" pitchFamily="34" charset="-122"/>
                <a:cs typeface="ui-sans-serif" pitchFamily="34" charset="-120"/>
              </a:rPr>
              <a:t>El índice KMO (0.392) fue bajo, por lo que los componentes deben interpretarse de forma exploratoria.</a:t>
            </a:r>
            <a:endParaRPr lang="en-US" sz="2200" dirty="0">
              <a:latin typeface="Merriweather" panose="00000500000000000000" pitchFamily="2" charset="0"/>
            </a:endParaRPr>
          </a:p>
        </p:txBody>
      </p:sp>
      <p:sp>
        <p:nvSpPr>
          <p:cNvPr id="30" name="Text 8"/>
          <p:cNvSpPr/>
          <p:nvPr/>
        </p:nvSpPr>
        <p:spPr>
          <a:xfrm>
            <a:off x="8517888" y="7489757"/>
            <a:ext cx="5585039" cy="347820"/>
          </a:xfrm>
          <a:prstGeom prst="rect">
            <a:avLst/>
          </a:prstGeom>
          <a:noFill/>
          <a:ln/>
        </p:spPr>
        <p:txBody>
          <a:bodyPr wrap="square" lIns="0" tIns="0" rIns="0" bIns="0" rtlCol="0" anchor="t"/>
          <a:lstStyle/>
          <a:p>
            <a:pPr algn="ctr">
              <a:lnSpc>
                <a:spcPts val="2657"/>
              </a:lnSpc>
            </a:pPr>
            <a:r>
              <a:rPr lang="en-US" sz="2000" b="1" dirty="0">
                <a:solidFill>
                  <a:srgbClr val="000000"/>
                </a:solidFill>
                <a:latin typeface="Montserrat" panose="00000500000000000000" pitchFamily="2" charset="0"/>
                <a:ea typeface="ui-sans-serif" pitchFamily="34" charset="-122"/>
                <a:cs typeface="ui-sans-serif" pitchFamily="34" charset="-120"/>
              </a:rPr>
              <a:t>Tamaño Muestral Reducido</a:t>
            </a:r>
            <a:endParaRPr lang="en-US" sz="2000" dirty="0">
              <a:latin typeface="Montserrat" panose="00000500000000000000" pitchFamily="2" charset="0"/>
            </a:endParaRPr>
          </a:p>
        </p:txBody>
      </p:sp>
      <p:sp>
        <p:nvSpPr>
          <p:cNvPr id="31" name="Text 9"/>
          <p:cNvSpPr/>
          <p:nvPr/>
        </p:nvSpPr>
        <p:spPr>
          <a:xfrm>
            <a:off x="8517888" y="7872260"/>
            <a:ext cx="5512581" cy="895395"/>
          </a:xfrm>
          <a:prstGeom prst="rect">
            <a:avLst/>
          </a:prstGeom>
          <a:noFill/>
          <a:ln/>
        </p:spPr>
        <p:txBody>
          <a:bodyPr wrap="square" lIns="0" tIns="0" rIns="0" bIns="0" rtlCol="0" anchor="t"/>
          <a:lstStyle/>
          <a:p>
            <a:r>
              <a:rPr lang="en-US" sz="2000" dirty="0">
                <a:latin typeface="Merriweather" panose="00000500000000000000" pitchFamily="2" charset="0"/>
                <a:ea typeface="ui-sans-serif" pitchFamily="34" charset="-122"/>
                <a:cs typeface="ui-sans-serif" pitchFamily="34" charset="-120"/>
              </a:rPr>
              <a:t>Los análisis por tipo de comuna (ej. 5 urbanas, 11 rurales) deben tomarse con cautela.</a:t>
            </a:r>
            <a:endParaRPr lang="en-US" sz="2000" dirty="0">
              <a:latin typeface="Merriweather" panose="00000500000000000000" pitchFamily="2" charset="0"/>
            </a:endParaRPr>
          </a:p>
        </p:txBody>
      </p:sp>
      <p:sp>
        <p:nvSpPr>
          <p:cNvPr id="42" name="Text 0">
            <a:extLst>
              <a:ext uri="{FF2B5EF4-FFF2-40B4-BE49-F238E27FC236}">
                <a16:creationId xmlns:a16="http://schemas.microsoft.com/office/drawing/2014/main" id="{E491C12B-B8E1-3531-81C3-C8014C6147E6}"/>
              </a:ext>
            </a:extLst>
          </p:cNvPr>
          <p:cNvSpPr/>
          <p:nvPr/>
        </p:nvSpPr>
        <p:spPr>
          <a:xfrm>
            <a:off x="205702" y="312237"/>
            <a:ext cx="1498522" cy="315005"/>
          </a:xfrm>
          <a:prstGeom prst="rect">
            <a:avLst/>
          </a:prstGeom>
          <a:noFill/>
          <a:ln/>
        </p:spPr>
        <p:txBody>
          <a:bodyPr wrap="square" lIns="0" tIns="0" rIns="0" bIns="0" rtlCol="0" anchor="t"/>
          <a:lstStyle/>
          <a:p>
            <a:pPr>
              <a:lnSpc>
                <a:spcPts val="2480"/>
              </a:lnSpc>
            </a:pPr>
            <a:r>
              <a:rPr lang="en-US" sz="1594" b="1" kern="0" spc="64" dirty="0">
                <a:latin typeface="Montserrat" panose="00000500000000000000" pitchFamily="2" charset="0"/>
                <a:ea typeface="Arial" pitchFamily="34" charset="-122"/>
                <a:cs typeface="Arial" pitchFamily="34" charset="-120"/>
              </a:rPr>
              <a:t>CAPÍTULO V</a:t>
            </a:r>
          </a:p>
          <a:p>
            <a:pPr>
              <a:lnSpc>
                <a:spcPts val="2480"/>
              </a:lnSpc>
            </a:pPr>
            <a:endParaRPr lang="en-US" sz="1594" b="1" kern="0" spc="64" dirty="0">
              <a:latin typeface="Montserrat" panose="00000500000000000000" pitchFamily="2" charset="0"/>
              <a:ea typeface="Arial" pitchFamily="34" charset="-122"/>
              <a:cs typeface="Arial" pitchFamily="34" charset="-120"/>
            </a:endParaRPr>
          </a:p>
        </p:txBody>
      </p:sp>
      <p:pic>
        <p:nvPicPr>
          <p:cNvPr id="43" name="Image 16" descr="preencoded.png">
            <a:extLst>
              <a:ext uri="{FF2B5EF4-FFF2-40B4-BE49-F238E27FC236}">
                <a16:creationId xmlns:a16="http://schemas.microsoft.com/office/drawing/2014/main" id="{042D89A4-A316-165D-2EA0-B26552FCC035}"/>
              </a:ext>
            </a:extLst>
          </p:cNvPr>
          <p:cNvPicPr>
            <a:picLocks noChangeAspect="1"/>
          </p:cNvPicPr>
          <p:nvPr/>
        </p:nvPicPr>
        <p:blipFill>
          <a:blip r:embed="rId13"/>
          <a:stretch>
            <a:fillRect/>
          </a:stretch>
        </p:blipFill>
        <p:spPr>
          <a:xfrm>
            <a:off x="60218" y="8604364"/>
            <a:ext cx="258067" cy="258067"/>
          </a:xfrm>
          <a:prstGeom prst="rect">
            <a:avLst/>
          </a:prstGeom>
        </p:spPr>
      </p:pic>
      <p:pic>
        <p:nvPicPr>
          <p:cNvPr id="44" name="Image 18" descr="preencoded.png">
            <a:extLst>
              <a:ext uri="{FF2B5EF4-FFF2-40B4-BE49-F238E27FC236}">
                <a16:creationId xmlns:a16="http://schemas.microsoft.com/office/drawing/2014/main" id="{F16E06EA-77CF-BAC4-04FF-BFE7C30F823F}"/>
              </a:ext>
            </a:extLst>
          </p:cNvPr>
          <p:cNvPicPr>
            <a:picLocks noChangeAspect="1"/>
          </p:cNvPicPr>
          <p:nvPr/>
        </p:nvPicPr>
        <p:blipFill>
          <a:blip r:embed="rId14"/>
          <a:stretch>
            <a:fillRect/>
          </a:stretch>
        </p:blipFill>
        <p:spPr>
          <a:xfrm>
            <a:off x="-1" y="8902813"/>
            <a:ext cx="14400213" cy="90001"/>
          </a:xfrm>
          <a:prstGeom prst="rect">
            <a:avLst/>
          </a:prstGeom>
        </p:spPr>
      </p:pic>
      <p:sp>
        <p:nvSpPr>
          <p:cNvPr id="45" name="Text 7">
            <a:extLst>
              <a:ext uri="{FF2B5EF4-FFF2-40B4-BE49-F238E27FC236}">
                <a16:creationId xmlns:a16="http://schemas.microsoft.com/office/drawing/2014/main" id="{DB2B5935-F37E-9645-8B09-576AA7C4597C}"/>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pic>
        <p:nvPicPr>
          <p:cNvPr id="46" name="Image 17" descr="preencoded.png">
            <a:extLst>
              <a:ext uri="{FF2B5EF4-FFF2-40B4-BE49-F238E27FC236}">
                <a16:creationId xmlns:a16="http://schemas.microsoft.com/office/drawing/2014/main" id="{62583B1E-E2A3-09CF-7794-5798B7A5800B}"/>
              </a:ext>
            </a:extLst>
          </p:cNvPr>
          <p:cNvPicPr>
            <a:picLocks noChangeAspect="1"/>
          </p:cNvPicPr>
          <p:nvPr/>
        </p:nvPicPr>
        <p:blipFill>
          <a:blip r:embed="rId15"/>
          <a:stretch>
            <a:fillRect/>
          </a:stretch>
        </p:blipFill>
        <p:spPr>
          <a:xfrm>
            <a:off x="-15996" y="-7645"/>
            <a:ext cx="14400213" cy="90001"/>
          </a:xfrm>
          <a:prstGeom prst="rect">
            <a:avLst/>
          </a:prstGeom>
        </p:spPr>
      </p:pic>
      <p:pic>
        <p:nvPicPr>
          <p:cNvPr id="47" name="Image 2" descr="preencoded.png">
            <a:extLst>
              <a:ext uri="{FF2B5EF4-FFF2-40B4-BE49-F238E27FC236}">
                <a16:creationId xmlns:a16="http://schemas.microsoft.com/office/drawing/2014/main" id="{C14E901C-5C89-1E62-2729-DD6F87FB9BFE}"/>
              </a:ext>
            </a:extLst>
          </p:cNvPr>
          <p:cNvPicPr>
            <a:picLocks noChangeAspect="1"/>
          </p:cNvPicPr>
          <p:nvPr/>
        </p:nvPicPr>
        <p:blipFill>
          <a:blip r:embed="rId16"/>
          <a:stretch>
            <a:fillRect/>
          </a:stretch>
        </p:blipFill>
        <p:spPr>
          <a:xfrm>
            <a:off x="0" y="108411"/>
            <a:ext cx="3462510" cy="2425831"/>
          </a:xfrm>
          <a:prstGeom prst="rect">
            <a:avLst/>
          </a:prstGeom>
        </p:spPr>
      </p:pic>
      <p:pic>
        <p:nvPicPr>
          <p:cNvPr id="62" name="Image 13" descr="preencoded.png"/>
          <p:cNvPicPr>
            <a:picLocks noChangeAspect="1"/>
          </p:cNvPicPr>
          <p:nvPr/>
        </p:nvPicPr>
        <p:blipFill>
          <a:blip r:embed="rId17"/>
          <a:stretch>
            <a:fillRect/>
          </a:stretch>
        </p:blipFill>
        <p:spPr>
          <a:xfrm>
            <a:off x="8150710" y="1570941"/>
            <a:ext cx="6165091" cy="5544936"/>
          </a:xfrm>
          <a:prstGeom prst="rect">
            <a:avLst/>
          </a:prstGeom>
        </p:spPr>
      </p:pic>
      <p:pic>
        <p:nvPicPr>
          <p:cNvPr id="63" name="Image 14" descr="preencoded.png"/>
          <p:cNvPicPr>
            <a:picLocks noChangeAspect="1"/>
          </p:cNvPicPr>
          <p:nvPr/>
        </p:nvPicPr>
        <p:blipFill>
          <a:blip r:embed="rId18"/>
          <a:stretch>
            <a:fillRect/>
          </a:stretch>
        </p:blipFill>
        <p:spPr>
          <a:xfrm>
            <a:off x="8370123" y="3303466"/>
            <a:ext cx="5625083" cy="225003"/>
          </a:xfrm>
          <a:prstGeom prst="rect">
            <a:avLst/>
          </a:prstGeom>
        </p:spPr>
      </p:pic>
      <p:pic>
        <p:nvPicPr>
          <p:cNvPr id="64" name="Image 15" descr="preencoded.png"/>
          <p:cNvPicPr>
            <a:picLocks noChangeAspect="1"/>
          </p:cNvPicPr>
          <p:nvPr/>
        </p:nvPicPr>
        <p:blipFill>
          <a:blip r:embed="rId19"/>
          <a:stretch>
            <a:fillRect/>
          </a:stretch>
        </p:blipFill>
        <p:spPr>
          <a:xfrm>
            <a:off x="8370123" y="3303466"/>
            <a:ext cx="1035015" cy="225003"/>
          </a:xfrm>
          <a:prstGeom prst="rect">
            <a:avLst/>
          </a:prstGeom>
        </p:spPr>
      </p:pic>
      <p:pic>
        <p:nvPicPr>
          <p:cNvPr id="65" name="Image 16" descr="preencoded.png"/>
          <p:cNvPicPr>
            <a:picLocks noChangeAspect="1"/>
          </p:cNvPicPr>
          <p:nvPr/>
        </p:nvPicPr>
        <p:blipFill>
          <a:blip r:embed="rId18"/>
          <a:stretch>
            <a:fillRect/>
          </a:stretch>
        </p:blipFill>
        <p:spPr>
          <a:xfrm>
            <a:off x="8370123" y="4045977"/>
            <a:ext cx="5625083" cy="225003"/>
          </a:xfrm>
          <a:prstGeom prst="rect">
            <a:avLst/>
          </a:prstGeom>
        </p:spPr>
      </p:pic>
      <p:pic>
        <p:nvPicPr>
          <p:cNvPr id="66" name="Image 17" descr="preencoded.png"/>
          <p:cNvPicPr>
            <a:picLocks noChangeAspect="1"/>
          </p:cNvPicPr>
          <p:nvPr/>
        </p:nvPicPr>
        <p:blipFill>
          <a:blip r:embed="rId20"/>
          <a:stretch>
            <a:fillRect/>
          </a:stretch>
        </p:blipFill>
        <p:spPr>
          <a:xfrm>
            <a:off x="8370123" y="4045977"/>
            <a:ext cx="675010" cy="225003"/>
          </a:xfrm>
          <a:prstGeom prst="rect">
            <a:avLst/>
          </a:prstGeom>
        </p:spPr>
      </p:pic>
      <p:pic>
        <p:nvPicPr>
          <p:cNvPr id="67" name="Image 18" descr="preencoded.png"/>
          <p:cNvPicPr>
            <a:picLocks noChangeAspect="1"/>
          </p:cNvPicPr>
          <p:nvPr/>
        </p:nvPicPr>
        <p:blipFill>
          <a:blip r:embed="rId21"/>
          <a:stretch>
            <a:fillRect/>
          </a:stretch>
        </p:blipFill>
        <p:spPr>
          <a:xfrm>
            <a:off x="8370123" y="5277870"/>
            <a:ext cx="3749996" cy="225003"/>
          </a:xfrm>
          <a:prstGeom prst="rect">
            <a:avLst/>
          </a:prstGeom>
        </p:spPr>
      </p:pic>
      <p:pic>
        <p:nvPicPr>
          <p:cNvPr id="68" name="Image 19" descr="preencoded.png"/>
          <p:cNvPicPr>
            <a:picLocks noChangeAspect="1"/>
          </p:cNvPicPr>
          <p:nvPr/>
        </p:nvPicPr>
        <p:blipFill>
          <a:blip r:embed="rId22"/>
          <a:stretch>
            <a:fillRect/>
          </a:stretch>
        </p:blipFill>
        <p:spPr>
          <a:xfrm>
            <a:off x="8370124" y="5277870"/>
            <a:ext cx="1469905" cy="225003"/>
          </a:xfrm>
          <a:prstGeom prst="rect">
            <a:avLst/>
          </a:prstGeom>
        </p:spPr>
      </p:pic>
      <p:sp>
        <p:nvSpPr>
          <p:cNvPr id="69" name="Text 10"/>
          <p:cNvSpPr/>
          <p:nvPr/>
        </p:nvSpPr>
        <p:spPr>
          <a:xfrm>
            <a:off x="7807615" y="1840944"/>
            <a:ext cx="6750100" cy="337505"/>
          </a:xfrm>
          <a:prstGeom prst="rect">
            <a:avLst/>
          </a:prstGeom>
          <a:noFill/>
          <a:ln/>
        </p:spPr>
        <p:txBody>
          <a:bodyPr wrap="square" lIns="0" tIns="0" rIns="0" bIns="0" rtlCol="0" anchor="t"/>
          <a:lstStyle/>
          <a:p>
            <a:pPr algn="ctr">
              <a:lnSpc>
                <a:spcPts val="2657"/>
              </a:lnSpc>
            </a:pPr>
            <a:r>
              <a:rPr lang="en-US" sz="2400" b="1" dirty="0">
                <a:solidFill>
                  <a:srgbClr val="000000"/>
                </a:solidFill>
                <a:latin typeface="Merriweather" panose="00000500000000000000" pitchFamily="2" charset="0"/>
                <a:ea typeface="ui-sans-serif" pitchFamily="34" charset="-122"/>
                <a:cs typeface="ui-sans-serif" pitchFamily="34" charset="-120"/>
              </a:rPr>
              <a:t>Visualización de Limitaciones</a:t>
            </a:r>
            <a:endParaRPr lang="en-US" sz="2400" dirty="0">
              <a:latin typeface="Merriweather" panose="00000500000000000000" pitchFamily="2" charset="0"/>
            </a:endParaRPr>
          </a:p>
        </p:txBody>
      </p:sp>
      <p:sp>
        <p:nvSpPr>
          <p:cNvPr id="70" name="Text 11"/>
          <p:cNvSpPr/>
          <p:nvPr/>
        </p:nvSpPr>
        <p:spPr>
          <a:xfrm>
            <a:off x="8370123" y="2448453"/>
            <a:ext cx="5625083" cy="337505"/>
          </a:xfrm>
          <a:prstGeom prst="rect">
            <a:avLst/>
          </a:prstGeom>
          <a:noFill/>
          <a:ln/>
        </p:spPr>
        <p:txBody>
          <a:bodyPr wrap="square" lIns="0" tIns="0" rIns="0" bIns="0" rtlCol="0" anchor="t"/>
          <a:lstStyle/>
          <a:p>
            <a:pPr>
              <a:lnSpc>
                <a:spcPts val="2657"/>
              </a:lnSpc>
            </a:pPr>
            <a:r>
              <a:rPr lang="en-US" sz="2400" b="1" dirty="0">
                <a:solidFill>
                  <a:srgbClr val="000000"/>
                </a:solidFill>
                <a:latin typeface="Merriweather" panose="00000500000000000000" pitchFamily="2" charset="0"/>
                <a:ea typeface="ui-sans-serif" pitchFamily="34" charset="-122"/>
                <a:cs typeface="ui-sans-serif" pitchFamily="34" charset="-120"/>
              </a:rPr>
              <a:t>Exclusión de Datos</a:t>
            </a:r>
            <a:endParaRPr lang="en-US" sz="2400" dirty="0">
              <a:latin typeface="Merriweather" panose="00000500000000000000" pitchFamily="2" charset="0"/>
            </a:endParaRPr>
          </a:p>
        </p:txBody>
      </p:sp>
      <p:sp>
        <p:nvSpPr>
          <p:cNvPr id="71" name="Text 12"/>
          <p:cNvSpPr/>
          <p:nvPr/>
        </p:nvSpPr>
        <p:spPr>
          <a:xfrm>
            <a:off x="8370124" y="2920960"/>
            <a:ext cx="3414803" cy="708760"/>
          </a:xfrm>
          <a:prstGeom prst="rect">
            <a:avLst/>
          </a:prstGeom>
          <a:noFill/>
          <a:ln/>
        </p:spPr>
        <p:txBody>
          <a:bodyPr wrap="square" lIns="0" tIns="0" rIns="0" bIns="0" rtlCol="0" anchor="t"/>
          <a:lstStyle/>
          <a:p>
            <a:pPr>
              <a:lnSpc>
                <a:spcPts val="2657"/>
              </a:lnSpc>
            </a:pPr>
            <a:r>
              <a:rPr lang="en-US" sz="2400" dirty="0">
                <a:solidFill>
                  <a:srgbClr val="000000"/>
                </a:solidFill>
                <a:latin typeface="Merriweather" panose="00000500000000000000" pitchFamily="2" charset="0"/>
                <a:ea typeface="ui-sans-serif" pitchFamily="34" charset="-122"/>
                <a:cs typeface="ui-sans-serif" pitchFamily="34" charset="-120"/>
              </a:rPr>
              <a:t>Comunas descartadas</a:t>
            </a:r>
            <a:endParaRPr lang="en-US" sz="2400" dirty="0">
              <a:latin typeface="Merriweather" panose="00000500000000000000" pitchFamily="2" charset="0"/>
            </a:endParaRPr>
          </a:p>
        </p:txBody>
      </p:sp>
      <p:sp>
        <p:nvSpPr>
          <p:cNvPr id="72" name="Text 13"/>
          <p:cNvSpPr/>
          <p:nvPr/>
        </p:nvSpPr>
        <p:spPr>
          <a:xfrm>
            <a:off x="13260325" y="2920960"/>
            <a:ext cx="950147" cy="478255"/>
          </a:xfrm>
          <a:prstGeom prst="rect">
            <a:avLst/>
          </a:prstGeom>
          <a:noFill/>
          <a:ln/>
        </p:spPr>
        <p:txBody>
          <a:bodyPr wrap="square" lIns="0" tIns="0" rIns="0" bIns="0" rtlCol="0" anchor="t"/>
          <a:lstStyle/>
          <a:p>
            <a:pPr>
              <a:lnSpc>
                <a:spcPts val="2657"/>
              </a:lnSpc>
            </a:pPr>
            <a:r>
              <a:rPr lang="en-US" sz="2400" b="1" dirty="0">
                <a:solidFill>
                  <a:srgbClr val="000000"/>
                </a:solidFill>
                <a:latin typeface="Merriweather" panose="00000500000000000000" pitchFamily="2" charset="0"/>
                <a:ea typeface="ui-sans-serif" pitchFamily="34" charset="-122"/>
                <a:cs typeface="ui-sans-serif" pitchFamily="34" charset="-120"/>
              </a:rPr>
              <a:t>18.4%</a:t>
            </a:r>
            <a:endParaRPr lang="en-US" sz="2400" dirty="0">
              <a:latin typeface="Merriweather" panose="00000500000000000000" pitchFamily="2" charset="0"/>
            </a:endParaRPr>
          </a:p>
        </p:txBody>
      </p:sp>
      <p:sp>
        <p:nvSpPr>
          <p:cNvPr id="73" name="Text 14"/>
          <p:cNvSpPr/>
          <p:nvPr/>
        </p:nvSpPr>
        <p:spPr>
          <a:xfrm>
            <a:off x="8370123" y="3663471"/>
            <a:ext cx="3647031" cy="624385"/>
          </a:xfrm>
          <a:prstGeom prst="rect">
            <a:avLst/>
          </a:prstGeom>
          <a:noFill/>
          <a:ln/>
        </p:spPr>
        <p:txBody>
          <a:bodyPr wrap="square" lIns="0" tIns="0" rIns="0" bIns="0" rtlCol="0" anchor="t"/>
          <a:lstStyle/>
          <a:p>
            <a:pPr>
              <a:lnSpc>
                <a:spcPts val="2657"/>
              </a:lnSpc>
            </a:pPr>
            <a:r>
              <a:rPr lang="en-US" sz="2400" dirty="0">
                <a:solidFill>
                  <a:srgbClr val="000000"/>
                </a:solidFill>
                <a:latin typeface="Merriweather" panose="00000500000000000000" pitchFamily="2" charset="0"/>
                <a:ea typeface="ui-sans-serif" pitchFamily="34" charset="-122"/>
                <a:cs typeface="ui-sans-serif" pitchFamily="34" charset="-120"/>
              </a:rPr>
              <a:t>Proyectos descartados</a:t>
            </a:r>
            <a:endParaRPr lang="en-US" sz="2400" dirty="0">
              <a:latin typeface="Merriweather" panose="00000500000000000000" pitchFamily="2" charset="0"/>
            </a:endParaRPr>
          </a:p>
        </p:txBody>
      </p:sp>
      <p:sp>
        <p:nvSpPr>
          <p:cNvPr id="74" name="Text 15"/>
          <p:cNvSpPr/>
          <p:nvPr/>
        </p:nvSpPr>
        <p:spPr>
          <a:xfrm>
            <a:off x="13367871" y="3722345"/>
            <a:ext cx="735056" cy="567034"/>
          </a:xfrm>
          <a:prstGeom prst="rect">
            <a:avLst/>
          </a:prstGeom>
          <a:noFill/>
          <a:ln/>
        </p:spPr>
        <p:txBody>
          <a:bodyPr wrap="square" lIns="0" tIns="0" rIns="0" bIns="0" rtlCol="0" anchor="t"/>
          <a:lstStyle/>
          <a:p>
            <a:pPr>
              <a:lnSpc>
                <a:spcPts val="2657"/>
              </a:lnSpc>
            </a:pPr>
            <a:r>
              <a:rPr lang="en-US" sz="2400" b="1" dirty="0">
                <a:solidFill>
                  <a:srgbClr val="000000"/>
                </a:solidFill>
                <a:latin typeface="Merriweather" panose="00000500000000000000" pitchFamily="2" charset="0"/>
                <a:ea typeface="ui-sans-serif" pitchFamily="34" charset="-122"/>
                <a:cs typeface="ui-sans-serif" pitchFamily="34" charset="-120"/>
              </a:rPr>
              <a:t>12%</a:t>
            </a:r>
            <a:endParaRPr lang="en-US" sz="2400" dirty="0">
              <a:latin typeface="Merriweather" panose="00000500000000000000" pitchFamily="2" charset="0"/>
            </a:endParaRPr>
          </a:p>
        </p:txBody>
      </p:sp>
      <p:sp>
        <p:nvSpPr>
          <p:cNvPr id="75" name="Text 16"/>
          <p:cNvSpPr/>
          <p:nvPr/>
        </p:nvSpPr>
        <p:spPr>
          <a:xfrm>
            <a:off x="8370123" y="4630986"/>
            <a:ext cx="5625083" cy="337505"/>
          </a:xfrm>
          <a:prstGeom prst="rect">
            <a:avLst/>
          </a:prstGeom>
          <a:noFill/>
          <a:ln/>
        </p:spPr>
        <p:txBody>
          <a:bodyPr wrap="square" lIns="0" tIns="0" rIns="0" bIns="0" rtlCol="0" anchor="t"/>
          <a:lstStyle/>
          <a:p>
            <a:pPr>
              <a:lnSpc>
                <a:spcPts val="2657"/>
              </a:lnSpc>
            </a:pPr>
            <a:r>
              <a:rPr lang="en-US" sz="2400" b="1" dirty="0">
                <a:solidFill>
                  <a:srgbClr val="000000"/>
                </a:solidFill>
                <a:latin typeface="Merriweather" panose="00000500000000000000" pitchFamily="2" charset="0"/>
                <a:ea typeface="ui-sans-serif" pitchFamily="34" charset="-122"/>
                <a:cs typeface="ui-sans-serif" pitchFamily="34" charset="-120"/>
              </a:rPr>
              <a:t>Índice KMO del PCA</a:t>
            </a:r>
            <a:endParaRPr lang="en-US" sz="2400" dirty="0">
              <a:latin typeface="Merriweather" panose="00000500000000000000" pitchFamily="2" charset="0"/>
            </a:endParaRPr>
          </a:p>
        </p:txBody>
      </p:sp>
      <p:sp>
        <p:nvSpPr>
          <p:cNvPr id="76" name="Text 17"/>
          <p:cNvSpPr/>
          <p:nvPr/>
        </p:nvSpPr>
        <p:spPr>
          <a:xfrm>
            <a:off x="12412624" y="5145479"/>
            <a:ext cx="1469905" cy="357394"/>
          </a:xfrm>
          <a:prstGeom prst="rect">
            <a:avLst/>
          </a:prstGeom>
          <a:noFill/>
          <a:ln/>
        </p:spPr>
        <p:txBody>
          <a:bodyPr wrap="square" lIns="0" tIns="0" rIns="0" bIns="0" rtlCol="0" anchor="t"/>
          <a:lstStyle/>
          <a:p>
            <a:pPr algn="ctr">
              <a:lnSpc>
                <a:spcPts val="2480"/>
              </a:lnSpc>
            </a:pPr>
            <a:r>
              <a:rPr lang="en-US" sz="2400" b="1" dirty="0">
                <a:solidFill>
                  <a:srgbClr val="000000"/>
                </a:solidFill>
                <a:latin typeface="Merriweather" panose="00000500000000000000" pitchFamily="2" charset="0"/>
                <a:ea typeface="ui-sans-serif" pitchFamily="34" charset="-122"/>
                <a:cs typeface="ui-sans-serif" pitchFamily="34" charset="-120"/>
              </a:rPr>
              <a:t>0.392</a:t>
            </a:r>
            <a:endParaRPr lang="en-US" sz="2400" dirty="0">
              <a:latin typeface="Merriweather" panose="00000500000000000000" pitchFamily="2" charset="0"/>
            </a:endParaRPr>
          </a:p>
        </p:txBody>
      </p:sp>
      <p:sp>
        <p:nvSpPr>
          <p:cNvPr id="77" name="Text 18"/>
          <p:cNvSpPr/>
          <p:nvPr/>
        </p:nvSpPr>
        <p:spPr>
          <a:xfrm>
            <a:off x="12300123" y="5452248"/>
            <a:ext cx="1694908" cy="225003"/>
          </a:xfrm>
          <a:prstGeom prst="rect">
            <a:avLst/>
          </a:prstGeom>
          <a:noFill/>
          <a:ln/>
        </p:spPr>
        <p:txBody>
          <a:bodyPr wrap="square" lIns="0" tIns="0" rIns="0" bIns="0" rtlCol="0" anchor="t"/>
          <a:lstStyle/>
          <a:p>
            <a:pPr algn="ctr">
              <a:lnSpc>
                <a:spcPts val="1772"/>
              </a:lnSpc>
            </a:pPr>
            <a:r>
              <a:rPr lang="en-US" sz="2400" dirty="0">
                <a:solidFill>
                  <a:srgbClr val="4B5563"/>
                </a:solidFill>
                <a:latin typeface="Merriweather" panose="00000500000000000000" pitchFamily="2" charset="0"/>
                <a:ea typeface="ui-sans-serif" pitchFamily="34" charset="-122"/>
                <a:cs typeface="ui-sans-serif" pitchFamily="34" charset="-120"/>
              </a:rPr>
              <a:t>Bajo</a:t>
            </a:r>
            <a:endParaRPr lang="en-US" sz="2400" dirty="0">
              <a:latin typeface="Merriweather" panose="00000500000000000000" pitchFamily="2" charset="0"/>
            </a:endParaRPr>
          </a:p>
        </p:txBody>
      </p:sp>
      <p:sp>
        <p:nvSpPr>
          <p:cNvPr id="78" name="Text 19"/>
          <p:cNvSpPr/>
          <p:nvPr/>
        </p:nvSpPr>
        <p:spPr>
          <a:xfrm>
            <a:off x="8420713" y="6359908"/>
            <a:ext cx="5625083" cy="665232"/>
          </a:xfrm>
          <a:prstGeom prst="rect">
            <a:avLst/>
          </a:prstGeom>
          <a:noFill/>
          <a:ln/>
        </p:spPr>
        <p:txBody>
          <a:bodyPr wrap="square" lIns="0" tIns="0" rIns="0" bIns="0" rtlCol="0" anchor="t"/>
          <a:lstStyle/>
          <a:p>
            <a:pPr algn="just"/>
            <a:r>
              <a:rPr lang="en-US" sz="2000" dirty="0">
                <a:latin typeface="Merriweather" panose="00000500000000000000" pitchFamily="2" charset="0"/>
                <a:ea typeface="ui-sans-serif" pitchFamily="34" charset="-122"/>
                <a:cs typeface="ui-sans-serif" pitchFamily="34" charset="-120"/>
              </a:rPr>
              <a:t>Índice KMO bajo indica que los componentes deben interpretarse de forma exploratoria</a:t>
            </a:r>
            <a:endParaRPr lang="en-US" sz="2000" dirty="0">
              <a:latin typeface="Merriweather" panose="00000500000000000000" pitchFamily="2"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449709"/>
            <a:ext cx="14400213" cy="8100120"/>
          </a:xfrm>
          <a:prstGeom prst="rect">
            <a:avLst/>
          </a:prstGeom>
        </p:spPr>
      </p:pic>
      <p:pic>
        <p:nvPicPr>
          <p:cNvPr id="4" name="Image 2" descr="preencoded.png"/>
          <p:cNvPicPr>
            <a:picLocks noChangeAspect="1"/>
          </p:cNvPicPr>
          <p:nvPr/>
        </p:nvPicPr>
        <p:blipFill>
          <a:blip r:embed="rId4"/>
          <a:stretch>
            <a:fillRect/>
          </a:stretch>
        </p:blipFill>
        <p:spPr>
          <a:xfrm>
            <a:off x="0" y="89706"/>
            <a:ext cx="3757555" cy="2632539"/>
          </a:xfrm>
          <a:prstGeom prst="rect">
            <a:avLst/>
          </a:prstGeom>
        </p:spPr>
      </p:pic>
      <p:pic>
        <p:nvPicPr>
          <p:cNvPr id="5" name="Image 3" descr="preencoded.png"/>
          <p:cNvPicPr>
            <a:picLocks noChangeAspect="1"/>
          </p:cNvPicPr>
          <p:nvPr/>
        </p:nvPicPr>
        <p:blipFill>
          <a:blip r:embed="rId5"/>
          <a:stretch>
            <a:fillRect/>
          </a:stretch>
        </p:blipFill>
        <p:spPr>
          <a:xfrm>
            <a:off x="10642657" y="5354781"/>
            <a:ext cx="3757555" cy="4320064"/>
          </a:xfrm>
          <a:prstGeom prst="rect">
            <a:avLst/>
          </a:prstGeom>
        </p:spPr>
      </p:pic>
      <p:pic>
        <p:nvPicPr>
          <p:cNvPr id="7" name="Image 5" descr="preencoded.png"/>
          <p:cNvPicPr>
            <a:picLocks noChangeAspect="1"/>
          </p:cNvPicPr>
          <p:nvPr/>
        </p:nvPicPr>
        <p:blipFill>
          <a:blip r:embed="rId6"/>
          <a:stretch>
            <a:fillRect/>
          </a:stretch>
        </p:blipFill>
        <p:spPr>
          <a:xfrm>
            <a:off x="6862601" y="1462227"/>
            <a:ext cx="675010" cy="33750"/>
          </a:xfrm>
          <a:prstGeom prst="rect">
            <a:avLst/>
          </a:prstGeom>
        </p:spPr>
      </p:pic>
      <p:pic>
        <p:nvPicPr>
          <p:cNvPr id="8" name="Image 6" descr="preencoded.png"/>
          <p:cNvPicPr>
            <a:picLocks noChangeAspect="1"/>
          </p:cNvPicPr>
          <p:nvPr/>
        </p:nvPicPr>
        <p:blipFill>
          <a:blip r:embed="rId7"/>
          <a:stretch>
            <a:fillRect/>
          </a:stretch>
        </p:blipFill>
        <p:spPr>
          <a:xfrm>
            <a:off x="720010" y="2232861"/>
            <a:ext cx="675010" cy="742511"/>
          </a:xfrm>
          <a:prstGeom prst="rect">
            <a:avLst/>
          </a:prstGeom>
        </p:spPr>
      </p:pic>
      <p:pic>
        <p:nvPicPr>
          <p:cNvPr id="9" name="Image 7" descr="preencoded.png"/>
          <p:cNvPicPr>
            <a:picLocks noChangeAspect="1"/>
          </p:cNvPicPr>
          <p:nvPr/>
        </p:nvPicPr>
        <p:blipFill>
          <a:blip r:embed="rId8"/>
          <a:stretch>
            <a:fillRect/>
          </a:stretch>
        </p:blipFill>
        <p:spPr>
          <a:xfrm>
            <a:off x="888763" y="2401614"/>
            <a:ext cx="337505" cy="405006"/>
          </a:xfrm>
          <a:prstGeom prst="rect">
            <a:avLst/>
          </a:prstGeom>
        </p:spPr>
      </p:pic>
      <p:pic>
        <p:nvPicPr>
          <p:cNvPr id="10" name="Image 8" descr="preencoded.png"/>
          <p:cNvPicPr>
            <a:picLocks noChangeAspect="1"/>
          </p:cNvPicPr>
          <p:nvPr/>
        </p:nvPicPr>
        <p:blipFill>
          <a:blip r:embed="rId9"/>
          <a:stretch>
            <a:fillRect/>
          </a:stretch>
        </p:blipFill>
        <p:spPr>
          <a:xfrm>
            <a:off x="2367035" y="3659699"/>
            <a:ext cx="9720143" cy="765011"/>
          </a:xfrm>
          <a:prstGeom prst="rect">
            <a:avLst/>
          </a:prstGeom>
        </p:spPr>
      </p:pic>
      <p:pic>
        <p:nvPicPr>
          <p:cNvPr id="11" name="Image 9" descr="preencoded.png"/>
          <p:cNvPicPr>
            <a:picLocks noChangeAspect="1"/>
          </p:cNvPicPr>
          <p:nvPr/>
        </p:nvPicPr>
        <p:blipFill>
          <a:blip r:embed="rId10"/>
          <a:stretch>
            <a:fillRect/>
          </a:stretch>
        </p:blipFill>
        <p:spPr>
          <a:xfrm>
            <a:off x="6327093" y="3929703"/>
            <a:ext cx="225003" cy="225003"/>
          </a:xfrm>
          <a:prstGeom prst="rect">
            <a:avLst/>
          </a:prstGeom>
        </p:spPr>
      </p:pic>
      <p:pic>
        <p:nvPicPr>
          <p:cNvPr id="12" name="Image 10" descr="preencoded.png"/>
          <p:cNvPicPr>
            <a:picLocks noChangeAspect="1"/>
          </p:cNvPicPr>
          <p:nvPr/>
        </p:nvPicPr>
        <p:blipFill>
          <a:blip r:embed="rId11"/>
          <a:stretch>
            <a:fillRect/>
          </a:stretch>
        </p:blipFill>
        <p:spPr>
          <a:xfrm>
            <a:off x="2868247" y="4665709"/>
            <a:ext cx="8993928" cy="2716916"/>
          </a:xfrm>
          <a:prstGeom prst="rect">
            <a:avLst/>
          </a:prstGeom>
        </p:spPr>
      </p:pic>
      <p:pic>
        <p:nvPicPr>
          <p:cNvPr id="13" name="Image 11" descr="preencoded.png"/>
          <p:cNvPicPr>
            <a:picLocks noChangeAspect="1"/>
          </p:cNvPicPr>
          <p:nvPr/>
        </p:nvPicPr>
        <p:blipFill>
          <a:blip r:embed="rId12"/>
          <a:stretch>
            <a:fillRect/>
          </a:stretch>
        </p:blipFill>
        <p:spPr>
          <a:xfrm>
            <a:off x="3150049" y="5495409"/>
            <a:ext cx="487097" cy="540008"/>
          </a:xfrm>
          <a:prstGeom prst="rect">
            <a:avLst/>
          </a:prstGeom>
        </p:spPr>
      </p:pic>
      <p:pic>
        <p:nvPicPr>
          <p:cNvPr id="14" name="Image 12" descr="preencoded.png"/>
          <p:cNvPicPr>
            <a:picLocks noChangeAspect="1"/>
          </p:cNvPicPr>
          <p:nvPr/>
        </p:nvPicPr>
        <p:blipFill>
          <a:blip r:embed="rId13"/>
          <a:stretch>
            <a:fillRect/>
          </a:stretch>
        </p:blipFill>
        <p:spPr>
          <a:xfrm>
            <a:off x="3314756" y="5675412"/>
            <a:ext cx="157502" cy="180003"/>
          </a:xfrm>
          <a:prstGeom prst="rect">
            <a:avLst/>
          </a:prstGeom>
        </p:spPr>
      </p:pic>
      <p:pic>
        <p:nvPicPr>
          <p:cNvPr id="15" name="Image 13" descr="preencoded.png"/>
          <p:cNvPicPr>
            <a:picLocks noChangeAspect="1"/>
          </p:cNvPicPr>
          <p:nvPr/>
        </p:nvPicPr>
        <p:blipFill>
          <a:blip r:embed="rId14"/>
          <a:stretch>
            <a:fillRect/>
          </a:stretch>
        </p:blipFill>
        <p:spPr>
          <a:xfrm>
            <a:off x="7437197" y="5379621"/>
            <a:ext cx="505027" cy="540008"/>
          </a:xfrm>
          <a:prstGeom prst="rect">
            <a:avLst/>
          </a:prstGeom>
        </p:spPr>
      </p:pic>
      <p:pic>
        <p:nvPicPr>
          <p:cNvPr id="16" name="Image 14" descr="preencoded.png"/>
          <p:cNvPicPr>
            <a:picLocks noChangeAspect="1"/>
          </p:cNvPicPr>
          <p:nvPr/>
        </p:nvPicPr>
        <p:blipFill>
          <a:blip r:embed="rId15"/>
          <a:stretch>
            <a:fillRect/>
          </a:stretch>
        </p:blipFill>
        <p:spPr>
          <a:xfrm>
            <a:off x="7599618" y="5559624"/>
            <a:ext cx="180003" cy="180003"/>
          </a:xfrm>
          <a:prstGeom prst="rect">
            <a:avLst/>
          </a:prstGeom>
        </p:spPr>
      </p:pic>
      <p:pic>
        <p:nvPicPr>
          <p:cNvPr id="17" name="Image 15" descr="preencoded.png"/>
          <p:cNvPicPr>
            <a:picLocks noChangeAspect="1"/>
          </p:cNvPicPr>
          <p:nvPr/>
        </p:nvPicPr>
        <p:blipFill>
          <a:blip r:embed="rId16"/>
          <a:stretch>
            <a:fillRect/>
          </a:stretch>
        </p:blipFill>
        <p:spPr>
          <a:xfrm>
            <a:off x="3150046" y="6417923"/>
            <a:ext cx="540008" cy="540008"/>
          </a:xfrm>
          <a:prstGeom prst="rect">
            <a:avLst/>
          </a:prstGeom>
        </p:spPr>
      </p:pic>
      <p:pic>
        <p:nvPicPr>
          <p:cNvPr id="18" name="Image 16" descr="preencoded.png"/>
          <p:cNvPicPr>
            <a:picLocks noChangeAspect="1"/>
          </p:cNvPicPr>
          <p:nvPr/>
        </p:nvPicPr>
        <p:blipFill>
          <a:blip r:embed="rId17"/>
          <a:stretch>
            <a:fillRect/>
          </a:stretch>
        </p:blipFill>
        <p:spPr>
          <a:xfrm>
            <a:off x="3307549" y="6597925"/>
            <a:ext cx="225003" cy="180003"/>
          </a:xfrm>
          <a:prstGeom prst="rect">
            <a:avLst/>
          </a:prstGeom>
        </p:spPr>
      </p:pic>
      <p:pic>
        <p:nvPicPr>
          <p:cNvPr id="19" name="Image 17" descr="preencoded.png"/>
          <p:cNvPicPr>
            <a:picLocks noChangeAspect="1"/>
          </p:cNvPicPr>
          <p:nvPr/>
        </p:nvPicPr>
        <p:blipFill>
          <a:blip r:embed="rId18"/>
          <a:stretch>
            <a:fillRect/>
          </a:stretch>
        </p:blipFill>
        <p:spPr>
          <a:xfrm>
            <a:off x="7335108" y="6417923"/>
            <a:ext cx="540008" cy="540008"/>
          </a:xfrm>
          <a:prstGeom prst="rect">
            <a:avLst/>
          </a:prstGeom>
        </p:spPr>
      </p:pic>
      <p:pic>
        <p:nvPicPr>
          <p:cNvPr id="20" name="Image 18" descr="preencoded.png"/>
          <p:cNvPicPr>
            <a:picLocks noChangeAspect="1"/>
          </p:cNvPicPr>
          <p:nvPr/>
        </p:nvPicPr>
        <p:blipFill>
          <a:blip r:embed="rId19"/>
          <a:stretch>
            <a:fillRect/>
          </a:stretch>
        </p:blipFill>
        <p:spPr>
          <a:xfrm>
            <a:off x="7526361" y="6597925"/>
            <a:ext cx="157502" cy="180003"/>
          </a:xfrm>
          <a:prstGeom prst="rect">
            <a:avLst/>
          </a:prstGeom>
        </p:spPr>
      </p:pic>
      <p:sp>
        <p:nvSpPr>
          <p:cNvPr id="24" name="Text 0"/>
          <p:cNvSpPr/>
          <p:nvPr/>
        </p:nvSpPr>
        <p:spPr>
          <a:xfrm>
            <a:off x="720011" y="899716"/>
            <a:ext cx="12960191" cy="450007"/>
          </a:xfrm>
          <a:prstGeom prst="rect">
            <a:avLst/>
          </a:prstGeom>
          <a:noFill/>
          <a:ln/>
        </p:spPr>
        <p:txBody>
          <a:bodyPr wrap="square" lIns="0" tIns="0" rIns="0" bIns="0" rtlCol="0" anchor="t"/>
          <a:lstStyle/>
          <a:p>
            <a:pPr algn="ctr">
              <a:lnSpc>
                <a:spcPts val="3543"/>
              </a:lnSpc>
            </a:pPr>
            <a:r>
              <a:rPr lang="en-US" sz="3200" b="1" dirty="0">
                <a:solidFill>
                  <a:srgbClr val="343A40"/>
                </a:solidFill>
                <a:latin typeface="Montserrat" pitchFamily="34" charset="0"/>
                <a:ea typeface="Montserrat" pitchFamily="34" charset="-122"/>
                <a:cs typeface="Montserrat" pitchFamily="34" charset="-120"/>
              </a:rPr>
              <a:t>Gracias </a:t>
            </a:r>
            <a:r>
              <a:rPr lang="en-US" sz="3600" b="1" dirty="0">
                <a:solidFill>
                  <a:srgbClr val="343A40"/>
                </a:solidFill>
                <a:latin typeface="Montserrat" pitchFamily="34" charset="0"/>
                <a:ea typeface="Montserrat" pitchFamily="34" charset="-122"/>
                <a:cs typeface="Montserrat" pitchFamily="34" charset="-120"/>
              </a:rPr>
              <a:t>por</a:t>
            </a:r>
            <a:r>
              <a:rPr lang="en-US" sz="3200" b="1" dirty="0">
                <a:solidFill>
                  <a:srgbClr val="343A40"/>
                </a:solidFill>
                <a:latin typeface="Montserrat" pitchFamily="34" charset="0"/>
                <a:ea typeface="Montserrat" pitchFamily="34" charset="-122"/>
                <a:cs typeface="Montserrat" pitchFamily="34" charset="-120"/>
              </a:rPr>
              <a:t> su atención</a:t>
            </a:r>
            <a:endParaRPr lang="en-US" sz="3200" dirty="0"/>
          </a:p>
        </p:txBody>
      </p:sp>
      <p:sp>
        <p:nvSpPr>
          <p:cNvPr id="25" name="Text 1"/>
          <p:cNvSpPr/>
          <p:nvPr/>
        </p:nvSpPr>
        <p:spPr>
          <a:xfrm>
            <a:off x="1575023" y="2165360"/>
            <a:ext cx="12105179" cy="1319960"/>
          </a:xfrm>
          <a:prstGeom prst="rect">
            <a:avLst/>
          </a:prstGeom>
          <a:noFill/>
          <a:ln/>
        </p:spPr>
        <p:txBody>
          <a:bodyPr wrap="square" lIns="0" tIns="0" rIns="0" bIns="0" rtlCol="0" anchor="t"/>
          <a:lstStyle/>
          <a:p>
            <a:pPr>
              <a:lnSpc>
                <a:spcPts val="3455"/>
              </a:lnSpc>
            </a:pPr>
            <a:r>
              <a:rPr lang="en-US" sz="2611" dirty="0">
                <a:solidFill>
                  <a:srgbClr val="343A40"/>
                </a:solidFill>
                <a:latin typeface="Merriweather" pitchFamily="34" charset="0"/>
                <a:ea typeface="Merriweather" pitchFamily="34" charset="-122"/>
                <a:cs typeface="Merriweather" pitchFamily="34" charset="-120"/>
              </a:rPr>
              <a:t>Ha sido un placer presentar nuestro trabajo de investigación sobre la evaluación cuantitativa de la efectividad de las Agendas Concretas de Acción en el Estado Mérida.</a:t>
            </a:r>
            <a:endParaRPr lang="en-US" sz="2611" dirty="0"/>
          </a:p>
        </p:txBody>
      </p:sp>
      <p:sp>
        <p:nvSpPr>
          <p:cNvPr id="26" name="Text 2"/>
          <p:cNvSpPr/>
          <p:nvPr/>
        </p:nvSpPr>
        <p:spPr>
          <a:xfrm>
            <a:off x="2592038" y="3884702"/>
            <a:ext cx="9270137" cy="315005"/>
          </a:xfrm>
          <a:prstGeom prst="rect">
            <a:avLst/>
          </a:prstGeom>
          <a:noFill/>
          <a:ln/>
        </p:spPr>
        <p:txBody>
          <a:bodyPr wrap="square" lIns="0" tIns="0" rIns="0" bIns="0" rtlCol="0" anchor="t"/>
          <a:lstStyle/>
          <a:p>
            <a:pPr algn="ctr">
              <a:lnSpc>
                <a:spcPts val="2480"/>
              </a:lnSpc>
            </a:pPr>
            <a:r>
              <a:rPr lang="en-US" sz="2000" dirty="0">
                <a:latin typeface="Merriweather" panose="00000500000000000000" pitchFamily="2" charset="0"/>
                <a:ea typeface="Montserrat" pitchFamily="34" charset="-122"/>
                <a:cs typeface="Montserrat" pitchFamily="34" charset="-120"/>
              </a:rPr>
              <a:t> ¿Preguntas?</a:t>
            </a:r>
            <a:endParaRPr lang="en-US" sz="2000" dirty="0">
              <a:latin typeface="Merriweather" panose="00000500000000000000" pitchFamily="2" charset="0"/>
            </a:endParaRPr>
          </a:p>
        </p:txBody>
      </p:sp>
      <p:sp>
        <p:nvSpPr>
          <p:cNvPr id="27" name="Text 3"/>
          <p:cNvSpPr/>
          <p:nvPr/>
        </p:nvSpPr>
        <p:spPr>
          <a:xfrm>
            <a:off x="3150046" y="4887900"/>
            <a:ext cx="8100120" cy="315005"/>
          </a:xfrm>
          <a:prstGeom prst="rect">
            <a:avLst/>
          </a:prstGeom>
          <a:noFill/>
          <a:ln/>
        </p:spPr>
        <p:txBody>
          <a:bodyPr wrap="square" lIns="0" tIns="0" rIns="0" bIns="0" rtlCol="0" anchor="t"/>
          <a:lstStyle/>
          <a:p>
            <a:pPr algn="ctr">
              <a:lnSpc>
                <a:spcPts val="2480"/>
              </a:lnSpc>
            </a:pPr>
            <a:r>
              <a:rPr lang="en-US" sz="2000" dirty="0">
                <a:solidFill>
                  <a:srgbClr val="588157"/>
                </a:solidFill>
                <a:latin typeface="Merriweather" panose="00000500000000000000" pitchFamily="2" charset="0"/>
                <a:ea typeface="Merriweather" pitchFamily="34" charset="-122"/>
                <a:cs typeface="Merriweather" pitchFamily="34" charset="-120"/>
              </a:rPr>
              <a:t>Información de Contacto</a:t>
            </a:r>
            <a:endParaRPr lang="en-US" sz="2000" dirty="0">
              <a:latin typeface="Merriweather" panose="00000500000000000000" pitchFamily="2" charset="0"/>
            </a:endParaRPr>
          </a:p>
        </p:txBody>
      </p:sp>
      <p:sp>
        <p:nvSpPr>
          <p:cNvPr id="28" name="Text 4"/>
          <p:cNvSpPr/>
          <p:nvPr/>
        </p:nvSpPr>
        <p:spPr>
          <a:xfrm>
            <a:off x="3817148" y="5382906"/>
            <a:ext cx="3440047" cy="540008"/>
          </a:xfrm>
          <a:prstGeom prst="rect">
            <a:avLst/>
          </a:prstGeom>
          <a:noFill/>
          <a:ln/>
        </p:spPr>
        <p:txBody>
          <a:bodyPr wrap="square" lIns="0" tIns="0" rIns="0" bIns="0" rtlCol="0" anchor="t"/>
          <a:lstStyle/>
          <a:p>
            <a:pPr>
              <a:lnSpc>
                <a:spcPts val="2126"/>
              </a:lnSpc>
            </a:pPr>
            <a:r>
              <a:rPr lang="en-US" sz="2000" b="1" dirty="0">
                <a:latin typeface="Merriweather" panose="00000500000000000000" pitchFamily="2" charset="0"/>
                <a:ea typeface="Montserrat" pitchFamily="34" charset="-122"/>
                <a:cs typeface="Montserrat" pitchFamily="34" charset="-120"/>
              </a:rPr>
              <a:t>Br. William Alexander Gutiérrez Varela</a:t>
            </a:r>
            <a:endParaRPr lang="en-US" sz="2000" dirty="0">
              <a:latin typeface="Merriweather" panose="00000500000000000000" pitchFamily="2" charset="0"/>
            </a:endParaRPr>
          </a:p>
        </p:txBody>
      </p:sp>
      <p:sp>
        <p:nvSpPr>
          <p:cNvPr id="29" name="Text 5"/>
          <p:cNvSpPr/>
          <p:nvPr/>
        </p:nvSpPr>
        <p:spPr>
          <a:xfrm>
            <a:off x="3817149" y="5922916"/>
            <a:ext cx="3897550" cy="225003"/>
          </a:xfrm>
          <a:prstGeom prst="rect">
            <a:avLst/>
          </a:prstGeom>
          <a:noFill/>
          <a:ln/>
        </p:spPr>
        <p:txBody>
          <a:bodyPr wrap="square" lIns="0" tIns="0" rIns="0" bIns="0" rtlCol="0" anchor="t"/>
          <a:lstStyle/>
          <a:p>
            <a:pPr>
              <a:lnSpc>
                <a:spcPts val="1772"/>
              </a:lnSpc>
            </a:pPr>
            <a:r>
              <a:rPr lang="en-US" sz="2000" dirty="0">
                <a:solidFill>
                  <a:srgbClr val="4B5563"/>
                </a:solidFill>
                <a:latin typeface="Merriweather" panose="00000500000000000000" pitchFamily="2" charset="0"/>
                <a:ea typeface="Montserrat" pitchFamily="34" charset="-122"/>
                <a:cs typeface="Montserrat" pitchFamily="34" charset="-120"/>
              </a:rPr>
              <a:t>Autor del Trabajo de Grado</a:t>
            </a:r>
            <a:endParaRPr lang="en-US" sz="2000" dirty="0">
              <a:latin typeface="Merriweather" panose="00000500000000000000" pitchFamily="2" charset="0"/>
            </a:endParaRPr>
          </a:p>
        </p:txBody>
      </p:sp>
      <p:sp>
        <p:nvSpPr>
          <p:cNvPr id="30" name="Text 6"/>
          <p:cNvSpPr/>
          <p:nvPr/>
        </p:nvSpPr>
        <p:spPr>
          <a:xfrm>
            <a:off x="8020137" y="5405408"/>
            <a:ext cx="3876034" cy="270004"/>
          </a:xfrm>
          <a:prstGeom prst="rect">
            <a:avLst/>
          </a:prstGeom>
          <a:noFill/>
          <a:ln/>
        </p:spPr>
        <p:txBody>
          <a:bodyPr wrap="square" lIns="0" tIns="0" rIns="0" bIns="0" rtlCol="0" anchor="t"/>
          <a:lstStyle/>
          <a:p>
            <a:pPr>
              <a:lnSpc>
                <a:spcPts val="2126"/>
              </a:lnSpc>
            </a:pPr>
            <a:r>
              <a:rPr lang="en-US" sz="2000" b="1" dirty="0">
                <a:latin typeface="Merriweather" panose="00000500000000000000" pitchFamily="2" charset="0"/>
                <a:ea typeface="Montserrat" pitchFamily="34" charset="-122"/>
                <a:cs typeface="Montserrat" pitchFamily="34" charset="-120"/>
              </a:rPr>
              <a:t>Universidad de Los Andes</a:t>
            </a:r>
            <a:endParaRPr lang="en-US" sz="2000" dirty="0">
              <a:latin typeface="Merriweather" panose="00000500000000000000" pitchFamily="2" charset="0"/>
            </a:endParaRPr>
          </a:p>
        </p:txBody>
      </p:sp>
      <p:sp>
        <p:nvSpPr>
          <p:cNvPr id="31" name="Text 7"/>
          <p:cNvSpPr/>
          <p:nvPr/>
        </p:nvSpPr>
        <p:spPr>
          <a:xfrm>
            <a:off x="8020141" y="5675412"/>
            <a:ext cx="3230028" cy="614455"/>
          </a:xfrm>
          <a:prstGeom prst="rect">
            <a:avLst/>
          </a:prstGeom>
          <a:noFill/>
          <a:ln/>
        </p:spPr>
        <p:txBody>
          <a:bodyPr wrap="square" lIns="0" tIns="0" rIns="0" bIns="0" rtlCol="0" anchor="t"/>
          <a:lstStyle/>
          <a:p>
            <a:r>
              <a:rPr lang="en-US" sz="2000" dirty="0">
                <a:solidFill>
                  <a:srgbClr val="4B5563"/>
                </a:solidFill>
                <a:latin typeface="Merriweather" panose="00000500000000000000" pitchFamily="2" charset="0"/>
                <a:ea typeface="Montserrat" pitchFamily="34" charset="-122"/>
                <a:cs typeface="Montserrat" pitchFamily="34" charset="-120"/>
              </a:rPr>
              <a:t>Facultad de Ciencias Económicas y Sociales</a:t>
            </a:r>
            <a:endParaRPr lang="en-US" sz="2000" dirty="0">
              <a:latin typeface="Merriweather" panose="00000500000000000000" pitchFamily="2" charset="0"/>
            </a:endParaRPr>
          </a:p>
        </p:txBody>
      </p:sp>
      <p:sp>
        <p:nvSpPr>
          <p:cNvPr id="32" name="Text 8"/>
          <p:cNvSpPr/>
          <p:nvPr/>
        </p:nvSpPr>
        <p:spPr>
          <a:xfrm>
            <a:off x="3870057" y="6440422"/>
            <a:ext cx="2992544" cy="540007"/>
          </a:xfrm>
          <a:prstGeom prst="rect">
            <a:avLst/>
          </a:prstGeom>
          <a:noFill/>
          <a:ln/>
        </p:spPr>
        <p:txBody>
          <a:bodyPr wrap="square" lIns="0" tIns="0" rIns="0" bIns="0" rtlCol="0" anchor="t"/>
          <a:lstStyle/>
          <a:p>
            <a:pPr>
              <a:lnSpc>
                <a:spcPts val="2126"/>
              </a:lnSpc>
            </a:pPr>
            <a:r>
              <a:rPr lang="en-US" sz="2000" b="1" dirty="0">
                <a:latin typeface="Merriweather" panose="00000500000000000000" pitchFamily="2" charset="0"/>
                <a:ea typeface="Montserrat" pitchFamily="34" charset="-122"/>
                <a:cs typeface="Montserrat" pitchFamily="34" charset="-120"/>
              </a:rPr>
              <a:t>Escuela de Economía</a:t>
            </a:r>
            <a:endParaRPr lang="en-US" sz="2000" dirty="0">
              <a:latin typeface="Merriweather" panose="00000500000000000000" pitchFamily="2" charset="0"/>
            </a:endParaRPr>
          </a:p>
        </p:txBody>
      </p:sp>
      <p:sp>
        <p:nvSpPr>
          <p:cNvPr id="33" name="Text 9"/>
          <p:cNvSpPr/>
          <p:nvPr/>
        </p:nvSpPr>
        <p:spPr>
          <a:xfrm>
            <a:off x="3870057" y="6750916"/>
            <a:ext cx="2376035" cy="463188"/>
          </a:xfrm>
          <a:prstGeom prst="rect">
            <a:avLst/>
          </a:prstGeom>
          <a:noFill/>
          <a:ln/>
        </p:spPr>
        <p:txBody>
          <a:bodyPr wrap="square" lIns="0" tIns="0" rIns="0" bIns="0" rtlCol="0" anchor="t"/>
          <a:lstStyle/>
          <a:p>
            <a:pPr>
              <a:lnSpc>
                <a:spcPts val="1772"/>
              </a:lnSpc>
            </a:pPr>
            <a:r>
              <a:rPr lang="es-VE" sz="2000" noProof="0" dirty="0">
                <a:solidFill>
                  <a:srgbClr val="4B5563"/>
                </a:solidFill>
                <a:latin typeface="Merriweather" panose="00000500000000000000" pitchFamily="2" charset="0"/>
                <a:ea typeface="Montserrat" pitchFamily="34" charset="-122"/>
                <a:cs typeface="Montserrat" pitchFamily="34" charset="-120"/>
              </a:rPr>
              <a:t>Presentación de pasantías</a:t>
            </a:r>
            <a:endParaRPr lang="es-VE" sz="2000" noProof="0" dirty="0">
              <a:latin typeface="Merriweather" panose="00000500000000000000" pitchFamily="2" charset="0"/>
            </a:endParaRPr>
          </a:p>
        </p:txBody>
      </p:sp>
      <p:sp>
        <p:nvSpPr>
          <p:cNvPr id="34" name="Text 10"/>
          <p:cNvSpPr/>
          <p:nvPr/>
        </p:nvSpPr>
        <p:spPr>
          <a:xfrm>
            <a:off x="8185620" y="6440423"/>
            <a:ext cx="2146532" cy="270004"/>
          </a:xfrm>
          <a:prstGeom prst="rect">
            <a:avLst/>
          </a:prstGeom>
          <a:noFill/>
          <a:ln/>
        </p:spPr>
        <p:txBody>
          <a:bodyPr wrap="square" lIns="0" tIns="0" rIns="0" bIns="0" rtlCol="0" anchor="t"/>
          <a:lstStyle/>
          <a:p>
            <a:pPr>
              <a:lnSpc>
                <a:spcPts val="2126"/>
              </a:lnSpc>
            </a:pPr>
            <a:r>
              <a:rPr lang="en-US" sz="2000" b="1" dirty="0">
                <a:latin typeface="Merriweather" panose="00000500000000000000" pitchFamily="2" charset="0"/>
                <a:ea typeface="Montserrat" pitchFamily="34" charset="-122"/>
                <a:cs typeface="Montserrat" pitchFamily="34" charset="-120"/>
              </a:rPr>
              <a:t>02-10-2025</a:t>
            </a:r>
            <a:endParaRPr lang="en-US" sz="2000" dirty="0">
              <a:latin typeface="Merriweather" panose="00000500000000000000" pitchFamily="2" charset="0"/>
            </a:endParaRPr>
          </a:p>
        </p:txBody>
      </p:sp>
      <p:sp>
        <p:nvSpPr>
          <p:cNvPr id="35" name="Text 11"/>
          <p:cNvSpPr/>
          <p:nvPr/>
        </p:nvSpPr>
        <p:spPr>
          <a:xfrm>
            <a:off x="8185620" y="6768881"/>
            <a:ext cx="2146532" cy="463188"/>
          </a:xfrm>
          <a:prstGeom prst="rect">
            <a:avLst/>
          </a:prstGeom>
          <a:noFill/>
          <a:ln/>
        </p:spPr>
        <p:txBody>
          <a:bodyPr wrap="square" lIns="0" tIns="0" rIns="0" bIns="0" rtlCol="0" anchor="t"/>
          <a:lstStyle/>
          <a:p>
            <a:pPr>
              <a:lnSpc>
                <a:spcPts val="1772"/>
              </a:lnSpc>
            </a:pPr>
            <a:r>
              <a:rPr lang="en-US" sz="2000" dirty="0">
                <a:latin typeface="Merriweather" panose="00000500000000000000" pitchFamily="2" charset="0"/>
                <a:ea typeface="Montserrat" pitchFamily="34" charset="-122"/>
                <a:cs typeface="Montserrat" pitchFamily="34" charset="-120"/>
              </a:rPr>
              <a:t>Fecha de Presentación</a:t>
            </a:r>
            <a:endParaRPr lang="en-US" sz="2000" dirty="0">
              <a:latin typeface="Merriweather" panose="00000500000000000000" pitchFamily="2" charset="0"/>
            </a:endParaRPr>
          </a:p>
        </p:txBody>
      </p:sp>
      <p:sp>
        <p:nvSpPr>
          <p:cNvPr id="39" name="Text 0">
            <a:extLst>
              <a:ext uri="{FF2B5EF4-FFF2-40B4-BE49-F238E27FC236}">
                <a16:creationId xmlns:a16="http://schemas.microsoft.com/office/drawing/2014/main" id="{6B8DC35A-5CC0-159C-DE37-D43BDFFD742A}"/>
              </a:ext>
            </a:extLst>
          </p:cNvPr>
          <p:cNvSpPr/>
          <p:nvPr/>
        </p:nvSpPr>
        <p:spPr>
          <a:xfrm>
            <a:off x="273202" y="496207"/>
            <a:ext cx="2386336" cy="367940"/>
          </a:xfrm>
          <a:prstGeom prst="rect">
            <a:avLst/>
          </a:prstGeom>
          <a:noFill/>
          <a:ln/>
        </p:spPr>
        <p:txBody>
          <a:bodyPr wrap="square" lIns="0" tIns="0" rIns="0" bIns="0" rtlCol="0" anchor="t"/>
          <a:lstStyle/>
          <a:p>
            <a:pPr>
              <a:lnSpc>
                <a:spcPts val="2480"/>
              </a:lnSpc>
            </a:pPr>
            <a:r>
              <a:rPr lang="es-VE" sz="1594" b="1" kern="0" spc="64" noProof="0">
                <a:latin typeface="Montserrat" panose="00000500000000000000" pitchFamily="2" charset="0"/>
                <a:ea typeface="Arial" pitchFamily="34" charset="-122"/>
                <a:cs typeface="Arial" pitchFamily="34" charset="-120"/>
              </a:rPr>
              <a:t>¡Muchas Gracias!</a:t>
            </a:r>
          </a:p>
          <a:p>
            <a:pPr>
              <a:lnSpc>
                <a:spcPts val="2480"/>
              </a:lnSpc>
            </a:pPr>
            <a:endParaRPr lang="es-VE" sz="1594" b="1" kern="0" spc="64" noProof="0" dirty="0">
              <a:latin typeface="Montserrat" panose="00000500000000000000" pitchFamily="2" charset="0"/>
              <a:ea typeface="Arial" pitchFamily="34" charset="-122"/>
              <a:cs typeface="Arial" pitchFamily="34" charset="-120"/>
            </a:endParaRPr>
          </a:p>
        </p:txBody>
      </p:sp>
      <p:pic>
        <p:nvPicPr>
          <p:cNvPr id="40" name="Image 2" descr="preencoded.png">
            <a:extLst>
              <a:ext uri="{FF2B5EF4-FFF2-40B4-BE49-F238E27FC236}">
                <a16:creationId xmlns:a16="http://schemas.microsoft.com/office/drawing/2014/main" id="{14A98690-8F67-01D1-D318-C26C9270C588}"/>
              </a:ext>
            </a:extLst>
          </p:cNvPr>
          <p:cNvPicPr>
            <a:picLocks noChangeAspect="1"/>
          </p:cNvPicPr>
          <p:nvPr/>
        </p:nvPicPr>
        <p:blipFill>
          <a:blip r:embed="rId20"/>
          <a:stretch>
            <a:fillRect/>
          </a:stretch>
        </p:blipFill>
        <p:spPr>
          <a:xfrm>
            <a:off x="10627439" y="105736"/>
            <a:ext cx="3757555" cy="2632539"/>
          </a:xfrm>
          <a:prstGeom prst="rect">
            <a:avLst/>
          </a:prstGeom>
        </p:spPr>
      </p:pic>
      <p:pic>
        <p:nvPicPr>
          <p:cNvPr id="41" name="Image 3" descr="preencoded.png">
            <a:extLst>
              <a:ext uri="{FF2B5EF4-FFF2-40B4-BE49-F238E27FC236}">
                <a16:creationId xmlns:a16="http://schemas.microsoft.com/office/drawing/2014/main" id="{3DEEE517-6E5D-3EEA-F4AC-D95A6D6B1C41}"/>
              </a:ext>
            </a:extLst>
          </p:cNvPr>
          <p:cNvPicPr>
            <a:picLocks noChangeAspect="1"/>
          </p:cNvPicPr>
          <p:nvPr/>
        </p:nvPicPr>
        <p:blipFill>
          <a:blip r:embed="rId21"/>
          <a:stretch>
            <a:fillRect/>
          </a:stretch>
        </p:blipFill>
        <p:spPr>
          <a:xfrm>
            <a:off x="4499" y="6332310"/>
            <a:ext cx="2655039" cy="2880043"/>
          </a:xfrm>
          <a:prstGeom prst="rect">
            <a:avLst/>
          </a:prstGeom>
        </p:spPr>
      </p:pic>
      <p:pic>
        <p:nvPicPr>
          <p:cNvPr id="43" name="Image 16" descr="preencoded.png">
            <a:extLst>
              <a:ext uri="{FF2B5EF4-FFF2-40B4-BE49-F238E27FC236}">
                <a16:creationId xmlns:a16="http://schemas.microsoft.com/office/drawing/2014/main" id="{59B19AD0-6C1B-A9A3-B114-466BF6C7B01E}"/>
              </a:ext>
            </a:extLst>
          </p:cNvPr>
          <p:cNvPicPr>
            <a:picLocks noChangeAspect="1"/>
          </p:cNvPicPr>
          <p:nvPr/>
        </p:nvPicPr>
        <p:blipFill>
          <a:blip r:embed="rId22"/>
          <a:stretch>
            <a:fillRect/>
          </a:stretch>
        </p:blipFill>
        <p:spPr>
          <a:xfrm>
            <a:off x="60218" y="8604364"/>
            <a:ext cx="258067" cy="258067"/>
          </a:xfrm>
          <a:prstGeom prst="rect">
            <a:avLst/>
          </a:prstGeom>
        </p:spPr>
      </p:pic>
      <p:pic>
        <p:nvPicPr>
          <p:cNvPr id="44" name="Image 17" descr="preencoded.png">
            <a:extLst>
              <a:ext uri="{FF2B5EF4-FFF2-40B4-BE49-F238E27FC236}">
                <a16:creationId xmlns:a16="http://schemas.microsoft.com/office/drawing/2014/main" id="{7EAA4C60-4BF6-4A71-F439-BB1CDE96B32A}"/>
              </a:ext>
            </a:extLst>
          </p:cNvPr>
          <p:cNvPicPr>
            <a:picLocks noChangeAspect="1"/>
          </p:cNvPicPr>
          <p:nvPr/>
        </p:nvPicPr>
        <p:blipFill>
          <a:blip r:embed="rId23"/>
          <a:stretch>
            <a:fillRect/>
          </a:stretch>
        </p:blipFill>
        <p:spPr>
          <a:xfrm>
            <a:off x="-15996" y="-7645"/>
            <a:ext cx="14400213" cy="90001"/>
          </a:xfrm>
          <a:prstGeom prst="rect">
            <a:avLst/>
          </a:prstGeom>
        </p:spPr>
      </p:pic>
      <p:pic>
        <p:nvPicPr>
          <p:cNvPr id="45" name="Image 18" descr="preencoded.png">
            <a:extLst>
              <a:ext uri="{FF2B5EF4-FFF2-40B4-BE49-F238E27FC236}">
                <a16:creationId xmlns:a16="http://schemas.microsoft.com/office/drawing/2014/main" id="{1C12FE72-6811-248A-A740-52131E27FEC6}"/>
              </a:ext>
            </a:extLst>
          </p:cNvPr>
          <p:cNvPicPr>
            <a:picLocks noChangeAspect="1"/>
          </p:cNvPicPr>
          <p:nvPr/>
        </p:nvPicPr>
        <p:blipFill>
          <a:blip r:embed="rId24"/>
          <a:stretch>
            <a:fillRect/>
          </a:stretch>
        </p:blipFill>
        <p:spPr>
          <a:xfrm>
            <a:off x="-1" y="8902813"/>
            <a:ext cx="14400213" cy="90001"/>
          </a:xfrm>
          <a:prstGeom prst="rect">
            <a:avLst/>
          </a:prstGeom>
        </p:spPr>
      </p:pic>
      <p:sp>
        <p:nvSpPr>
          <p:cNvPr id="46" name="Text 7">
            <a:extLst>
              <a:ext uri="{FF2B5EF4-FFF2-40B4-BE49-F238E27FC236}">
                <a16:creationId xmlns:a16="http://schemas.microsoft.com/office/drawing/2014/main" id="{57DE3FB3-3D23-87B5-1CF4-B19F24B161B6}"/>
              </a:ext>
            </a:extLst>
          </p:cNvPr>
          <p:cNvSpPr/>
          <p:nvPr/>
        </p:nvSpPr>
        <p:spPr>
          <a:xfrm>
            <a:off x="378503" y="8672104"/>
            <a:ext cx="6644104" cy="230709"/>
          </a:xfrm>
          <a:prstGeom prst="rect">
            <a:avLst/>
          </a:prstGeom>
          <a:noFill/>
          <a:ln/>
        </p:spPr>
        <p:txBody>
          <a:bodyPr wrap="square" lIns="0" tIns="0" rIns="0" bIns="0" rtlCol="0" anchor="t"/>
          <a:lstStyle/>
          <a:p>
            <a:pPr>
              <a:lnSpc>
                <a:spcPts val="1772"/>
              </a:lnSpc>
            </a:pPr>
            <a:r>
              <a:rPr lang="en-US" sz="1890" dirty="0">
                <a:solidFill>
                  <a:srgbClr val="4B5563"/>
                </a:solidFill>
                <a:latin typeface="Montserrat" pitchFamily="34" charset="0"/>
                <a:ea typeface="Montserrat" pitchFamily="34" charset="-122"/>
                <a:cs typeface="Montserrat" pitchFamily="34" charset="-120"/>
              </a:rPr>
              <a:t>Universidad de Los Andes | William Gutiérrez </a:t>
            </a:r>
            <a:endParaRPr lang="en-US" sz="1890" dirty="0"/>
          </a:p>
        </p:txBody>
      </p:sp>
    </p:spTree>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2176</TotalTime>
  <Words>2989</Words>
  <Application>Microsoft Office PowerPoint</Application>
  <PresentationFormat>Personalizado</PresentationFormat>
  <Paragraphs>351</Paragraphs>
  <Slides>20</Slides>
  <Notes>20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Arial</vt:lpstr>
      <vt:lpstr>Calibri</vt:lpstr>
      <vt:lpstr>Calibri Light</vt:lpstr>
      <vt:lpstr>Merriweather</vt:lpstr>
      <vt:lpstr>Montserrat</vt:lpstr>
      <vt:lpstr>ui-sans-serif</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william</cp:lastModifiedBy>
  <cp:revision>15</cp:revision>
  <dcterms:created xsi:type="dcterms:W3CDTF">2025-09-29T21:14:39Z</dcterms:created>
  <dcterms:modified xsi:type="dcterms:W3CDTF">2025-10-01T20:10:29Z</dcterms:modified>
</cp:coreProperties>
</file>